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COVER (Class 15)</a:t>
            </a:r>
          </a:p>
          <a:p/>
          <a:p>
            <a:r>
              <a:rPr sz="1000">
                <a:latin typeface="Arial"/>
              </a:rPr>
              <a:t>ROLE : Ouverture.</a:t>
            </a:r>
          </a:p>
          <a:p>
            <a:r>
              <a:rPr sz="1000">
                <a:latin typeface="Arial"/>
              </a:rPr>
              <a:t>DUREE : 2 min</a:t>
            </a:r>
          </a:p>
          <a:p/>
          <a:p>
            <a:r>
              <a:rPr sz="1000">
                <a:latin typeface="Arial"/>
              </a:rPr>
              <a:t>SCRIPT :</a:t>
            </a:r>
          </a:p>
          <a:p>
            <a:r>
              <a:rPr sz="1000">
                <a:latin typeface="Arial"/>
              </a:rPr>
              <a:t>"Hello Ingrid! Welcome to Class 15.</a:t>
            </a:r>
          </a:p>
          <a:p>
            <a:r>
              <a:rPr sz="1000">
                <a:latin typeface="Arial"/>
              </a:rPr>
              <a:t>Today: Reported Speech. Ready?"</a:t>
            </a:r>
          </a:p>
          <a:p/>
          <a:p>
            <a:r>
              <a:rPr sz="1000">
                <a:latin typeface="Arial"/>
              </a:rPr>
              <a:t>ACTIONS :</a:t>
            </a:r>
          </a:p>
          <a:p>
            <a:r>
              <a:rPr sz="1000">
                <a:latin typeface="Arial"/>
              </a:rPr>
              <a:t>- Verifier Teams</a:t>
            </a:r>
          </a:p>
          <a:p>
            <a:r>
              <a:rPr sz="1000">
                <a:latin typeface="Arial"/>
              </a:rPr>
              <a:t>- Small talk 30 sec</a:t>
            </a:r>
          </a:p>
          <a:p>
            <a:r>
              <a:rPr sz="1000">
                <a:latin typeface="Arial"/>
              </a:rPr>
              <a:t>- Annoncer 90 min</a:t>
            </a:r>
          </a:p>
          <a:p/>
          <a:p>
            <a:r>
              <a:rPr sz="1000">
                <a:latin typeface="Arial"/>
              </a:rPr>
              <a:t>TRANSITION : "Let's start with the objectives."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OVERVIEW</a:t>
            </a:r>
          </a:p>
          <a:p/>
          <a:p>
            <a:r>
              <a:rPr sz="1000">
                <a:latin typeface="Arial"/>
              </a:rPr>
              <a:t>ROLE : Annoncer objectifs.</a:t>
            </a:r>
          </a:p>
          <a:p>
            <a:r>
              <a:rPr sz="1000">
                <a:latin typeface="Arial"/>
              </a:rPr>
              <a:t>DUREE : 3 min</a:t>
            </a:r>
          </a:p>
          <a:p/>
          <a:p>
            <a:r>
              <a:rPr sz="1000">
                <a:latin typeface="Arial"/>
              </a:rPr>
              <a:t>Lire chaque objectif a voix haute.</a:t>
            </a:r>
          </a:p>
          <a:p>
            <a:r>
              <a:rPr sz="1000">
                <a:latin typeface="Arial"/>
              </a:rPr>
              <a:t>Ne pas expliquer.</a:t>
            </a:r>
          </a:p>
          <a:p/>
          <a:p>
            <a:r>
              <a:rPr sz="1000">
                <a:latin typeface="Arial"/>
              </a:rPr>
              <a:t>DIRE : "By the end of today, you will be able to do all of this."</a:t>
            </a:r>
          </a:p>
          <a:p/>
          <a:p>
            <a:r>
              <a:rPr sz="1000">
                <a:latin typeface="Arial"/>
              </a:rPr>
              <a:t>TRANSITION : "Let's start with a warm-up."</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WARM-UP</a:t>
            </a:r>
          </a:p>
          <a:p/>
          <a:p>
            <a:r>
              <a:rPr sz="1000">
                <a:latin typeface="Arial"/>
              </a:rPr>
              <a:t>ROLE : Activer connaissances.</a:t>
            </a:r>
          </a:p>
          <a:p>
            <a:r>
              <a:rPr sz="1000">
                <a:latin typeface="Arial"/>
              </a:rPr>
              <a:t>DUREE : 10 min</a:t>
            </a:r>
          </a:p>
          <a:p/>
          <a:p>
            <a:r>
              <a:rPr sz="1000">
                <a:latin typeface="Arial"/>
              </a:rPr>
              <a:t>Ingrid repond ORALEMENT sans notes.</a:t>
            </a:r>
          </a:p>
          <a:p>
            <a:r>
              <a:rPr sz="1000">
                <a:latin typeface="Arial"/>
              </a:rPr>
              <a:t>Ne pas interrompre.</a:t>
            </a:r>
          </a:p>
          <a:p>
            <a:r>
              <a:rPr sz="1000">
                <a:latin typeface="Arial"/>
              </a:rPr>
              <a:t>Max 2-3 corrections apres.</a:t>
            </a:r>
          </a:p>
          <a:p/>
          <a:p>
            <a:r>
              <a:rPr sz="1000">
                <a:latin typeface="Arial"/>
              </a:rPr>
              <a:t>TRANSITION : "Now let's look at new vocabulary."</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VOCABULARY (1)</a:t>
            </a:r>
          </a:p>
          <a:p/>
          <a:p>
            <a:r>
              <a:rPr sz="1000">
                <a:latin typeface="Arial"/>
              </a:rPr>
              <a:t>ROLE : Introduire vocabulaire.</a:t>
            </a:r>
          </a:p>
          <a:p>
            <a:r>
              <a:rPr sz="1000">
                <a:latin typeface="Arial"/>
              </a:rPr>
              <a:t>DUREE : 8-10 min</a:t>
            </a:r>
          </a:p>
          <a:p/>
          <a:p>
            <a:r>
              <a:rPr sz="1000">
                <a:latin typeface="Arial"/>
              </a:rPr>
              <a:t>METHODE 3 ETAPES :</a:t>
            </a:r>
          </a:p>
          <a:p>
            <a:r>
              <a:rPr sz="1000">
                <a:latin typeface="Arial"/>
              </a:rPr>
              <a:t>1. Prof dit -&gt; Ingrid repete</a:t>
            </a:r>
          </a:p>
          <a:p>
            <a:r>
              <a:rPr sz="1000">
                <a:latin typeface="Arial"/>
              </a:rPr>
              <a:t>2. Prof traduit</a:t>
            </a:r>
          </a:p>
          <a:p>
            <a:r>
              <a:rPr sz="1000">
                <a:latin typeface="Arial"/>
              </a:rPr>
              <a:t>3. Ingrid fait une phrase</a:t>
            </a:r>
          </a:p>
          <a:p/>
          <a:p>
            <a:r>
              <a:rPr sz="1000">
                <a:latin typeface="Arial"/>
              </a:rPr>
              <a:t>NE PAS lire simplement.</a:t>
            </a:r>
          </a:p>
          <a:p>
            <a:r>
              <a:rPr sz="1000">
                <a:latin typeface="Arial"/>
              </a:rPr>
              <a:t>TOUJOURS prononcer + utiliser.</a:t>
            </a:r>
          </a:p>
          <a:p/>
          <a:p>
            <a:r>
              <a:rPr sz="1000">
                <a:latin typeface="Arial"/>
              </a:rPr>
              <a:t>TRANSITION : "Now let's look at common mistakes."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VOCABULARY (2)</a:t>
            </a:r>
          </a:p>
          <a:p/>
          <a:p>
            <a:r>
              <a:rPr sz="1000">
                <a:latin typeface="Arial"/>
              </a:rPr>
              <a:t>ROLE : Introduire vocabulaire.</a:t>
            </a:r>
          </a:p>
          <a:p>
            <a:r>
              <a:rPr sz="1000">
                <a:latin typeface="Arial"/>
              </a:rPr>
              <a:t>DUREE : 8-10 min</a:t>
            </a:r>
          </a:p>
          <a:p/>
          <a:p>
            <a:r>
              <a:rPr sz="1000">
                <a:latin typeface="Arial"/>
              </a:rPr>
              <a:t>METHODE 3 ETAPES :</a:t>
            </a:r>
          </a:p>
          <a:p>
            <a:r>
              <a:rPr sz="1000">
                <a:latin typeface="Arial"/>
              </a:rPr>
              <a:t>1. Prof dit -&gt; Ingrid repete</a:t>
            </a:r>
          </a:p>
          <a:p>
            <a:r>
              <a:rPr sz="1000">
                <a:latin typeface="Arial"/>
              </a:rPr>
              <a:t>2. Prof traduit</a:t>
            </a:r>
          </a:p>
          <a:p>
            <a:r>
              <a:rPr sz="1000">
                <a:latin typeface="Arial"/>
              </a:rPr>
              <a:t>3. Ingrid fait une phrase</a:t>
            </a:r>
          </a:p>
          <a:p/>
          <a:p>
            <a:r>
              <a:rPr sz="1000">
                <a:latin typeface="Arial"/>
              </a:rPr>
              <a:t>NE PAS lire simplement.</a:t>
            </a:r>
          </a:p>
          <a:p>
            <a:r>
              <a:rPr sz="1000">
                <a:latin typeface="Arial"/>
              </a:rPr>
              <a:t>TOUJOURS prononcer + utiliser.</a:t>
            </a:r>
          </a:p>
          <a:p/>
          <a:p>
            <a:r>
              <a:rPr sz="1000">
                <a:latin typeface="Arial"/>
              </a:rPr>
              <a:t>TRANSITION : "Now let's look at common mistakes."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COMMON MISTAKES (Trampas)</a:t>
            </a:r>
          </a:p>
          <a:p/>
          <a:p>
            <a:r>
              <a:rPr sz="1000">
                <a:latin typeface="Arial"/>
              </a:rPr>
              <a:t>ROLE : Erreurs frequentes hispanophones.</a:t>
            </a:r>
          </a:p>
          <a:p>
            <a:r>
              <a:rPr sz="1000">
                <a:latin typeface="Arial"/>
              </a:rPr>
              <a:t>DUREE : 5 min</a:t>
            </a:r>
          </a:p>
          <a:p/>
          <a:p>
            <a:r>
              <a:rPr sz="1000">
                <a:latin typeface="Arial"/>
              </a:rPr>
              <a:t>METHODE :</a:t>
            </a:r>
          </a:p>
          <a:p>
            <a:r>
              <a:rPr sz="1000">
                <a:latin typeface="Arial"/>
              </a:rPr>
              <a:t>1. Montrer l'erreur (X)</a:t>
            </a:r>
          </a:p>
          <a:p>
            <a:r>
              <a:rPr sz="1000">
                <a:latin typeface="Arial"/>
              </a:rPr>
              <a:t>2. Demander : "Esta correcto?"</a:t>
            </a:r>
          </a:p>
          <a:p>
            <a:r>
              <a:rPr sz="1000">
                <a:latin typeface="Arial"/>
              </a:rPr>
              <a:t>3. Ingrid corrige</a:t>
            </a:r>
          </a:p>
          <a:p>
            <a:r>
              <a:rPr sz="1000">
                <a:latin typeface="Arial"/>
              </a:rPr>
              <a:t>4. Montrer la correction (OK)</a:t>
            </a:r>
          </a:p>
          <a:p>
            <a:r>
              <a:rPr sz="1000">
                <a:latin typeface="Arial"/>
              </a:rPr>
              <a:t>5. Lire l'explication en espagnol</a:t>
            </a:r>
          </a:p>
          <a:p>
            <a:r>
              <a:rPr sz="1000">
                <a:latin typeface="Arial"/>
              </a:rPr>
              <a:t>6. Repetir 3x la forme correcte</a:t>
            </a:r>
          </a:p>
          <a:p/>
          <a:p>
            <a:r>
              <a:rPr sz="1000">
                <a:latin typeface="Arial"/>
              </a:rPr>
              <a:t>FRASES UTILES :</a:t>
            </a:r>
          </a:p>
          <a:p>
            <a:r>
              <a:rPr sz="1000">
                <a:latin typeface="Arial"/>
              </a:rPr>
              <a:t>- "Esta es una trampa muy comun."</a:t>
            </a:r>
          </a:p>
          <a:p>
            <a:r>
              <a:rPr sz="1000">
                <a:latin typeface="Arial"/>
              </a:rPr>
              <a:t>- "Cuidado con esta palabra."</a:t>
            </a:r>
          </a:p>
          <a:p>
            <a:r>
              <a:rPr sz="1000">
                <a:latin typeface="Arial"/>
              </a:rPr>
              <a:t>- "Repite conmigo 3 veces."</a:t>
            </a:r>
          </a:p>
          <a:p/>
          <a:p>
            <a:r>
              <a:rPr sz="1000">
                <a:latin typeface="Arial"/>
              </a:rPr>
              <a:t>NE PAS juger les erreurs.</a:t>
            </a:r>
          </a:p>
          <a:p>
            <a:r>
              <a:rPr sz="1000">
                <a:latin typeface="Arial"/>
              </a:rPr>
              <a:t>ENCOURAGER : "Es normal, todos lo hacemos."</a:t>
            </a:r>
          </a:p>
          <a:p/>
          <a:p>
            <a:r>
              <a:rPr sz="1000">
                <a:latin typeface="Arial"/>
              </a:rPr>
              <a:t>TRANSITION : "Ahora veamos expresiones completas."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EXPRESSIONS &amp; YOUR TURN</a:t>
            </a:r>
          </a:p>
          <a:p/>
          <a:p>
            <a:r>
              <a:rPr sz="1000">
                <a:latin typeface="Arial"/>
              </a:rPr>
              <a:t>ROLE : Blocs lexicaux + production.</a:t>
            </a:r>
          </a:p>
          <a:p>
            <a:r>
              <a:rPr sz="1000">
                <a:latin typeface="Arial"/>
              </a:rPr>
              <a:t>DUREE : 8 min</a:t>
            </a:r>
          </a:p>
          <a:p/>
          <a:p>
            <a:r>
              <a:rPr sz="1000">
                <a:latin typeface="Arial"/>
              </a:rPr>
              <a:t>PARTIE 1 - EXPRESSIONS (4 min) :</a:t>
            </a:r>
          </a:p>
          <a:p>
            <a:r>
              <a:rPr sz="1000">
                <a:latin typeface="Arial"/>
              </a:rPr>
              <a:t>1. Lire chaque expression</a:t>
            </a:r>
          </a:p>
          <a:p>
            <a:r>
              <a:rPr sz="1000">
                <a:latin typeface="Arial"/>
              </a:rPr>
              <a:t>2. Ingrid repete</a:t>
            </a:r>
          </a:p>
          <a:p>
            <a:r>
              <a:rPr sz="1000">
                <a:latin typeface="Arial"/>
              </a:rPr>
              <a:t>3. Demander : "When do you use this?"</a:t>
            </a:r>
          </a:p>
          <a:p/>
          <a:p>
            <a:r>
              <a:rPr sz="1000">
                <a:latin typeface="Arial"/>
              </a:rPr>
              <a:t>PARTIE 2 - YOUR TURN (4 min) :</a:t>
            </a:r>
          </a:p>
          <a:p>
            <a:r>
              <a:rPr sz="1000">
                <a:latin typeface="Arial"/>
              </a:rPr>
              <a:t>1. Lire la consigne</a:t>
            </a:r>
          </a:p>
          <a:p>
            <a:r>
              <a:rPr sz="1000">
                <a:latin typeface="Arial"/>
              </a:rPr>
              <a:t>2. Ingrid ecrit 1 phrase par mot</a:t>
            </a:r>
          </a:p>
          <a:p>
            <a:r>
              <a:rPr sz="1000">
                <a:latin typeface="Arial"/>
              </a:rPr>
              <a:t>3. Verifier oralement</a:t>
            </a:r>
          </a:p>
          <a:p/>
          <a:p>
            <a:r>
              <a:rPr sz="1000">
                <a:latin typeface="Arial"/>
              </a:rPr>
              <a:t>NE PAS ecrire a sa place.</a:t>
            </a:r>
          </a:p>
          <a:p>
            <a:r>
              <a:rPr sz="1000">
                <a:latin typeface="Arial"/>
              </a:rPr>
              <a:t>CORRIGER 2-3 erreurs max.</a:t>
            </a:r>
          </a:p>
          <a:p/>
          <a:p>
            <a:r>
              <a:rPr sz="1000">
                <a:latin typeface="Arial"/>
              </a:rPr>
              <a:t>TRANSITION : "Now let's look at the grammar."</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Reported speech</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Say + algo. Tell + alguien.</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Reported speech</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Say + algo. Tell + alguien.</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Reported speech</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Say + algo. Tell + alguien.</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Reported speech</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Say + algo. Tell + alguien.</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Reported speech</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Say + algo. Tell + alguien.</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GRAMMAR 1.1 : Reported speech</a:t>
            </a:r>
          </a:p>
          <a:p/>
          <a:p>
            <a:r>
              <a:rPr sz="1000">
                <a:latin typeface="Arial"/>
              </a:rPr>
              <a:t>ROLE : Presenter structure.</a:t>
            </a:r>
          </a:p>
          <a:p>
            <a:r>
              <a:rPr sz="1000">
                <a:latin typeface="Arial"/>
              </a:rPr>
              <a:t>DUREE : 10-15 min</a:t>
            </a:r>
          </a:p>
          <a:p/>
          <a:p>
            <a:r>
              <a:rPr sz="1000">
                <a:latin typeface="Arial"/>
              </a:rPr>
              <a:t>APPROCHE DECOUVERTE :</a:t>
            </a:r>
          </a:p>
          <a:p>
            <a:r>
              <a:rPr sz="1000">
                <a:latin typeface="Arial"/>
              </a:rPr>
              <a:t>1. Montrer exemples</a:t>
            </a:r>
          </a:p>
          <a:p>
            <a:r>
              <a:rPr sz="1000">
                <a:latin typeface="Arial"/>
              </a:rPr>
              <a:t>2. Demander : "What pattern?"</a:t>
            </a:r>
          </a:p>
          <a:p>
            <a:r>
              <a:rPr sz="1000">
                <a:latin typeface="Arial"/>
              </a:rPr>
              <a:t>3. Laisser deviner</a:t>
            </a:r>
          </a:p>
          <a:p>
            <a:r>
              <a:rPr sz="1000">
                <a:latin typeface="Arial"/>
              </a:rPr>
              <a:t>4. Confirmer</a:t>
            </a:r>
          </a:p>
          <a:p>
            <a:r>
              <a:rPr sz="1000">
                <a:latin typeface="Arial"/>
              </a:rPr>
              <a:t>5. Exemples personnels</a:t>
            </a:r>
          </a:p>
          <a:p/>
          <a:p>
            <a:r>
              <a:rPr sz="1000">
                <a:latin typeface="Arial"/>
              </a:rPr>
              <a:t>POINT : Say + algo. Tell + alguien.</a:t>
            </a:r>
          </a:p>
          <a:p/>
          <a:p>
            <a:r>
              <a:rPr sz="1000">
                <a:latin typeface="Arial"/>
              </a:rPr>
              <a:t>MAX 2-3 corrections.</a:t>
            </a:r>
          </a:p>
          <a:p/>
          <a:p>
            <a:r>
              <a:rPr sz="1000">
                <a:latin typeface="Arial"/>
              </a:rPr>
              <a:t>TRANSITION : "Now let's practice."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SOUND : Intonation</a:t>
            </a:r>
          </a:p>
          <a:p/>
          <a:p>
            <a:r>
              <a:rPr sz="1000">
                <a:latin typeface="Arial"/>
              </a:rPr>
              <a:t>ROLE : Focus phonetique.</a:t>
            </a:r>
          </a:p>
          <a:p>
            <a:r>
              <a:rPr sz="1000">
                <a:latin typeface="Arial"/>
              </a:rPr>
              <a:t>DUREE : 5 min</a:t>
            </a:r>
          </a:p>
          <a:p/>
          <a:p>
            <a:r>
              <a:rPr sz="1000">
                <a:latin typeface="Arial"/>
              </a:rPr>
              <a:t>METHODE :</a:t>
            </a:r>
          </a:p>
          <a:p>
            <a:r>
              <a:rPr sz="1000">
                <a:latin typeface="Arial"/>
              </a:rPr>
              <a:t>1. ECOUTER : prof prononce</a:t>
            </a:r>
          </a:p>
          <a:p>
            <a:r>
              <a:rPr sz="1000">
                <a:latin typeface="Arial"/>
              </a:rPr>
              <a:t>2. DISTINGUER : Ingrid identifie</a:t>
            </a:r>
          </a:p>
          <a:p>
            <a:r>
              <a:rPr sz="1000">
                <a:latin typeface="Arial"/>
              </a:rPr>
              <a:t>3. REPETER</a:t>
            </a:r>
          </a:p>
          <a:p/>
          <a:p>
            <a:r>
              <a:rPr sz="1000">
                <a:latin typeface="Arial"/>
              </a:rPr>
              <a:t>NE PAS enseigner theorie.</a:t>
            </a:r>
          </a:p>
          <a:p/>
          <a:p>
            <a:r>
              <a:rPr sz="1000">
                <a:latin typeface="Arial"/>
              </a:rPr>
              <a:t>TRANSITION : "Now let's practice in words."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PRONUNCIATION</a:t>
            </a:r>
          </a:p>
          <a:p/>
          <a:p>
            <a:r>
              <a:rPr sz="1000">
                <a:latin typeface="Arial"/>
              </a:rPr>
              <a:t>ROLE : Pratique active.</a:t>
            </a:r>
          </a:p>
          <a:p>
            <a:r>
              <a:rPr sz="1000">
                <a:latin typeface="Arial"/>
              </a:rPr>
              <a:t>DUREE : 5 min</a:t>
            </a:r>
          </a:p>
          <a:p/>
          <a:p>
            <a:r>
              <a:rPr sz="1000">
                <a:latin typeface="Arial"/>
              </a:rPr>
              <a:t>Chaque mot repete 5 fois.</a:t>
            </a:r>
          </a:p>
          <a:p>
            <a:r>
              <a:rPr sz="1000">
                <a:latin typeface="Arial"/>
              </a:rPr>
              <a:t>Prof corrige en temps reel.</a:t>
            </a:r>
          </a:p>
          <a:p>
            <a:r>
              <a:rPr sz="1000">
                <a:latin typeface="Arial"/>
              </a:rPr>
              <a:t>Enregistrer si possible.</a:t>
            </a:r>
          </a:p>
          <a:p/>
          <a:p>
            <a:r>
              <a:rPr sz="1000">
                <a:latin typeface="Arial"/>
              </a:rPr>
              <a:t>TRANSITION : "Now let's practice with exercises."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WARM-UP</a:t>
            </a:r>
          </a:p>
          <a:p/>
          <a:p>
            <a:r>
              <a:rPr sz="1000">
                <a:latin typeface="Arial"/>
              </a:rPr>
              <a:t>ROLE : Activer connaissances.</a:t>
            </a:r>
          </a:p>
          <a:p>
            <a:r>
              <a:rPr sz="1000">
                <a:latin typeface="Arial"/>
              </a:rPr>
              <a:t>DUREE : 10 min</a:t>
            </a:r>
          </a:p>
          <a:p/>
          <a:p>
            <a:r>
              <a:rPr sz="1000">
                <a:latin typeface="Arial"/>
              </a:rPr>
              <a:t>Ingrid repond ORALEMENT sans notes.</a:t>
            </a:r>
          </a:p>
          <a:p>
            <a:r>
              <a:rPr sz="1000">
                <a:latin typeface="Arial"/>
              </a:rPr>
              <a:t>Ne pas interrompre.</a:t>
            </a:r>
          </a:p>
          <a:p>
            <a:r>
              <a:rPr sz="1000">
                <a:latin typeface="Arial"/>
              </a:rPr>
              <a:t>Max 2-3 corrections apres.</a:t>
            </a:r>
          </a:p>
          <a:p/>
          <a:p>
            <a:r>
              <a:rPr sz="1000">
                <a:latin typeface="Arial"/>
              </a:rPr>
              <a:t>TRANSITION : "Now let's look at new vocabulary."</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WARM-UP</a:t>
            </a:r>
          </a:p>
          <a:p/>
          <a:p>
            <a:r>
              <a:rPr sz="1000">
                <a:latin typeface="Arial"/>
              </a:rPr>
              <a:t>ROLE : Activer connaissances.</a:t>
            </a:r>
          </a:p>
          <a:p>
            <a:r>
              <a:rPr sz="1000">
                <a:latin typeface="Arial"/>
              </a:rPr>
              <a:t>DUREE : 10 min</a:t>
            </a:r>
          </a:p>
          <a:p/>
          <a:p>
            <a:r>
              <a:rPr sz="1000">
                <a:latin typeface="Arial"/>
              </a:rPr>
              <a:t>Ingrid repond ORALEMENT sans notes.</a:t>
            </a:r>
          </a:p>
          <a:p>
            <a:r>
              <a:rPr sz="1000">
                <a:latin typeface="Arial"/>
              </a:rPr>
              <a:t>Ne pas interrompre.</a:t>
            </a:r>
          </a:p>
          <a:p>
            <a:r>
              <a:rPr sz="1000">
                <a:latin typeface="Arial"/>
              </a:rPr>
              <a:t>Max 2-3 corrections apres.</a:t>
            </a:r>
          </a:p>
          <a:p/>
          <a:p>
            <a:r>
              <a:rPr sz="1000">
                <a:latin typeface="Arial"/>
              </a:rPr>
              <a:t>TRANSITION : "Now let's look at new vocabulary."</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CONVERSATION (1)</a:t>
            </a:r>
          </a:p>
          <a:p/>
          <a:p>
            <a:r>
              <a:rPr sz="1000">
                <a:latin typeface="Arial"/>
              </a:rPr>
              <a:t>ROLE : Pratique orale.</a:t>
            </a:r>
          </a:p>
          <a:p>
            <a:r>
              <a:rPr sz="1000">
                <a:latin typeface="Arial"/>
              </a:rPr>
              <a:t>DUREE : 10-12 min</a:t>
            </a:r>
          </a:p>
          <a:p/>
          <a:p>
            <a:r>
              <a:rPr sz="1000">
                <a:latin typeface="Arial"/>
              </a:rPr>
              <a:t>Prof pose UNE question.</a:t>
            </a:r>
          </a:p>
          <a:p>
            <a:r>
              <a:rPr sz="1000">
                <a:latin typeface="Arial"/>
              </a:rPr>
              <a:t>Ingrid repond librement.</a:t>
            </a:r>
          </a:p>
          <a:p>
            <a:r>
              <a:rPr sz="1000">
                <a:latin typeface="Arial"/>
              </a:rPr>
              <a:t>NE PAS interrompre.</a:t>
            </a:r>
          </a:p>
          <a:p>
            <a:r>
              <a:rPr sz="1000">
                <a:latin typeface="Arial"/>
              </a:rPr>
              <a:t>Corriger 2-3 erreurs APRES.</a:t>
            </a:r>
          </a:p>
          <a:p/>
          <a:p>
            <a:r>
              <a:rPr sz="1000">
                <a:latin typeface="Arial"/>
              </a:rPr>
              <a:t>FOLLOW-UP : "Really? Tell me more."</a:t>
            </a:r>
          </a:p>
          <a:p/>
          <a:p>
            <a:r>
              <a:rPr sz="1000">
                <a:latin typeface="Arial"/>
              </a:rPr>
              <a:t>TRANSITION : "Now let's listen to a short text."</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CONVERSATION (2)</a:t>
            </a:r>
          </a:p>
          <a:p/>
          <a:p>
            <a:r>
              <a:rPr sz="1000">
                <a:latin typeface="Arial"/>
              </a:rPr>
              <a:t>ROLE : Pratique orale.</a:t>
            </a:r>
          </a:p>
          <a:p>
            <a:r>
              <a:rPr sz="1000">
                <a:latin typeface="Arial"/>
              </a:rPr>
              <a:t>DUREE : 10-12 min</a:t>
            </a:r>
          </a:p>
          <a:p/>
          <a:p>
            <a:r>
              <a:rPr sz="1000">
                <a:latin typeface="Arial"/>
              </a:rPr>
              <a:t>Prof pose UNE question.</a:t>
            </a:r>
          </a:p>
          <a:p>
            <a:r>
              <a:rPr sz="1000">
                <a:latin typeface="Arial"/>
              </a:rPr>
              <a:t>Ingrid repond librement.</a:t>
            </a:r>
          </a:p>
          <a:p>
            <a:r>
              <a:rPr sz="1000">
                <a:latin typeface="Arial"/>
              </a:rPr>
              <a:t>NE PAS interrompre.</a:t>
            </a:r>
          </a:p>
          <a:p>
            <a:r>
              <a:rPr sz="1000">
                <a:latin typeface="Arial"/>
              </a:rPr>
              <a:t>Corriger 2-3 erreurs APRES.</a:t>
            </a:r>
          </a:p>
          <a:p/>
          <a:p>
            <a:r>
              <a:rPr sz="1000">
                <a:latin typeface="Arial"/>
              </a:rPr>
              <a:t>FOLLOW-UP : "Really? Tell me more."</a:t>
            </a:r>
          </a:p>
          <a:p/>
          <a:p>
            <a:r>
              <a:rPr sz="1000">
                <a:latin typeface="Arial"/>
              </a:rPr>
              <a:t>TRANSITION : "Now let's listen to a short text."</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CONVERSATION (1)</a:t>
            </a:r>
          </a:p>
          <a:p/>
          <a:p>
            <a:r>
              <a:rPr sz="1000">
                <a:latin typeface="Arial"/>
              </a:rPr>
              <a:t>ROLE : Pratique orale.</a:t>
            </a:r>
          </a:p>
          <a:p>
            <a:r>
              <a:rPr sz="1000">
                <a:latin typeface="Arial"/>
              </a:rPr>
              <a:t>DUREE : 10-12 min</a:t>
            </a:r>
          </a:p>
          <a:p/>
          <a:p>
            <a:r>
              <a:rPr sz="1000">
                <a:latin typeface="Arial"/>
              </a:rPr>
              <a:t>Prof pose UNE question.</a:t>
            </a:r>
          </a:p>
          <a:p>
            <a:r>
              <a:rPr sz="1000">
                <a:latin typeface="Arial"/>
              </a:rPr>
              <a:t>Ingrid repond librement.</a:t>
            </a:r>
          </a:p>
          <a:p>
            <a:r>
              <a:rPr sz="1000">
                <a:latin typeface="Arial"/>
              </a:rPr>
              <a:t>NE PAS interrompre.</a:t>
            </a:r>
          </a:p>
          <a:p>
            <a:r>
              <a:rPr sz="1000">
                <a:latin typeface="Arial"/>
              </a:rPr>
              <a:t>Corriger 2-3 erreurs APRES.</a:t>
            </a:r>
          </a:p>
          <a:p/>
          <a:p>
            <a:r>
              <a:rPr sz="1000">
                <a:latin typeface="Arial"/>
              </a:rPr>
              <a:t>FOLLOW-UP : "Really? Tell me more."</a:t>
            </a:r>
          </a:p>
          <a:p/>
          <a:p>
            <a:r>
              <a:rPr sz="1000">
                <a:latin typeface="Arial"/>
              </a:rPr>
              <a:t>TRANSITION : "Now let's listen to a short text."</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LISTENING QUESTIONS</a:t>
            </a:r>
          </a:p>
          <a:p/>
          <a:p>
            <a:r>
              <a:rPr sz="1000">
                <a:latin typeface="Arial"/>
              </a:rPr>
              <a:t>ROLE : Comprehension detaillee.</a:t>
            </a:r>
          </a:p>
          <a:p>
            <a:r>
              <a:rPr sz="1000">
                <a:latin typeface="Arial"/>
              </a:rPr>
              <a:t>DUREE : 4 min</a:t>
            </a:r>
          </a:p>
          <a:p/>
          <a:p>
            <a:r>
              <a:rPr sz="1000">
                <a:latin typeface="Arial"/>
              </a:rPr>
              <a:t>Ingrid repond en PHRASE COMPLETE.</a:t>
            </a:r>
          </a:p>
          <a:p>
            <a:r>
              <a:rPr sz="1000">
                <a:latin typeface="Arial"/>
              </a:rPr>
              <a:t>Corriger apres.</a:t>
            </a:r>
          </a:p>
          <a:p/>
          <a:p>
            <a:r>
              <a:rPr sz="1000">
                <a:latin typeface="Arial"/>
              </a:rPr>
              <a:t>TRANSITION : "Now it's your turn to speak."</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CONVERSATION (1)</a:t>
            </a:r>
          </a:p>
          <a:p/>
          <a:p>
            <a:r>
              <a:rPr sz="1000">
                <a:latin typeface="Arial"/>
              </a:rPr>
              <a:t>ROLE : Pratique orale.</a:t>
            </a:r>
          </a:p>
          <a:p>
            <a:r>
              <a:rPr sz="1000">
                <a:latin typeface="Arial"/>
              </a:rPr>
              <a:t>DUREE : 10-12 min</a:t>
            </a:r>
          </a:p>
          <a:p/>
          <a:p>
            <a:r>
              <a:rPr sz="1000">
                <a:latin typeface="Arial"/>
              </a:rPr>
              <a:t>Prof pose UNE question.</a:t>
            </a:r>
          </a:p>
          <a:p>
            <a:r>
              <a:rPr sz="1000">
                <a:latin typeface="Arial"/>
              </a:rPr>
              <a:t>Ingrid repond librement.</a:t>
            </a:r>
          </a:p>
          <a:p>
            <a:r>
              <a:rPr sz="1000">
                <a:latin typeface="Arial"/>
              </a:rPr>
              <a:t>NE PAS interrompre.</a:t>
            </a:r>
          </a:p>
          <a:p>
            <a:r>
              <a:rPr sz="1000">
                <a:latin typeface="Arial"/>
              </a:rPr>
              <a:t>Corriger 2-3 erreurs APRES.</a:t>
            </a:r>
          </a:p>
          <a:p/>
          <a:p>
            <a:r>
              <a:rPr sz="1000">
                <a:latin typeface="Arial"/>
              </a:rPr>
              <a:t>FOLLOW-UP : "Really? Tell me more."</a:t>
            </a:r>
          </a:p>
          <a:p/>
          <a:p>
            <a:r>
              <a:rPr sz="1000">
                <a:latin typeface="Arial"/>
              </a:rPr>
              <a:t>TRANSITION : "Now let's listen to a short text."</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WRITING REQUIREMENTS</a:t>
            </a:r>
          </a:p>
          <a:p/>
          <a:p>
            <a:r>
              <a:rPr sz="1000">
                <a:latin typeface="Arial"/>
              </a:rPr>
              <a:t>ROLE : Preparer ecrit.</a:t>
            </a:r>
          </a:p>
          <a:p>
            <a:r>
              <a:rPr sz="1000">
                <a:latin typeface="Arial"/>
              </a:rPr>
              <a:t>DUREE : 3 min</a:t>
            </a:r>
          </a:p>
          <a:p/>
          <a:p>
            <a:r>
              <a:rPr sz="1000">
                <a:latin typeface="Arial"/>
              </a:rPr>
              <a:t>5 ETAPES :</a:t>
            </a:r>
          </a:p>
          <a:p>
            <a:r>
              <a:rPr sz="1000">
                <a:latin typeface="Arial"/>
              </a:rPr>
              <a:t>1. Brainstorming (3 min)</a:t>
            </a:r>
          </a:p>
          <a:p>
            <a:r>
              <a:rPr sz="1000">
                <a:latin typeface="Arial"/>
              </a:rPr>
              <a:t>2. Borrador (10 min)</a:t>
            </a:r>
          </a:p>
          <a:p>
            <a:r>
              <a:rPr sz="1000">
                <a:latin typeface="Arial"/>
              </a:rPr>
              <a:t>3. Revision (5 min)</a:t>
            </a:r>
          </a:p>
          <a:p>
            <a:r>
              <a:rPr sz="1000">
                <a:latin typeface="Arial"/>
              </a:rPr>
              <a:t>4. Edicion (5 min)</a:t>
            </a:r>
          </a:p>
          <a:p>
            <a:r>
              <a:rPr sz="1000">
                <a:latin typeface="Arial"/>
              </a:rPr>
              <a:t>5. Publicacion (5 min)</a:t>
            </a:r>
          </a:p>
          <a:p/>
          <a:p>
            <a:r>
              <a:rPr sz="1000">
                <a:latin typeface="Arial"/>
              </a:rPr>
              <a:t>FOCUS : Reported speech + Say vs Tell</a:t>
            </a:r>
          </a:p>
          <a:p/>
          <a:p>
            <a:r>
              <a:rPr sz="1000">
                <a:latin typeface="Arial"/>
              </a:rPr>
              <a:t>NE PAS ecrire a sa place.</a:t>
            </a:r>
          </a:p>
          <a:p/>
          <a:p>
            <a:r>
              <a:rPr sz="1000">
                <a:latin typeface="Arial"/>
              </a:rPr>
              <a:t>TRANSITION : "Now let's look at the template."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CONVERSATION (1)</a:t>
            </a:r>
          </a:p>
          <a:p/>
          <a:p>
            <a:r>
              <a:rPr sz="1000">
                <a:latin typeface="Arial"/>
              </a:rPr>
              <a:t>ROLE : Pratique orale.</a:t>
            </a:r>
          </a:p>
          <a:p>
            <a:r>
              <a:rPr sz="1000">
                <a:latin typeface="Arial"/>
              </a:rPr>
              <a:t>DUREE : 10-12 min</a:t>
            </a:r>
          </a:p>
          <a:p/>
          <a:p>
            <a:r>
              <a:rPr sz="1000">
                <a:latin typeface="Arial"/>
              </a:rPr>
              <a:t>Prof pose UNE question.</a:t>
            </a:r>
          </a:p>
          <a:p>
            <a:r>
              <a:rPr sz="1000">
                <a:latin typeface="Arial"/>
              </a:rPr>
              <a:t>Ingrid repond librement.</a:t>
            </a:r>
          </a:p>
          <a:p>
            <a:r>
              <a:rPr sz="1000">
                <a:latin typeface="Arial"/>
              </a:rPr>
              <a:t>NE PAS interrompre.</a:t>
            </a:r>
          </a:p>
          <a:p>
            <a:r>
              <a:rPr sz="1000">
                <a:latin typeface="Arial"/>
              </a:rPr>
              <a:t>Corriger 2-3 erreurs APRES.</a:t>
            </a:r>
          </a:p>
          <a:p/>
          <a:p>
            <a:r>
              <a:rPr sz="1000">
                <a:latin typeface="Arial"/>
              </a:rPr>
              <a:t>FOLLOW-UP : "Really? Tell me more."</a:t>
            </a:r>
          </a:p>
          <a:p/>
          <a:p>
            <a:r>
              <a:rPr sz="1000">
                <a:latin typeface="Arial"/>
              </a:rPr>
              <a:t>TRANSITION : "Now let's listen to a short text."</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CHECKPOINT</a:t>
            </a:r>
          </a:p>
          <a:p/>
          <a:p>
            <a:r>
              <a:rPr sz="1000">
                <a:latin typeface="Arial"/>
              </a:rPr>
              <a:t>ROLE : Auto-evaluation.</a:t>
            </a:r>
          </a:p>
          <a:p>
            <a:r>
              <a:rPr sz="1000">
                <a:latin typeface="Arial"/>
              </a:rPr>
              <a:t>DUREE : 5 min</a:t>
            </a:r>
          </a:p>
          <a:p/>
          <a:p>
            <a:r>
              <a:rPr sz="1000">
                <a:latin typeface="Arial"/>
              </a:rPr>
              <a:t>Lire chaque critere.</a:t>
            </a:r>
          </a:p>
          <a:p>
            <a:r>
              <a:rPr sz="1000">
                <a:latin typeface="Arial"/>
              </a:rPr>
              <a:t>Ingrid repond honnetement.</a:t>
            </a:r>
          </a:p>
          <a:p/>
          <a:p>
            <a:r>
              <a:rPr sz="1000">
                <a:latin typeface="Arial"/>
              </a:rPr>
              <a:t>NE PAS juger.</a:t>
            </a:r>
          </a:p>
          <a:p/>
          <a:p>
            <a:r>
              <a:rPr sz="1000">
                <a:latin typeface="Arial"/>
              </a:rPr>
              <a:t>TRANSITION : "Now let's reflect."</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VOCABULARY (1)</a:t>
            </a:r>
          </a:p>
          <a:p/>
          <a:p>
            <a:r>
              <a:rPr sz="1000">
                <a:latin typeface="Arial"/>
              </a:rPr>
              <a:t>ROLE : Introduire vocabulaire.</a:t>
            </a:r>
          </a:p>
          <a:p>
            <a:r>
              <a:rPr sz="1000">
                <a:latin typeface="Arial"/>
              </a:rPr>
              <a:t>DUREE : 8-10 min</a:t>
            </a:r>
          </a:p>
          <a:p/>
          <a:p>
            <a:r>
              <a:rPr sz="1000">
                <a:latin typeface="Arial"/>
              </a:rPr>
              <a:t>METHODE 3 ETAPES :</a:t>
            </a:r>
          </a:p>
          <a:p>
            <a:r>
              <a:rPr sz="1000">
                <a:latin typeface="Arial"/>
              </a:rPr>
              <a:t>1. Prof dit -&gt; Ingrid repete</a:t>
            </a:r>
          </a:p>
          <a:p>
            <a:r>
              <a:rPr sz="1000">
                <a:latin typeface="Arial"/>
              </a:rPr>
              <a:t>2. Prof traduit</a:t>
            </a:r>
          </a:p>
          <a:p>
            <a:r>
              <a:rPr sz="1000">
                <a:latin typeface="Arial"/>
              </a:rPr>
              <a:t>3. Ingrid fait une phrase</a:t>
            </a:r>
          </a:p>
          <a:p/>
          <a:p>
            <a:r>
              <a:rPr sz="1000">
                <a:latin typeface="Arial"/>
              </a:rPr>
              <a:t>NE PAS lire simplement.</a:t>
            </a:r>
          </a:p>
          <a:p>
            <a:r>
              <a:rPr sz="1000">
                <a:latin typeface="Arial"/>
              </a:rPr>
              <a:t>TOUJOURS prononcer + utiliser.</a:t>
            </a:r>
          </a:p>
          <a:p/>
          <a:p>
            <a:r>
              <a:rPr sz="1000">
                <a:latin typeface="Arial"/>
              </a:rPr>
              <a:t>TRANSITION : "Now let's look at common mistakes."</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PRACTICE (1)</a:t>
            </a:r>
          </a:p>
          <a:p/>
          <a:p>
            <a:r>
              <a:rPr sz="1000">
                <a:latin typeface="Arial"/>
              </a:rPr>
              <a:t>ROLE : Pratique controlee.</a:t>
            </a:r>
          </a:p>
          <a:p>
            <a:r>
              <a:rPr sz="1000">
                <a:latin typeface="Arial"/>
              </a:rPr>
              <a:t>DUREE : 8-10 min</a:t>
            </a:r>
          </a:p>
          <a:p/>
          <a:p>
            <a:r>
              <a:rPr sz="1000">
                <a:latin typeface="Arial"/>
              </a:rPr>
              <a:t>1. ORAL d'abord</a:t>
            </a:r>
          </a:p>
          <a:p>
            <a:r>
              <a:rPr sz="1000">
                <a:latin typeface="Arial"/>
              </a:rPr>
              <a:t>2. ECRIT ensuite</a:t>
            </a:r>
          </a:p>
          <a:p>
            <a:r>
              <a:rPr sz="1000">
                <a:latin typeface="Arial"/>
              </a:rPr>
              <a:t>3. CORRECTION en temps reel</a:t>
            </a:r>
          </a:p>
          <a:p/>
          <a:p>
            <a:r>
              <a:rPr sz="1000">
                <a:latin typeface="Arial"/>
              </a:rPr>
              <a:t>Ne pas donner la reponse.</a:t>
            </a:r>
          </a:p>
          <a:p>
            <a:r>
              <a:rPr sz="1000">
                <a:latin typeface="Arial"/>
              </a:rPr>
              <a:t>Laisser 5-10 secondes.</a:t>
            </a:r>
          </a:p>
          <a:p>
            <a:r>
              <a:rPr sz="1000">
                <a:latin typeface="Arial"/>
              </a:rPr>
              <a:t>MAX 3 corrections.</a:t>
            </a:r>
          </a:p>
          <a:p/>
          <a:p>
            <a:r>
              <a:rPr sz="1000">
                <a:latin typeface="Arial"/>
              </a:rPr>
              <a:t>TRANSITION : "Now let's use these in conversation."</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PRONUNCIATION</a:t>
            </a:r>
          </a:p>
          <a:p/>
          <a:p>
            <a:r>
              <a:rPr sz="1000">
                <a:latin typeface="Arial"/>
              </a:rPr>
              <a:t>ROLE : Pratique active.</a:t>
            </a:r>
          </a:p>
          <a:p>
            <a:r>
              <a:rPr sz="1000">
                <a:latin typeface="Arial"/>
              </a:rPr>
              <a:t>DUREE : 5 min</a:t>
            </a:r>
          </a:p>
          <a:p/>
          <a:p>
            <a:r>
              <a:rPr sz="1000">
                <a:latin typeface="Arial"/>
              </a:rPr>
              <a:t>Chaque mot repete 5 fois.</a:t>
            </a:r>
          </a:p>
          <a:p>
            <a:r>
              <a:rPr sz="1000">
                <a:latin typeface="Arial"/>
              </a:rPr>
              <a:t>Prof corrige en temps reel.</a:t>
            </a:r>
          </a:p>
          <a:p>
            <a:r>
              <a:rPr sz="1000">
                <a:latin typeface="Arial"/>
              </a:rPr>
              <a:t>Enregistrer si possible.</a:t>
            </a:r>
          </a:p>
          <a:p/>
          <a:p>
            <a:r>
              <a:rPr sz="1000">
                <a:latin typeface="Arial"/>
              </a:rPr>
              <a:t>TRANSITION : "Now let's practice with exercises."</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000">
                <a:latin typeface="Arial"/>
              </a:rPr>
              <a:t>SLIDE - THANKS</a:t>
            </a:r>
          </a:p>
          <a:p/>
          <a:p>
            <a:r>
              <a:rPr sz="1000">
                <a:latin typeface="Arial"/>
              </a:rPr>
              <a:t>ROLE : Cloture.</a:t>
            </a:r>
          </a:p>
          <a:p>
            <a:r>
              <a:rPr sz="1000">
                <a:latin typeface="Arial"/>
              </a:rPr>
              <a:t>DUREE : 2 min</a:t>
            </a:r>
          </a:p>
          <a:p/>
          <a:p>
            <a:r>
              <a:rPr sz="1000">
                <a:latin typeface="Arial"/>
              </a:rPr>
              <a:t>SCRIPT :</a:t>
            </a:r>
          </a:p>
          <a:p>
            <a:r>
              <a:rPr sz="1000">
                <a:latin typeface="Arial"/>
              </a:rPr>
              <a:t>"Excellent work today, Ingrid!</a:t>
            </a:r>
          </a:p>
          <a:p>
            <a:r>
              <a:rPr sz="1000">
                <a:latin typeface="Arial"/>
              </a:rPr>
              <a:t>You've completed Class 15.</a:t>
            </a:r>
          </a:p>
          <a:p>
            <a:r>
              <a:rPr sz="1000">
                <a:latin typeface="Arial"/>
              </a:rPr>
              <a:t>See you next time."</a:t>
            </a:r>
          </a:p>
          <a:p/>
          <a:p>
            <a:r>
              <a:rPr sz="1000">
                <a:latin typeface="Arial"/>
              </a:rPr>
              <a:t>Rappeler : Class 16</a:t>
            </a:r>
          </a:p>
          <a:p/>
          <a:p>
            <a:r>
              <a:rPr sz="1000">
                <a:latin typeface="Arial"/>
              </a:rPr>
              <a:t>TERMINER sur une note positive.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01</a:t>
            </a:r>
          </a:p>
        </p:txBody>
      </p:sp>
      <p:sp>
        <p:nvSpPr>
          <p:cNvPr id="3" name="TextBox 2"/>
          <p:cNvSpPr txBox="1"/>
          <p:nvPr/>
        </p:nvSpPr>
        <p:spPr>
          <a:xfrm>
            <a:off x="548640" y="2011680"/>
            <a:ext cx="8046720" cy="1645920"/>
          </a:xfrm>
          <a:prstGeom prst="rect">
            <a:avLst/>
          </a:prstGeom>
          <a:noFill/>
        </p:spPr>
        <p:txBody>
          <a:bodyPr wrap="square" anchor="ctr">
            <a:spAutoFit/>
          </a:bodyPr>
          <a:lstStyle/>
          <a:p>
            <a:pPr algn="ctr">
              <a:lnSpc>
                <a:spcPct val="100000"/>
              </a:lnSpc>
            </a:pPr>
            <a:r>
              <a:rPr sz="4800" b="1" i="0">
                <a:solidFill>
                  <a:srgbClr val="3D1F5C"/>
                </a:solidFill>
                <a:latin typeface="Arial"/>
              </a:rPr>
              <a:t>SHE SAID THAT...</a:t>
            </a:r>
          </a:p>
        </p:txBody>
      </p:sp>
      <p:sp>
        <p:nvSpPr>
          <p:cNvPr id="4" name="TextBox 3"/>
          <p:cNvSpPr txBox="1"/>
          <p:nvPr/>
        </p:nvSpPr>
        <p:spPr>
          <a:xfrm>
            <a:off x="548640" y="3840480"/>
            <a:ext cx="8046720" cy="1828800"/>
          </a:xfrm>
          <a:prstGeom prst="rect">
            <a:avLst/>
          </a:prstGeom>
          <a:noFill/>
        </p:spPr>
        <p:txBody>
          <a:bodyPr wrap="square" anchor="ctr">
            <a:spAutoFit/>
          </a:bodyPr>
          <a:lstStyle/>
          <a:p>
            <a:pPr algn="ctr">
              <a:lnSpc>
                <a:spcPct val="100000"/>
              </a:lnSpc>
            </a:pPr>
            <a:r>
              <a:rPr sz="2200" b="0" i="0">
                <a:solidFill>
                  <a:srgbClr val="000000"/>
                </a:solidFill>
                <a:latin typeface="Arial"/>
              </a:rPr>
              <a:t>Ingrid - English - Class 15</a:t>
            </a:r>
          </a:p>
          <a:p>
            <a:pPr algn="ctr">
              <a:lnSpc>
                <a:spcPct val="100000"/>
              </a:lnSpc>
            </a:pPr>
            <a:r>
              <a:rPr sz="2200" b="0" i="0">
                <a:solidFill>
                  <a:srgbClr val="000000"/>
                </a:solidFill>
                <a:latin typeface="Arial"/>
              </a:rPr>
              <a:t>Profesor: Jean Thomas</a:t>
            </a:r>
          </a:p>
        </p:txBody>
      </p:sp>
      <p:sp>
        <p:nvSpPr>
          <p:cNvPr id="5" name="Rounded Rectangle 4"/>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Welcome!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02</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OVERVIEW — Today's Objectives</a:t>
            </a:r>
          </a:p>
        </p:txBody>
      </p:sp>
      <p:sp>
        <p:nvSpPr>
          <p:cNvPr id="4" name="TextBox 3"/>
          <p:cNvSpPr txBox="1"/>
          <p:nvPr/>
        </p:nvSpPr>
        <p:spPr>
          <a:xfrm>
            <a:off x="548640" y="1508760"/>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01.</a:t>
            </a:r>
          </a:p>
        </p:txBody>
      </p:sp>
      <p:sp>
        <p:nvSpPr>
          <p:cNvPr id="5" name="TextBox 4"/>
          <p:cNvSpPr txBox="1"/>
          <p:nvPr/>
        </p:nvSpPr>
        <p:spPr>
          <a:xfrm>
            <a:off x="1463040" y="1508760"/>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Report someone's words</a:t>
            </a:r>
          </a:p>
        </p:txBody>
      </p:sp>
      <p:sp>
        <p:nvSpPr>
          <p:cNvPr id="6" name="TextBox 5"/>
          <p:cNvSpPr txBox="1"/>
          <p:nvPr/>
        </p:nvSpPr>
        <p:spPr>
          <a:xfrm>
            <a:off x="548640" y="2221992"/>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02.</a:t>
            </a:r>
          </a:p>
        </p:txBody>
      </p:sp>
      <p:sp>
        <p:nvSpPr>
          <p:cNvPr id="7" name="TextBox 6"/>
          <p:cNvSpPr txBox="1"/>
          <p:nvPr/>
        </p:nvSpPr>
        <p:spPr>
          <a:xfrm>
            <a:off x="1463040" y="2221992"/>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Use say and tell correctly</a:t>
            </a:r>
          </a:p>
        </p:txBody>
      </p:sp>
      <p:sp>
        <p:nvSpPr>
          <p:cNvPr id="8" name="TextBox 7"/>
          <p:cNvSpPr txBox="1"/>
          <p:nvPr/>
        </p:nvSpPr>
        <p:spPr>
          <a:xfrm>
            <a:off x="548640" y="2935224"/>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03.</a:t>
            </a:r>
          </a:p>
        </p:txBody>
      </p:sp>
      <p:sp>
        <p:nvSpPr>
          <p:cNvPr id="9" name="TextBox 8"/>
          <p:cNvSpPr txBox="1"/>
          <p:nvPr/>
        </p:nvSpPr>
        <p:spPr>
          <a:xfrm>
            <a:off x="1463040" y="2935224"/>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Apply backshift</a:t>
            </a:r>
          </a:p>
        </p:txBody>
      </p:sp>
      <p:sp>
        <p:nvSpPr>
          <p:cNvPr id="10" name="TextBox 9"/>
          <p:cNvSpPr txBox="1"/>
          <p:nvPr/>
        </p:nvSpPr>
        <p:spPr>
          <a:xfrm>
            <a:off x="548640" y="3648456"/>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04.</a:t>
            </a:r>
          </a:p>
        </p:txBody>
      </p:sp>
      <p:sp>
        <p:nvSpPr>
          <p:cNvPr id="11" name="TextBox 10"/>
          <p:cNvSpPr txBox="1"/>
          <p:nvPr/>
        </p:nvSpPr>
        <p:spPr>
          <a:xfrm>
            <a:off x="1463040" y="3648456"/>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Report questions and orders</a:t>
            </a:r>
          </a:p>
        </p:txBody>
      </p:sp>
      <p:sp>
        <p:nvSpPr>
          <p:cNvPr id="12" name="TextBox 11"/>
          <p:cNvSpPr txBox="1"/>
          <p:nvPr/>
        </p:nvSpPr>
        <p:spPr>
          <a:xfrm>
            <a:off x="548640" y="4361688"/>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05.</a:t>
            </a:r>
          </a:p>
        </p:txBody>
      </p:sp>
      <p:sp>
        <p:nvSpPr>
          <p:cNvPr id="13" name="TextBox 12"/>
          <p:cNvSpPr txBox="1"/>
          <p:nvPr/>
        </p:nvSpPr>
        <p:spPr>
          <a:xfrm>
            <a:off x="1463040" y="4361688"/>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Change pronouns and time</a:t>
            </a:r>
          </a:p>
        </p:txBody>
      </p:sp>
      <p:sp>
        <p:nvSpPr>
          <p:cNvPr id="14" name="TextBox 13"/>
          <p:cNvSpPr txBox="1"/>
          <p:nvPr/>
        </p:nvSpPr>
        <p:spPr>
          <a:xfrm>
            <a:off x="548640" y="5074920"/>
            <a:ext cx="822960" cy="713232"/>
          </a:xfrm>
          <a:prstGeom prst="rect">
            <a:avLst/>
          </a:prstGeom>
          <a:noFill/>
        </p:spPr>
        <p:txBody>
          <a:bodyPr wrap="square" anchor="ctr">
            <a:spAutoFit/>
          </a:bodyPr>
          <a:lstStyle/>
          <a:p>
            <a:pPr algn="l">
              <a:lnSpc>
                <a:spcPct val="100000"/>
              </a:lnSpc>
            </a:pPr>
            <a:r>
              <a:rPr sz="2200" b="1" i="0">
                <a:solidFill>
                  <a:srgbClr val="FF6B35"/>
                </a:solidFill>
                <a:latin typeface="Arial"/>
              </a:rPr>
              <a:t>06.</a:t>
            </a:r>
          </a:p>
        </p:txBody>
      </p:sp>
      <p:sp>
        <p:nvSpPr>
          <p:cNvPr id="15" name="TextBox 14"/>
          <p:cNvSpPr txBox="1"/>
          <p:nvPr/>
        </p:nvSpPr>
        <p:spPr>
          <a:xfrm>
            <a:off x="1463040" y="5074920"/>
            <a:ext cx="7132320" cy="713232"/>
          </a:xfrm>
          <a:prstGeom prst="rect">
            <a:avLst/>
          </a:prstGeom>
          <a:noFill/>
        </p:spPr>
        <p:txBody>
          <a:bodyPr wrap="square" anchor="ctr">
            <a:spAutoFit/>
          </a:bodyPr>
          <a:lstStyle/>
          <a:p>
            <a:pPr algn="l">
              <a:lnSpc>
                <a:spcPct val="100000"/>
              </a:lnSpc>
            </a:pPr>
            <a:r>
              <a:rPr sz="2200" b="0" i="0">
                <a:solidFill>
                  <a:srgbClr val="000000"/>
                </a:solidFill>
                <a:latin typeface="Arial"/>
              </a:rPr>
              <a:t>Tell a conversation in 90-120 sec</a:t>
            </a:r>
          </a:p>
        </p:txBody>
      </p:sp>
      <p:sp>
        <p:nvSpPr>
          <p:cNvPr id="16" name="Rounded Rectangle 1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GOAL: Speak with confidence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03</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SPEAKING — Answer orally</a:t>
            </a:r>
          </a:p>
        </p:txBody>
      </p:sp>
      <p:sp>
        <p:nvSpPr>
          <p:cNvPr id="4" name="Rounded Rectangle 3"/>
          <p:cNvSpPr/>
          <p:nvPr/>
        </p:nvSpPr>
        <p:spPr>
          <a:xfrm>
            <a:off x="548640" y="155448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What did someone tell you recently?</a:t>
            </a:r>
          </a:p>
        </p:txBody>
      </p:sp>
      <p:sp>
        <p:nvSpPr>
          <p:cNvPr id="6" name="Rounded Rectangle 5"/>
          <p:cNvSpPr/>
          <p:nvPr/>
        </p:nvSpPr>
        <p:spPr>
          <a:xfrm>
            <a:off x="548640" y="2450591"/>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50591"/>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What did your teacher say?</a:t>
            </a:r>
          </a:p>
        </p:txBody>
      </p:sp>
      <p:sp>
        <p:nvSpPr>
          <p:cNvPr id="8" name="Rounded Rectangle 7"/>
          <p:cNvSpPr/>
          <p:nvPr/>
        </p:nvSpPr>
        <p:spPr>
          <a:xfrm>
            <a:off x="548640" y="3346703"/>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346703"/>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What did your friend ask you?</a:t>
            </a:r>
          </a:p>
        </p:txBody>
      </p:sp>
      <p:sp>
        <p:nvSpPr>
          <p:cNvPr id="10" name="Rounded Rectangle 9"/>
          <p:cNvSpPr/>
          <p:nvPr/>
        </p:nvSpPr>
        <p:spPr>
          <a:xfrm>
            <a:off x="548640" y="4242816"/>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242816"/>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What did your parents tell you?</a:t>
            </a:r>
          </a:p>
        </p:txBody>
      </p:sp>
      <p:sp>
        <p:nvSpPr>
          <p:cNvPr id="12" name="Rounded Rectangle 11"/>
          <p:cNvSpPr/>
          <p:nvPr/>
        </p:nvSpPr>
        <p:spPr>
          <a:xfrm>
            <a:off x="548640" y="5138927"/>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5138927"/>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  What did someone promise you?</a:t>
            </a:r>
          </a:p>
        </p:txBody>
      </p:sp>
      <p:sp>
        <p:nvSpPr>
          <p:cNvPr id="14" name="Rounded Rectangle 1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Speak without looking at your notes.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04</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VOCABULARY — Reporting Verbs (1/2)</a:t>
            </a:r>
          </a:p>
        </p:txBody>
      </p:sp>
      <p:sp>
        <p:nvSpPr>
          <p:cNvPr id="4" name="Rounded Rectangle 3"/>
          <p:cNvSpPr/>
          <p:nvPr/>
        </p:nvSpPr>
        <p:spPr>
          <a:xfrm>
            <a:off x="548640" y="150876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8191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say</a:t>
            </a:r>
          </a:p>
        </p:txBody>
      </p:sp>
      <p:sp>
        <p:nvSpPr>
          <p:cNvPr id="6" name="TextBox 5"/>
          <p:cNvSpPr txBox="1"/>
          <p:nvPr/>
        </p:nvSpPr>
        <p:spPr>
          <a:xfrm>
            <a:off x="4389120" y="158191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decir</a:t>
            </a:r>
          </a:p>
        </p:txBody>
      </p:sp>
      <p:sp>
        <p:nvSpPr>
          <p:cNvPr id="7" name="Rounded Rectangle 6"/>
          <p:cNvSpPr/>
          <p:nvPr/>
        </p:nvSpPr>
        <p:spPr>
          <a:xfrm>
            <a:off x="6858000" y="158191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58191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9" name="TextBox 8"/>
          <p:cNvSpPr txBox="1"/>
          <p:nvPr/>
        </p:nvSpPr>
        <p:spPr>
          <a:xfrm>
            <a:off x="822959" y="196596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say something  + say that</a:t>
            </a:r>
          </a:p>
        </p:txBody>
      </p:sp>
      <p:sp>
        <p:nvSpPr>
          <p:cNvPr id="10" name="TextBox 9"/>
          <p:cNvSpPr txBox="1"/>
          <p:nvPr/>
        </p:nvSpPr>
        <p:spPr>
          <a:xfrm>
            <a:off x="822959" y="225856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"She said she was tired."</a:t>
            </a:r>
          </a:p>
        </p:txBody>
      </p:sp>
      <p:sp>
        <p:nvSpPr>
          <p:cNvPr id="11" name="TextBox 10"/>
          <p:cNvSpPr txBox="1"/>
          <p:nvPr/>
        </p:nvSpPr>
        <p:spPr>
          <a:xfrm>
            <a:off x="822959" y="251460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'she said me'</a:t>
            </a:r>
          </a:p>
        </p:txBody>
      </p:sp>
      <p:sp>
        <p:nvSpPr>
          <p:cNvPr id="12" name="Rounded Rectangle 11"/>
          <p:cNvSpPr/>
          <p:nvPr/>
        </p:nvSpPr>
        <p:spPr>
          <a:xfrm>
            <a:off x="548640" y="292608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9923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tell</a:t>
            </a:r>
          </a:p>
        </p:txBody>
      </p:sp>
      <p:sp>
        <p:nvSpPr>
          <p:cNvPr id="14" name="TextBox 13"/>
          <p:cNvSpPr txBox="1"/>
          <p:nvPr/>
        </p:nvSpPr>
        <p:spPr>
          <a:xfrm>
            <a:off x="4389120" y="299923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decir a alguien</a:t>
            </a:r>
          </a:p>
        </p:txBody>
      </p:sp>
      <p:sp>
        <p:nvSpPr>
          <p:cNvPr id="15" name="Rounded Rectangle 14"/>
          <p:cNvSpPr/>
          <p:nvPr/>
        </p:nvSpPr>
        <p:spPr>
          <a:xfrm>
            <a:off x="6858000" y="299923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299923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17" name="TextBox 16"/>
          <p:cNvSpPr txBox="1"/>
          <p:nvPr/>
        </p:nvSpPr>
        <p:spPr>
          <a:xfrm>
            <a:off x="822959" y="338328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tell someone  + tell me that</a:t>
            </a:r>
          </a:p>
        </p:txBody>
      </p:sp>
      <p:sp>
        <p:nvSpPr>
          <p:cNvPr id="18" name="TextBox 17"/>
          <p:cNvSpPr txBox="1"/>
          <p:nvPr/>
        </p:nvSpPr>
        <p:spPr>
          <a:xfrm>
            <a:off x="822959" y="367588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"She told me she was tired."</a:t>
            </a:r>
          </a:p>
        </p:txBody>
      </p:sp>
      <p:sp>
        <p:nvSpPr>
          <p:cNvPr id="19" name="TextBox 18"/>
          <p:cNvSpPr txBox="1"/>
          <p:nvPr/>
        </p:nvSpPr>
        <p:spPr>
          <a:xfrm>
            <a:off x="822959" y="393192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'she told that' (needs a person)</a:t>
            </a:r>
          </a:p>
        </p:txBody>
      </p:sp>
      <p:sp>
        <p:nvSpPr>
          <p:cNvPr id="20" name="Rounded Rectangle 19"/>
          <p:cNvSpPr/>
          <p:nvPr/>
        </p:nvSpPr>
        <p:spPr>
          <a:xfrm>
            <a:off x="548640" y="434340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41655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ask</a:t>
            </a:r>
          </a:p>
        </p:txBody>
      </p:sp>
      <p:sp>
        <p:nvSpPr>
          <p:cNvPr id="22" name="TextBox 21"/>
          <p:cNvSpPr txBox="1"/>
          <p:nvPr/>
        </p:nvSpPr>
        <p:spPr>
          <a:xfrm>
            <a:off x="4389120" y="441655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preguntar</a:t>
            </a:r>
          </a:p>
        </p:txBody>
      </p:sp>
      <p:sp>
        <p:nvSpPr>
          <p:cNvPr id="23" name="Rounded Rectangle 22"/>
          <p:cNvSpPr/>
          <p:nvPr/>
        </p:nvSpPr>
        <p:spPr>
          <a:xfrm>
            <a:off x="6858000" y="441655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441655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25" name="TextBox 24"/>
          <p:cNvSpPr txBox="1"/>
          <p:nvPr/>
        </p:nvSpPr>
        <p:spPr>
          <a:xfrm>
            <a:off x="822959" y="480060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ask a question  + ask someone if</a:t>
            </a:r>
          </a:p>
        </p:txBody>
      </p:sp>
      <p:sp>
        <p:nvSpPr>
          <p:cNvPr id="26" name="TextBox 25"/>
          <p:cNvSpPr txBox="1"/>
          <p:nvPr/>
        </p:nvSpPr>
        <p:spPr>
          <a:xfrm>
            <a:off x="822959" y="509320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"He asked me if I was ready."</a:t>
            </a:r>
          </a:p>
        </p:txBody>
      </p:sp>
      <p:sp>
        <p:nvSpPr>
          <p:cNvPr id="27" name="TextBox 26"/>
          <p:cNvSpPr txBox="1"/>
          <p:nvPr/>
        </p:nvSpPr>
        <p:spPr>
          <a:xfrm>
            <a:off x="822959" y="534924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'ask to me'</a:t>
            </a:r>
          </a:p>
        </p:txBody>
      </p:sp>
      <p:sp>
        <p:nvSpPr>
          <p:cNvPr id="28" name="Rounded Rectangle 2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Read aloud. Practice collocations.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05</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VOCABULARY — Reporting Verbs (2/2)</a:t>
            </a:r>
          </a:p>
        </p:txBody>
      </p:sp>
      <p:sp>
        <p:nvSpPr>
          <p:cNvPr id="4" name="Rounded Rectangle 3"/>
          <p:cNvSpPr/>
          <p:nvPr/>
        </p:nvSpPr>
        <p:spPr>
          <a:xfrm>
            <a:off x="548640" y="150876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8191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answer</a:t>
            </a:r>
          </a:p>
        </p:txBody>
      </p:sp>
      <p:sp>
        <p:nvSpPr>
          <p:cNvPr id="6" name="TextBox 5"/>
          <p:cNvSpPr txBox="1"/>
          <p:nvPr/>
        </p:nvSpPr>
        <p:spPr>
          <a:xfrm>
            <a:off x="4389120" y="158191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responder</a:t>
            </a:r>
          </a:p>
        </p:txBody>
      </p:sp>
      <p:sp>
        <p:nvSpPr>
          <p:cNvPr id="7" name="Rounded Rectangle 6"/>
          <p:cNvSpPr/>
          <p:nvPr/>
        </p:nvSpPr>
        <p:spPr>
          <a:xfrm>
            <a:off x="6858000" y="1581912"/>
            <a:ext cx="1554480" cy="36576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58191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ESSENTIAL</a:t>
            </a:r>
          </a:p>
        </p:txBody>
      </p:sp>
      <p:sp>
        <p:nvSpPr>
          <p:cNvPr id="9" name="TextBox 8"/>
          <p:cNvSpPr txBox="1"/>
          <p:nvPr/>
        </p:nvSpPr>
        <p:spPr>
          <a:xfrm>
            <a:off x="822959" y="196596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answer a question  + answer the phone</a:t>
            </a:r>
          </a:p>
        </p:txBody>
      </p:sp>
      <p:sp>
        <p:nvSpPr>
          <p:cNvPr id="10" name="TextBox 9"/>
          <p:cNvSpPr txBox="1"/>
          <p:nvPr/>
        </p:nvSpPr>
        <p:spPr>
          <a:xfrm>
            <a:off x="822959" y="225856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"She answered that she was fine."</a:t>
            </a:r>
          </a:p>
        </p:txBody>
      </p:sp>
      <p:sp>
        <p:nvSpPr>
          <p:cNvPr id="11" name="TextBox 10"/>
          <p:cNvSpPr txBox="1"/>
          <p:nvPr/>
        </p:nvSpPr>
        <p:spPr>
          <a:xfrm>
            <a:off x="822959" y="251460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'answer to a question'</a:t>
            </a:r>
          </a:p>
        </p:txBody>
      </p:sp>
      <p:sp>
        <p:nvSpPr>
          <p:cNvPr id="12" name="Rounded Rectangle 11"/>
          <p:cNvSpPr/>
          <p:nvPr/>
        </p:nvSpPr>
        <p:spPr>
          <a:xfrm>
            <a:off x="548640" y="292608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99923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explain</a:t>
            </a:r>
          </a:p>
        </p:txBody>
      </p:sp>
      <p:sp>
        <p:nvSpPr>
          <p:cNvPr id="14" name="TextBox 13"/>
          <p:cNvSpPr txBox="1"/>
          <p:nvPr/>
        </p:nvSpPr>
        <p:spPr>
          <a:xfrm>
            <a:off x="4389120" y="299923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explicar</a:t>
            </a:r>
          </a:p>
        </p:txBody>
      </p:sp>
      <p:sp>
        <p:nvSpPr>
          <p:cNvPr id="15" name="Rounded Rectangle 14"/>
          <p:cNvSpPr/>
          <p:nvPr/>
        </p:nvSpPr>
        <p:spPr>
          <a:xfrm>
            <a:off x="6858000" y="2999232"/>
            <a:ext cx="1554480" cy="36576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299923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IMPORTANT</a:t>
            </a:r>
          </a:p>
        </p:txBody>
      </p:sp>
      <p:sp>
        <p:nvSpPr>
          <p:cNvPr id="17" name="TextBox 16"/>
          <p:cNvSpPr txBox="1"/>
          <p:nvPr/>
        </p:nvSpPr>
        <p:spPr>
          <a:xfrm>
            <a:off x="822959" y="338328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explain something  + explain that</a:t>
            </a:r>
          </a:p>
        </p:txBody>
      </p:sp>
      <p:sp>
        <p:nvSpPr>
          <p:cNvPr id="18" name="TextBox 17"/>
          <p:cNvSpPr txBox="1"/>
          <p:nvPr/>
        </p:nvSpPr>
        <p:spPr>
          <a:xfrm>
            <a:off x="822959" y="367588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"He explained that he was late."</a:t>
            </a:r>
          </a:p>
        </p:txBody>
      </p:sp>
      <p:sp>
        <p:nvSpPr>
          <p:cNvPr id="19" name="TextBox 18"/>
          <p:cNvSpPr txBox="1"/>
          <p:nvPr/>
        </p:nvSpPr>
        <p:spPr>
          <a:xfrm>
            <a:off x="822959" y="393192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'explain me that' (use 'explain to me')</a:t>
            </a:r>
          </a:p>
        </p:txBody>
      </p:sp>
      <p:sp>
        <p:nvSpPr>
          <p:cNvPr id="20" name="Rounded Rectangle 19"/>
          <p:cNvSpPr/>
          <p:nvPr/>
        </p:nvSpPr>
        <p:spPr>
          <a:xfrm>
            <a:off x="548640" y="4343400"/>
            <a:ext cx="8046720" cy="13258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4416552"/>
            <a:ext cx="3657600" cy="365760"/>
          </a:xfrm>
          <a:prstGeom prst="rect">
            <a:avLst/>
          </a:prstGeom>
          <a:noFill/>
        </p:spPr>
        <p:txBody>
          <a:bodyPr wrap="square" anchor="ctr">
            <a:spAutoFit/>
          </a:bodyPr>
          <a:lstStyle/>
          <a:p>
            <a:pPr algn="l">
              <a:lnSpc>
                <a:spcPct val="100000"/>
              </a:lnSpc>
            </a:pPr>
            <a:r>
              <a:rPr sz="2000" b="1" i="0">
                <a:solidFill>
                  <a:srgbClr val="3D1F5C"/>
                </a:solidFill>
                <a:latin typeface="Arial"/>
              </a:rPr>
              <a:t>promise</a:t>
            </a:r>
          </a:p>
        </p:txBody>
      </p:sp>
      <p:sp>
        <p:nvSpPr>
          <p:cNvPr id="22" name="TextBox 21"/>
          <p:cNvSpPr txBox="1"/>
          <p:nvPr/>
        </p:nvSpPr>
        <p:spPr>
          <a:xfrm>
            <a:off x="4389120" y="4416552"/>
            <a:ext cx="2743200" cy="365760"/>
          </a:xfrm>
          <a:prstGeom prst="rect">
            <a:avLst/>
          </a:prstGeom>
          <a:noFill/>
        </p:spPr>
        <p:txBody>
          <a:bodyPr wrap="square" anchor="ctr">
            <a:spAutoFit/>
          </a:bodyPr>
          <a:lstStyle/>
          <a:p>
            <a:pPr algn="l">
              <a:lnSpc>
                <a:spcPct val="100000"/>
              </a:lnSpc>
            </a:pPr>
            <a:r>
              <a:rPr sz="1800" b="0" i="0">
                <a:solidFill>
                  <a:srgbClr val="009B9B"/>
                </a:solidFill>
                <a:latin typeface="Arial"/>
              </a:rPr>
              <a:t>— prometer</a:t>
            </a:r>
          </a:p>
        </p:txBody>
      </p:sp>
      <p:sp>
        <p:nvSpPr>
          <p:cNvPr id="23" name="Rounded Rectangle 22"/>
          <p:cNvSpPr/>
          <p:nvPr/>
        </p:nvSpPr>
        <p:spPr>
          <a:xfrm>
            <a:off x="6858000" y="4416552"/>
            <a:ext cx="1554480" cy="36576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4416552"/>
            <a:ext cx="1554480" cy="365760"/>
          </a:xfrm>
          <a:prstGeom prst="rect">
            <a:avLst/>
          </a:prstGeom>
          <a:noFill/>
        </p:spPr>
        <p:txBody>
          <a:bodyPr wrap="square" anchor="ctr">
            <a:spAutoFit/>
          </a:bodyPr>
          <a:lstStyle/>
          <a:p>
            <a:pPr algn="ctr">
              <a:lnSpc>
                <a:spcPct val="100000"/>
              </a:lnSpc>
            </a:pPr>
            <a:r>
              <a:rPr sz="1100" b="1" i="0">
                <a:solidFill>
                  <a:srgbClr val="FFFFFF"/>
                </a:solidFill>
                <a:latin typeface="Arial"/>
              </a:rPr>
              <a:t>IMPORTANT</a:t>
            </a:r>
          </a:p>
        </p:txBody>
      </p:sp>
      <p:sp>
        <p:nvSpPr>
          <p:cNvPr id="25" name="TextBox 24"/>
          <p:cNvSpPr txBox="1"/>
          <p:nvPr/>
        </p:nvSpPr>
        <p:spPr>
          <a:xfrm>
            <a:off x="822959" y="4800600"/>
            <a:ext cx="7589520" cy="274320"/>
          </a:xfrm>
          <a:prstGeom prst="rect">
            <a:avLst/>
          </a:prstGeom>
          <a:noFill/>
        </p:spPr>
        <p:txBody>
          <a:bodyPr wrap="square" anchor="ctr">
            <a:spAutoFit/>
          </a:bodyPr>
          <a:lstStyle/>
          <a:p>
            <a:pPr algn="l">
              <a:lnSpc>
                <a:spcPct val="100000"/>
              </a:lnSpc>
            </a:pPr>
            <a:r>
              <a:rPr sz="1300" b="0" i="0">
                <a:solidFill>
                  <a:srgbClr val="666666"/>
                </a:solidFill>
                <a:latin typeface="Arial"/>
              </a:rPr>
              <a:t>+ promise to do  + promise that</a:t>
            </a:r>
          </a:p>
        </p:txBody>
      </p:sp>
      <p:sp>
        <p:nvSpPr>
          <p:cNvPr id="26" name="TextBox 25"/>
          <p:cNvSpPr txBox="1"/>
          <p:nvPr/>
        </p:nvSpPr>
        <p:spPr>
          <a:xfrm>
            <a:off x="822959" y="5093208"/>
            <a:ext cx="7589520" cy="274320"/>
          </a:xfrm>
          <a:prstGeom prst="rect">
            <a:avLst/>
          </a:prstGeom>
          <a:noFill/>
        </p:spPr>
        <p:txBody>
          <a:bodyPr wrap="square" anchor="ctr">
            <a:spAutoFit/>
          </a:bodyPr>
          <a:lstStyle/>
          <a:p>
            <a:pPr algn="l">
              <a:lnSpc>
                <a:spcPct val="100000"/>
              </a:lnSpc>
            </a:pPr>
            <a:r>
              <a:rPr sz="1400" b="0" i="1">
                <a:solidFill>
                  <a:srgbClr val="000000"/>
                </a:solidFill>
                <a:latin typeface="Arial"/>
              </a:rPr>
              <a:t>  "She promised she would call me."</a:t>
            </a:r>
          </a:p>
        </p:txBody>
      </p:sp>
      <p:sp>
        <p:nvSpPr>
          <p:cNvPr id="27" name="TextBox 26"/>
          <p:cNvSpPr txBox="1"/>
          <p:nvPr/>
        </p:nvSpPr>
        <p:spPr>
          <a:xfrm>
            <a:off x="822959" y="5349240"/>
            <a:ext cx="7589520" cy="256032"/>
          </a:xfrm>
          <a:prstGeom prst="rect">
            <a:avLst/>
          </a:prstGeom>
          <a:noFill/>
        </p:spPr>
        <p:txBody>
          <a:bodyPr wrap="square" anchor="ctr">
            <a:spAutoFit/>
          </a:bodyPr>
          <a:lstStyle/>
          <a:p>
            <a:pPr algn="l">
              <a:lnSpc>
                <a:spcPct val="100000"/>
              </a:lnSpc>
            </a:pPr>
            <a:r>
              <a:rPr sz="1300" b="1" i="0">
                <a:solidFill>
                  <a:srgbClr val="C62828"/>
                </a:solidFill>
                <a:latin typeface="Arial"/>
              </a:rPr>
              <a:t>  NOT 'promise me that I will'</a:t>
            </a:r>
          </a:p>
        </p:txBody>
      </p:sp>
      <p:sp>
        <p:nvSpPr>
          <p:cNvPr id="28" name="Rounded Rectangle 2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Read aloud. Practice collocations.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06</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  COMMON MISTAKES — Avoid these!</a:t>
            </a:r>
          </a:p>
        </p:txBody>
      </p:sp>
      <p:sp>
        <p:nvSpPr>
          <p:cNvPr id="4" name="Rounded Rectangle 3"/>
          <p:cNvSpPr/>
          <p:nvPr/>
        </p:nvSpPr>
        <p:spPr>
          <a:xfrm>
            <a:off x="548640" y="1508760"/>
            <a:ext cx="8046720" cy="100583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7680960" cy="320040"/>
          </a:xfrm>
          <a:prstGeom prst="rect">
            <a:avLst/>
          </a:prstGeom>
          <a:noFill/>
        </p:spPr>
        <p:txBody>
          <a:bodyPr wrap="square" anchor="ctr">
            <a:spAutoFit/>
          </a:bodyPr>
          <a:lstStyle/>
          <a:p>
            <a:pPr algn="l">
              <a:lnSpc>
                <a:spcPct val="100000"/>
              </a:lnSpc>
            </a:pPr>
            <a:r>
              <a:rPr sz="1700" b="1" i="0">
                <a:solidFill>
                  <a:srgbClr val="C62828"/>
                </a:solidFill>
                <a:latin typeface="Arial"/>
              </a:rPr>
              <a:t>❌  She said me she was tired.</a:t>
            </a:r>
          </a:p>
        </p:txBody>
      </p:sp>
      <p:sp>
        <p:nvSpPr>
          <p:cNvPr id="6" name="TextBox 5"/>
          <p:cNvSpPr txBox="1"/>
          <p:nvPr/>
        </p:nvSpPr>
        <p:spPr>
          <a:xfrm>
            <a:off x="731520" y="1892808"/>
            <a:ext cx="7680960" cy="320040"/>
          </a:xfrm>
          <a:prstGeom prst="rect">
            <a:avLst/>
          </a:prstGeom>
          <a:noFill/>
        </p:spPr>
        <p:txBody>
          <a:bodyPr wrap="square" anchor="ctr">
            <a:spAutoFit/>
          </a:bodyPr>
          <a:lstStyle/>
          <a:p>
            <a:pPr algn="l">
              <a:lnSpc>
                <a:spcPct val="100000"/>
              </a:lnSpc>
            </a:pPr>
            <a:r>
              <a:rPr sz="1700" b="1" i="0">
                <a:solidFill>
                  <a:srgbClr val="2E7D32"/>
                </a:solidFill>
                <a:latin typeface="Arial"/>
              </a:rPr>
              <a:t>✓   She told me she was tired.</a:t>
            </a:r>
          </a:p>
        </p:txBody>
      </p:sp>
      <p:sp>
        <p:nvSpPr>
          <p:cNvPr id="7" name="TextBox 6"/>
          <p:cNvSpPr txBox="1"/>
          <p:nvPr/>
        </p:nvSpPr>
        <p:spPr>
          <a:xfrm>
            <a:off x="731520" y="2231136"/>
            <a:ext cx="7680960" cy="274320"/>
          </a:xfrm>
          <a:prstGeom prst="rect">
            <a:avLst/>
          </a:prstGeom>
          <a:noFill/>
        </p:spPr>
        <p:txBody>
          <a:bodyPr wrap="square" anchor="ctr">
            <a:spAutoFit/>
          </a:bodyPr>
          <a:lstStyle/>
          <a:p>
            <a:pPr algn="l">
              <a:lnSpc>
                <a:spcPct val="100000"/>
              </a:lnSpc>
            </a:pPr>
            <a:r>
              <a:rPr sz="1300" b="0" i="1">
                <a:solidFill>
                  <a:srgbClr val="666666"/>
                </a:solidFill>
                <a:latin typeface="Arial"/>
              </a:rPr>
              <a:t>      'Say' no lleva persona. 'Tell' sí: tell someone.</a:t>
            </a:r>
          </a:p>
        </p:txBody>
      </p:sp>
      <p:sp>
        <p:nvSpPr>
          <p:cNvPr id="8" name="Rounded Rectangle 7"/>
          <p:cNvSpPr/>
          <p:nvPr/>
        </p:nvSpPr>
        <p:spPr>
          <a:xfrm>
            <a:off x="548640" y="2606040"/>
            <a:ext cx="8046720" cy="100583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51760"/>
            <a:ext cx="7680960" cy="320040"/>
          </a:xfrm>
          <a:prstGeom prst="rect">
            <a:avLst/>
          </a:prstGeom>
          <a:noFill/>
        </p:spPr>
        <p:txBody>
          <a:bodyPr wrap="square" anchor="ctr">
            <a:spAutoFit/>
          </a:bodyPr>
          <a:lstStyle/>
          <a:p>
            <a:pPr algn="l">
              <a:lnSpc>
                <a:spcPct val="100000"/>
              </a:lnSpc>
            </a:pPr>
            <a:r>
              <a:rPr sz="1700" b="1" i="0">
                <a:solidFill>
                  <a:srgbClr val="C62828"/>
                </a:solidFill>
                <a:latin typeface="Arial"/>
              </a:rPr>
              <a:t>❌  He told that he was happy.</a:t>
            </a:r>
          </a:p>
        </p:txBody>
      </p:sp>
      <p:sp>
        <p:nvSpPr>
          <p:cNvPr id="10" name="TextBox 9"/>
          <p:cNvSpPr txBox="1"/>
          <p:nvPr/>
        </p:nvSpPr>
        <p:spPr>
          <a:xfrm>
            <a:off x="731520" y="2990088"/>
            <a:ext cx="7680960" cy="320040"/>
          </a:xfrm>
          <a:prstGeom prst="rect">
            <a:avLst/>
          </a:prstGeom>
          <a:noFill/>
        </p:spPr>
        <p:txBody>
          <a:bodyPr wrap="square" anchor="ctr">
            <a:spAutoFit/>
          </a:bodyPr>
          <a:lstStyle/>
          <a:p>
            <a:pPr algn="l">
              <a:lnSpc>
                <a:spcPct val="100000"/>
              </a:lnSpc>
            </a:pPr>
            <a:r>
              <a:rPr sz="1700" b="1" i="0">
                <a:solidFill>
                  <a:srgbClr val="2E7D32"/>
                </a:solidFill>
                <a:latin typeface="Arial"/>
              </a:rPr>
              <a:t>✓   He told me that he was happy.</a:t>
            </a:r>
          </a:p>
        </p:txBody>
      </p:sp>
      <p:sp>
        <p:nvSpPr>
          <p:cNvPr id="11" name="TextBox 10"/>
          <p:cNvSpPr txBox="1"/>
          <p:nvPr/>
        </p:nvSpPr>
        <p:spPr>
          <a:xfrm>
            <a:off x="731520" y="3328416"/>
            <a:ext cx="7680960" cy="274320"/>
          </a:xfrm>
          <a:prstGeom prst="rect">
            <a:avLst/>
          </a:prstGeom>
          <a:noFill/>
        </p:spPr>
        <p:txBody>
          <a:bodyPr wrap="square" anchor="ctr">
            <a:spAutoFit/>
          </a:bodyPr>
          <a:lstStyle/>
          <a:p>
            <a:pPr algn="l">
              <a:lnSpc>
                <a:spcPct val="100000"/>
              </a:lnSpc>
            </a:pPr>
            <a:r>
              <a:rPr sz="1300" b="0" i="1">
                <a:solidFill>
                  <a:srgbClr val="666666"/>
                </a:solidFill>
                <a:latin typeface="Arial"/>
              </a:rPr>
              <a:t>      'Tell' siempre necesita persona: tell ME, tell HER.</a:t>
            </a:r>
          </a:p>
        </p:txBody>
      </p:sp>
      <p:sp>
        <p:nvSpPr>
          <p:cNvPr id="12" name="Rounded Rectangle 11"/>
          <p:cNvSpPr/>
          <p:nvPr/>
        </p:nvSpPr>
        <p:spPr>
          <a:xfrm>
            <a:off x="548640" y="3703320"/>
            <a:ext cx="8046720" cy="100583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749039"/>
            <a:ext cx="7680960" cy="320040"/>
          </a:xfrm>
          <a:prstGeom prst="rect">
            <a:avLst/>
          </a:prstGeom>
          <a:noFill/>
        </p:spPr>
        <p:txBody>
          <a:bodyPr wrap="square" anchor="ctr">
            <a:spAutoFit/>
          </a:bodyPr>
          <a:lstStyle/>
          <a:p>
            <a:pPr algn="l">
              <a:lnSpc>
                <a:spcPct val="100000"/>
              </a:lnSpc>
            </a:pPr>
            <a:r>
              <a:rPr sz="1700" b="1" i="0">
                <a:solidFill>
                  <a:srgbClr val="C62828"/>
                </a:solidFill>
                <a:latin typeface="Arial"/>
              </a:rPr>
              <a:t>❌  She said she is tired.</a:t>
            </a:r>
          </a:p>
        </p:txBody>
      </p:sp>
      <p:sp>
        <p:nvSpPr>
          <p:cNvPr id="14" name="TextBox 13"/>
          <p:cNvSpPr txBox="1"/>
          <p:nvPr/>
        </p:nvSpPr>
        <p:spPr>
          <a:xfrm>
            <a:off x="731520" y="4087368"/>
            <a:ext cx="7680960" cy="320040"/>
          </a:xfrm>
          <a:prstGeom prst="rect">
            <a:avLst/>
          </a:prstGeom>
          <a:noFill/>
        </p:spPr>
        <p:txBody>
          <a:bodyPr wrap="square" anchor="ctr">
            <a:spAutoFit/>
          </a:bodyPr>
          <a:lstStyle/>
          <a:p>
            <a:pPr algn="l">
              <a:lnSpc>
                <a:spcPct val="100000"/>
              </a:lnSpc>
            </a:pPr>
            <a:r>
              <a:rPr sz="1700" b="1" i="0">
                <a:solidFill>
                  <a:srgbClr val="2E7D32"/>
                </a:solidFill>
                <a:latin typeface="Arial"/>
              </a:rPr>
              <a:t>✓   She said she was tired.</a:t>
            </a:r>
          </a:p>
        </p:txBody>
      </p:sp>
      <p:sp>
        <p:nvSpPr>
          <p:cNvPr id="15" name="TextBox 14"/>
          <p:cNvSpPr txBox="1"/>
          <p:nvPr/>
        </p:nvSpPr>
        <p:spPr>
          <a:xfrm>
            <a:off x="731520" y="4425696"/>
            <a:ext cx="7680960" cy="274320"/>
          </a:xfrm>
          <a:prstGeom prst="rect">
            <a:avLst/>
          </a:prstGeom>
          <a:noFill/>
        </p:spPr>
        <p:txBody>
          <a:bodyPr wrap="square" anchor="ctr">
            <a:spAutoFit/>
          </a:bodyPr>
          <a:lstStyle/>
          <a:p>
            <a:pPr algn="l">
              <a:lnSpc>
                <a:spcPct val="100000"/>
              </a:lnSpc>
            </a:pPr>
            <a:r>
              <a:rPr sz="1300" b="0" i="1">
                <a:solidFill>
                  <a:srgbClr val="666666"/>
                </a:solidFill>
                <a:latin typeface="Arial"/>
              </a:rPr>
              <a:t>      En reported speech hay backshift: is → was.</a:t>
            </a:r>
          </a:p>
        </p:txBody>
      </p:sp>
      <p:sp>
        <p:nvSpPr>
          <p:cNvPr id="16" name="Rounded Rectangle 15"/>
          <p:cNvSpPr/>
          <p:nvPr/>
        </p:nvSpPr>
        <p:spPr>
          <a:xfrm>
            <a:off x="548640" y="4800600"/>
            <a:ext cx="8046720" cy="100583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46320"/>
            <a:ext cx="7680960" cy="320040"/>
          </a:xfrm>
          <a:prstGeom prst="rect">
            <a:avLst/>
          </a:prstGeom>
          <a:noFill/>
        </p:spPr>
        <p:txBody>
          <a:bodyPr wrap="square" anchor="ctr">
            <a:spAutoFit/>
          </a:bodyPr>
          <a:lstStyle/>
          <a:p>
            <a:pPr algn="l">
              <a:lnSpc>
                <a:spcPct val="100000"/>
              </a:lnSpc>
            </a:pPr>
            <a:r>
              <a:rPr sz="1700" b="1" i="0">
                <a:solidFill>
                  <a:srgbClr val="C62828"/>
                </a:solidFill>
                <a:latin typeface="Arial"/>
              </a:rPr>
              <a:t>❌  She asked me that I was ready.</a:t>
            </a:r>
          </a:p>
        </p:txBody>
      </p:sp>
      <p:sp>
        <p:nvSpPr>
          <p:cNvPr id="18" name="TextBox 17"/>
          <p:cNvSpPr txBox="1"/>
          <p:nvPr/>
        </p:nvSpPr>
        <p:spPr>
          <a:xfrm>
            <a:off x="731520" y="5184648"/>
            <a:ext cx="7680960" cy="320040"/>
          </a:xfrm>
          <a:prstGeom prst="rect">
            <a:avLst/>
          </a:prstGeom>
          <a:noFill/>
        </p:spPr>
        <p:txBody>
          <a:bodyPr wrap="square" anchor="ctr">
            <a:spAutoFit/>
          </a:bodyPr>
          <a:lstStyle/>
          <a:p>
            <a:pPr algn="l">
              <a:lnSpc>
                <a:spcPct val="100000"/>
              </a:lnSpc>
            </a:pPr>
            <a:r>
              <a:rPr sz="1700" b="1" i="0">
                <a:solidFill>
                  <a:srgbClr val="2E7D32"/>
                </a:solidFill>
                <a:latin typeface="Arial"/>
              </a:rPr>
              <a:t>✓   She asked me if I was ready.</a:t>
            </a:r>
          </a:p>
        </p:txBody>
      </p:sp>
      <p:sp>
        <p:nvSpPr>
          <p:cNvPr id="19" name="TextBox 18"/>
          <p:cNvSpPr txBox="1"/>
          <p:nvPr/>
        </p:nvSpPr>
        <p:spPr>
          <a:xfrm>
            <a:off x="731520" y="5522976"/>
            <a:ext cx="7680960" cy="274320"/>
          </a:xfrm>
          <a:prstGeom prst="rect">
            <a:avLst/>
          </a:prstGeom>
          <a:noFill/>
        </p:spPr>
        <p:txBody>
          <a:bodyPr wrap="square" anchor="ctr">
            <a:spAutoFit/>
          </a:bodyPr>
          <a:lstStyle/>
          <a:p>
            <a:pPr algn="l">
              <a:lnSpc>
                <a:spcPct val="100000"/>
              </a:lnSpc>
            </a:pPr>
            <a:r>
              <a:rPr sz="1300" b="0" i="1">
                <a:solidFill>
                  <a:srgbClr val="666666"/>
                </a:solidFill>
                <a:latin typeface="Arial"/>
              </a:rPr>
              <a:t>      Preguntas reportadas usan 'if' o 'whether'.</a:t>
            </a:r>
          </a:p>
        </p:txBody>
      </p:sp>
      <p:sp>
        <p:nvSpPr>
          <p:cNvPr id="20" name="Rounded Rectangle 19"/>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Repeat after me. Don't make these mistakes!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07</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EXPRESSIONS &amp; YOUR TURN</a:t>
            </a:r>
          </a:p>
        </p:txBody>
      </p:sp>
      <p:sp>
        <p:nvSpPr>
          <p:cNvPr id="4" name="Rounded Rectangle 3"/>
          <p:cNvSpPr/>
          <p:nvPr/>
        </p:nvSpPr>
        <p:spPr>
          <a:xfrm>
            <a:off x="548640" y="1508760"/>
            <a:ext cx="8046720" cy="228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81912"/>
            <a:ext cx="7680960" cy="320040"/>
          </a:xfrm>
          <a:prstGeom prst="rect">
            <a:avLst/>
          </a:prstGeom>
          <a:noFill/>
        </p:spPr>
        <p:txBody>
          <a:bodyPr wrap="square" anchor="t">
            <a:spAutoFit/>
          </a:bodyPr>
          <a:lstStyle/>
          <a:p>
            <a:pPr algn="l">
              <a:lnSpc>
                <a:spcPct val="100000"/>
              </a:lnSpc>
            </a:pPr>
            <a:r>
              <a:rPr sz="1800" b="1" i="0">
                <a:solidFill>
                  <a:srgbClr val="FF6B35"/>
                </a:solidFill>
                <a:latin typeface="Arial"/>
              </a:rPr>
              <a:t>EXPRESSIONS</a:t>
            </a:r>
          </a:p>
        </p:txBody>
      </p:sp>
      <p:sp>
        <p:nvSpPr>
          <p:cNvPr id="6" name="TextBox 5"/>
          <p:cNvSpPr txBox="1"/>
          <p:nvPr/>
        </p:nvSpPr>
        <p:spPr>
          <a:xfrm>
            <a:off x="822959" y="1965960"/>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She said she was tired.</a:t>
            </a:r>
          </a:p>
        </p:txBody>
      </p:sp>
      <p:sp>
        <p:nvSpPr>
          <p:cNvPr id="7" name="TextBox 6"/>
          <p:cNvSpPr txBox="1"/>
          <p:nvPr/>
        </p:nvSpPr>
        <p:spPr>
          <a:xfrm>
            <a:off x="822959" y="2313432"/>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He told me he would come.</a:t>
            </a:r>
          </a:p>
        </p:txBody>
      </p:sp>
      <p:sp>
        <p:nvSpPr>
          <p:cNvPr id="8" name="TextBox 7"/>
          <p:cNvSpPr txBox="1"/>
          <p:nvPr/>
        </p:nvSpPr>
        <p:spPr>
          <a:xfrm>
            <a:off x="822959" y="2660903"/>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She asked me if I was ready.</a:t>
            </a:r>
          </a:p>
        </p:txBody>
      </p:sp>
      <p:sp>
        <p:nvSpPr>
          <p:cNvPr id="9" name="TextBox 8"/>
          <p:cNvSpPr txBox="1"/>
          <p:nvPr/>
        </p:nvSpPr>
        <p:spPr>
          <a:xfrm>
            <a:off x="822959" y="3008375"/>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I told her not to worry.</a:t>
            </a:r>
          </a:p>
        </p:txBody>
      </p:sp>
      <p:sp>
        <p:nvSpPr>
          <p:cNvPr id="10" name="TextBox 9"/>
          <p:cNvSpPr txBox="1"/>
          <p:nvPr/>
        </p:nvSpPr>
        <p:spPr>
          <a:xfrm>
            <a:off x="822959" y="3355847"/>
            <a:ext cx="7589520" cy="320040"/>
          </a:xfrm>
          <a:prstGeom prst="rect">
            <a:avLst/>
          </a:prstGeom>
          <a:noFill/>
        </p:spPr>
        <p:txBody>
          <a:bodyPr wrap="square" anchor="ctr">
            <a:spAutoFit/>
          </a:bodyPr>
          <a:lstStyle/>
          <a:p>
            <a:pPr algn="l">
              <a:lnSpc>
                <a:spcPct val="100000"/>
              </a:lnSpc>
            </a:pPr>
            <a:r>
              <a:rPr sz="1800" b="0" i="0">
                <a:solidFill>
                  <a:srgbClr val="000000"/>
                </a:solidFill>
                <a:latin typeface="Arial"/>
              </a:rPr>
              <a:t>▸  She promised she would call the next day.</a:t>
            </a:r>
          </a:p>
        </p:txBody>
      </p:sp>
      <p:sp>
        <p:nvSpPr>
          <p:cNvPr id="11" name="Rounded Rectangle 10"/>
          <p:cNvSpPr/>
          <p:nvPr/>
        </p:nvSpPr>
        <p:spPr>
          <a:xfrm>
            <a:off x="548640" y="3931920"/>
            <a:ext cx="8046720" cy="1828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005072"/>
            <a:ext cx="7680960" cy="320040"/>
          </a:xfrm>
          <a:prstGeom prst="rect">
            <a:avLst/>
          </a:prstGeom>
          <a:noFill/>
        </p:spPr>
        <p:txBody>
          <a:bodyPr wrap="square" anchor="t">
            <a:spAutoFit/>
          </a:bodyPr>
          <a:lstStyle/>
          <a:p>
            <a:pPr algn="l">
              <a:lnSpc>
                <a:spcPct val="100000"/>
              </a:lnSpc>
            </a:pPr>
            <a:r>
              <a:rPr sz="1800" b="1" i="0">
                <a:solidFill>
                  <a:srgbClr val="FF6B35"/>
                </a:solidFill>
                <a:latin typeface="Arial"/>
              </a:rPr>
              <a:t>🎯  YOUR TURN</a:t>
            </a:r>
          </a:p>
        </p:txBody>
      </p:sp>
      <p:sp>
        <p:nvSpPr>
          <p:cNvPr id="13" name="TextBox 12"/>
          <p:cNvSpPr txBox="1"/>
          <p:nvPr/>
        </p:nvSpPr>
        <p:spPr>
          <a:xfrm>
            <a:off x="822959" y="4389120"/>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1.  She told me that    -&gt; ________________________</a:t>
            </a:r>
          </a:p>
        </p:txBody>
      </p:sp>
      <p:sp>
        <p:nvSpPr>
          <p:cNvPr id="14" name="TextBox 13"/>
          <p:cNvSpPr txBox="1"/>
          <p:nvPr/>
        </p:nvSpPr>
        <p:spPr>
          <a:xfrm>
            <a:off x="822959" y="4709159"/>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2.  He said that        -&gt; ________________________</a:t>
            </a:r>
          </a:p>
        </p:txBody>
      </p:sp>
      <p:sp>
        <p:nvSpPr>
          <p:cNvPr id="15" name="TextBox 14"/>
          <p:cNvSpPr txBox="1"/>
          <p:nvPr/>
        </p:nvSpPr>
        <p:spPr>
          <a:xfrm>
            <a:off x="822959" y="5029199"/>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3.  She asked me if ____.</a:t>
            </a:r>
          </a:p>
        </p:txBody>
      </p:sp>
      <p:sp>
        <p:nvSpPr>
          <p:cNvPr id="16" name="TextBox 15"/>
          <p:cNvSpPr txBox="1"/>
          <p:nvPr/>
        </p:nvSpPr>
        <p:spPr>
          <a:xfrm>
            <a:off x="822959" y="5349239"/>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4.  I told her to ____.</a:t>
            </a:r>
          </a:p>
        </p:txBody>
      </p:sp>
      <p:sp>
        <p:nvSpPr>
          <p:cNvPr id="17" name="TextBox 16"/>
          <p:cNvSpPr txBox="1"/>
          <p:nvPr/>
        </p:nvSpPr>
        <p:spPr>
          <a:xfrm>
            <a:off x="822959" y="5669279"/>
            <a:ext cx="7589520" cy="301752"/>
          </a:xfrm>
          <a:prstGeom prst="rect">
            <a:avLst/>
          </a:prstGeom>
          <a:noFill/>
        </p:spPr>
        <p:txBody>
          <a:bodyPr wrap="square" anchor="ctr">
            <a:spAutoFit/>
          </a:bodyPr>
          <a:lstStyle/>
          <a:p>
            <a:pPr algn="l">
              <a:lnSpc>
                <a:spcPct val="100000"/>
              </a:lnSpc>
            </a:pPr>
            <a:r>
              <a:rPr sz="1600" b="0" i="0">
                <a:solidFill>
                  <a:srgbClr val="000000"/>
                </a:solidFill>
                <a:latin typeface="Arial"/>
              </a:rPr>
              <a:t>5.  She promised that ____.</a:t>
            </a:r>
          </a:p>
        </p:txBody>
      </p:sp>
      <p:sp>
        <p:nvSpPr>
          <p:cNvPr id="18" name="Rounded Rectangle 1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Write your own sentences.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08</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Reported Speech</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FORMULA</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SUBJECT + SAID/TOLD + (THAT) + CHANGED SENTENCE</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Say + something. Tell + someone.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09</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Reported Speech</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EXAMPLES</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'I am tired.' -&gt; She said she was tired.</a:t>
            </a:r>
          </a:p>
          <a:p>
            <a:pPr algn="l">
              <a:lnSpc>
                <a:spcPct val="130000"/>
              </a:lnSpc>
            </a:pPr>
            <a:r>
              <a:rPr sz="2200" b="0" i="0">
                <a:solidFill>
                  <a:srgbClr val="000000"/>
                </a:solidFill>
                <a:latin typeface="Arial"/>
              </a:rPr>
              <a:t>'I like music.' -&gt; He said he liked music.</a:t>
            </a:r>
          </a:p>
          <a:p>
            <a:pPr algn="l">
              <a:lnSpc>
                <a:spcPct val="130000"/>
              </a:lnSpc>
            </a:pPr>
            <a:r>
              <a:rPr sz="2200" b="0" i="0">
                <a:solidFill>
                  <a:srgbClr val="000000"/>
                </a:solidFill>
                <a:latin typeface="Arial"/>
              </a:rPr>
              <a:t>'I will call you.' -&gt; She said she would call.</a:t>
            </a:r>
          </a:p>
          <a:p>
            <a:pPr algn="l">
              <a:lnSpc>
                <a:spcPct val="130000"/>
              </a:lnSpc>
            </a:pPr>
            <a:r>
              <a:rPr sz="2200" b="0" i="0">
                <a:solidFill>
                  <a:srgbClr val="000000"/>
                </a:solidFill>
                <a:latin typeface="Arial"/>
              </a:rPr>
              <a:t>'I can help.' -&gt; He said he could help.</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Say + something. Tell + someone.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10</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Reported Speech</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SAY vs TELL</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She said she was tired.</a:t>
            </a:r>
          </a:p>
          <a:p>
            <a:pPr algn="l">
              <a:lnSpc>
                <a:spcPct val="130000"/>
              </a:lnSpc>
            </a:pPr>
            <a:r>
              <a:rPr sz="2200" b="0" i="0">
                <a:solidFill>
                  <a:srgbClr val="000000"/>
                </a:solidFill>
                <a:latin typeface="Arial"/>
              </a:rPr>
              <a:t>She told ME she was tired.</a:t>
            </a:r>
          </a:p>
          <a:p>
            <a:pPr algn="l">
              <a:lnSpc>
                <a:spcPct val="130000"/>
              </a:lnSpc>
            </a:pPr>
            <a:r>
              <a:rPr sz="2200" b="0" i="0">
                <a:solidFill>
                  <a:srgbClr val="000000"/>
                </a:solidFill>
                <a:latin typeface="Arial"/>
              </a:rPr>
              <a:t>X She said me... | OK She told me...</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Say + something. Tell + someone.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11</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Reported Changes</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BACKSHIFT</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Present -&gt; Past</a:t>
            </a:r>
          </a:p>
          <a:p>
            <a:pPr algn="l">
              <a:lnSpc>
                <a:spcPct val="130000"/>
              </a:lnSpc>
            </a:pPr>
            <a:r>
              <a:rPr sz="2200" b="0" i="0">
                <a:solidFill>
                  <a:srgbClr val="000000"/>
                </a:solidFill>
                <a:latin typeface="Arial"/>
              </a:rPr>
              <a:t>PC -&gt; PC</a:t>
            </a:r>
          </a:p>
          <a:p>
            <a:pPr algn="l">
              <a:lnSpc>
                <a:spcPct val="130000"/>
              </a:lnSpc>
            </a:pPr>
            <a:r>
              <a:rPr sz="2200" b="0" i="0">
                <a:solidFill>
                  <a:srgbClr val="000000"/>
                </a:solidFill>
                <a:latin typeface="Arial"/>
              </a:rPr>
              <a:t>Past -&gt; Past Perfect</a:t>
            </a:r>
          </a:p>
          <a:p>
            <a:pPr algn="l">
              <a:lnSpc>
                <a:spcPct val="130000"/>
              </a:lnSpc>
            </a:pPr>
            <a:r>
              <a:rPr sz="2200" b="0" i="0">
                <a:solidFill>
                  <a:srgbClr val="000000"/>
                </a:solidFill>
                <a:latin typeface="Arial"/>
              </a:rPr>
              <a:t>Will -&gt; Would</a:t>
            </a:r>
          </a:p>
          <a:p>
            <a:pPr algn="l">
              <a:lnSpc>
                <a:spcPct val="130000"/>
              </a:lnSpc>
            </a:pPr>
            <a:r>
              <a:rPr sz="2200" b="0" i="0">
                <a:solidFill>
                  <a:srgbClr val="000000"/>
                </a:solidFill>
                <a:latin typeface="Arial"/>
              </a:rPr>
              <a:t>Can -&gt; Could</a:t>
            </a:r>
          </a:p>
          <a:p>
            <a:pPr algn="l">
              <a:lnSpc>
                <a:spcPct val="130000"/>
              </a:lnSpc>
            </a:pPr>
            <a:r>
              <a:rPr sz="2200" b="0" i="0">
                <a:solidFill>
                  <a:srgbClr val="000000"/>
                </a:solidFill>
                <a:latin typeface="Arial"/>
              </a:rPr>
              <a:t>Must -&gt; Had to</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Backshift the tense and change pronouns.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12</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Reported Changes</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PRONOUNS</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I -&gt; he/she</a:t>
            </a:r>
          </a:p>
          <a:p>
            <a:pPr algn="l">
              <a:lnSpc>
                <a:spcPct val="130000"/>
              </a:lnSpc>
            </a:pPr>
            <a:r>
              <a:rPr sz="2200" b="0" i="0">
                <a:solidFill>
                  <a:srgbClr val="000000"/>
                </a:solidFill>
                <a:latin typeface="Arial"/>
              </a:rPr>
              <a:t>my -&gt; his/her</a:t>
            </a:r>
          </a:p>
          <a:p>
            <a:pPr algn="l">
              <a:lnSpc>
                <a:spcPct val="130000"/>
              </a:lnSpc>
            </a:pPr>
            <a:r>
              <a:rPr sz="2200" b="0" i="0">
                <a:solidFill>
                  <a:srgbClr val="000000"/>
                </a:solidFill>
                <a:latin typeface="Arial"/>
              </a:rPr>
              <a:t>me -&gt; him/her</a:t>
            </a:r>
          </a:p>
          <a:p>
            <a:pPr algn="l">
              <a:lnSpc>
                <a:spcPct val="130000"/>
              </a:lnSpc>
            </a:pPr>
            <a:r>
              <a:rPr sz="2200" b="0" i="0">
                <a:solidFill>
                  <a:srgbClr val="000000"/>
                </a:solidFill>
                <a:latin typeface="Arial"/>
              </a:rPr>
              <a:t>we -&gt; they</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Backshift the tense and change pronouns.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13</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GRAMMAR — Reported Changes</a:t>
            </a:r>
          </a:p>
        </p:txBody>
      </p:sp>
      <p:sp>
        <p:nvSpPr>
          <p:cNvPr id="4" name="Rounded Rectangle 3"/>
          <p:cNvSpPr/>
          <p:nvPr/>
        </p:nvSpPr>
        <p:spPr>
          <a:xfrm>
            <a:off x="548640" y="1600200"/>
            <a:ext cx="8046720" cy="5029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2000" b="1" i="0">
                <a:solidFill>
                  <a:srgbClr val="FFFFFF"/>
                </a:solidFill>
                <a:latin typeface="Arial"/>
              </a:rPr>
              <a:t>TIME &amp; PLACE</a:t>
            </a:r>
          </a:p>
        </p:txBody>
      </p:sp>
      <p:sp>
        <p:nvSpPr>
          <p:cNvPr id="6" name="Rounded Rectangle 5"/>
          <p:cNvSpPr/>
          <p:nvPr/>
        </p:nvSpPr>
        <p:spPr>
          <a:xfrm>
            <a:off x="548640" y="2286000"/>
            <a:ext cx="8046720" cy="34747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23160"/>
            <a:ext cx="7498080" cy="3200400"/>
          </a:xfrm>
          <a:prstGeom prst="rect">
            <a:avLst/>
          </a:prstGeom>
          <a:noFill/>
        </p:spPr>
        <p:txBody>
          <a:bodyPr wrap="square" anchor="t">
            <a:spAutoFit/>
          </a:bodyPr>
          <a:lstStyle/>
          <a:p>
            <a:pPr algn="l">
              <a:lnSpc>
                <a:spcPct val="130000"/>
              </a:lnSpc>
            </a:pPr>
            <a:r>
              <a:rPr sz="2200" b="0" i="0">
                <a:solidFill>
                  <a:srgbClr val="000000"/>
                </a:solidFill>
                <a:latin typeface="Arial"/>
              </a:rPr>
              <a:t>now -&gt; then</a:t>
            </a:r>
          </a:p>
          <a:p>
            <a:pPr algn="l">
              <a:lnSpc>
                <a:spcPct val="130000"/>
              </a:lnSpc>
            </a:pPr>
            <a:r>
              <a:rPr sz="2200" b="0" i="0">
                <a:solidFill>
                  <a:srgbClr val="000000"/>
                </a:solidFill>
                <a:latin typeface="Arial"/>
              </a:rPr>
              <a:t>today -&gt; that day</a:t>
            </a:r>
          </a:p>
          <a:p>
            <a:pPr algn="l">
              <a:lnSpc>
                <a:spcPct val="130000"/>
              </a:lnSpc>
            </a:pPr>
            <a:r>
              <a:rPr sz="2200" b="0" i="0">
                <a:solidFill>
                  <a:srgbClr val="000000"/>
                </a:solidFill>
                <a:latin typeface="Arial"/>
              </a:rPr>
              <a:t>tomorrow -&gt; next day</a:t>
            </a:r>
          </a:p>
          <a:p>
            <a:pPr algn="l">
              <a:lnSpc>
                <a:spcPct val="130000"/>
              </a:lnSpc>
            </a:pPr>
            <a:r>
              <a:rPr sz="2200" b="0" i="0">
                <a:solidFill>
                  <a:srgbClr val="000000"/>
                </a:solidFill>
                <a:latin typeface="Arial"/>
              </a:rPr>
              <a:t>yesterday -&gt; day before</a:t>
            </a:r>
          </a:p>
          <a:p>
            <a:pPr algn="l">
              <a:lnSpc>
                <a:spcPct val="130000"/>
              </a:lnSpc>
            </a:pPr>
            <a:r>
              <a:rPr sz="2200" b="0" i="0">
                <a:solidFill>
                  <a:srgbClr val="000000"/>
                </a:solidFill>
                <a:latin typeface="Arial"/>
              </a:rPr>
              <a:t>here -&gt; there</a:t>
            </a:r>
          </a:p>
        </p:txBody>
      </p:sp>
      <p:sp>
        <p:nvSpPr>
          <p:cNvPr id="8" name="Rounded Rectangle 7"/>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Backshift the tense and change pronouns.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14</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SOUND — Intonation</a:t>
            </a:r>
          </a:p>
        </p:txBody>
      </p:sp>
      <p:sp>
        <p:nvSpPr>
          <p:cNvPr id="4" name="Rounded Rectangle 3"/>
          <p:cNvSpPr/>
          <p:nvPr/>
        </p:nvSpPr>
        <p:spPr>
          <a:xfrm>
            <a:off x="548640" y="1691640"/>
            <a:ext cx="8046720" cy="59435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691640"/>
            <a:ext cx="7498080" cy="594359"/>
          </a:xfrm>
          <a:prstGeom prst="rect">
            <a:avLst/>
          </a:prstGeom>
          <a:noFill/>
        </p:spPr>
        <p:txBody>
          <a:bodyPr wrap="square" anchor="ctr">
            <a:spAutoFit/>
          </a:bodyPr>
          <a:lstStyle/>
          <a:p>
            <a:pPr algn="l">
              <a:lnSpc>
                <a:spcPct val="100000"/>
              </a:lnSpc>
            </a:pPr>
            <a:r>
              <a:rPr sz="2000" b="0" i="0">
                <a:solidFill>
                  <a:srgbClr val="000000"/>
                </a:solidFill>
                <a:latin typeface="Arial"/>
              </a:rPr>
              <a:t>I live in Mexico. (falling)</a:t>
            </a:r>
          </a:p>
        </p:txBody>
      </p:sp>
      <p:sp>
        <p:nvSpPr>
          <p:cNvPr id="6" name="Rounded Rectangle 5"/>
          <p:cNvSpPr/>
          <p:nvPr/>
        </p:nvSpPr>
        <p:spPr>
          <a:xfrm>
            <a:off x="548640" y="2350008"/>
            <a:ext cx="8046720" cy="59435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350008"/>
            <a:ext cx="7498080" cy="594359"/>
          </a:xfrm>
          <a:prstGeom prst="rect">
            <a:avLst/>
          </a:prstGeom>
          <a:noFill/>
        </p:spPr>
        <p:txBody>
          <a:bodyPr wrap="square" anchor="ctr">
            <a:spAutoFit/>
          </a:bodyPr>
          <a:lstStyle/>
          <a:p>
            <a:pPr algn="l">
              <a:lnSpc>
                <a:spcPct val="100000"/>
              </a:lnSpc>
            </a:pPr>
            <a:r>
              <a:rPr sz="2000" b="0" i="0">
                <a:solidFill>
                  <a:srgbClr val="000000"/>
                </a:solidFill>
                <a:latin typeface="Arial"/>
              </a:rPr>
              <a:t>Do you live in Mexico? (rising)</a:t>
            </a:r>
          </a:p>
        </p:txBody>
      </p:sp>
      <p:sp>
        <p:nvSpPr>
          <p:cNvPr id="8" name="Rounded Rectangle 7"/>
          <p:cNvSpPr/>
          <p:nvPr/>
        </p:nvSpPr>
        <p:spPr>
          <a:xfrm>
            <a:off x="548640" y="3008376"/>
            <a:ext cx="8046720" cy="594359"/>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3008376"/>
            <a:ext cx="7498080" cy="594359"/>
          </a:xfrm>
          <a:prstGeom prst="rect">
            <a:avLst/>
          </a:prstGeom>
          <a:noFill/>
        </p:spPr>
        <p:txBody>
          <a:bodyPr wrap="square" anchor="ctr">
            <a:spAutoFit/>
          </a:bodyPr>
          <a:lstStyle/>
          <a:p>
            <a:pPr algn="l">
              <a:lnSpc>
                <a:spcPct val="100000"/>
              </a:lnSpc>
            </a:pPr>
            <a:r>
              <a:rPr sz="2000" b="0" i="0">
                <a:solidFill>
                  <a:srgbClr val="000000"/>
                </a:solidFill>
                <a:latin typeface="Arial"/>
              </a:rPr>
              <a:t>Where do you live? (falling)</a:t>
            </a:r>
          </a:p>
        </p:txBody>
      </p:sp>
      <p:sp>
        <p:nvSpPr>
          <p:cNvPr id="10" name="Rounded Rectangle 9"/>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Statements fall. Yes/no questions rise.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15</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PRONUNCIATION — Practice Intonation</a:t>
            </a:r>
          </a:p>
        </p:txBody>
      </p:sp>
      <p:sp>
        <p:nvSpPr>
          <p:cNvPr id="4" name="Rounded Rectangle 3"/>
          <p:cNvSpPr/>
          <p:nvPr/>
        </p:nvSpPr>
        <p:spPr>
          <a:xfrm>
            <a:off x="548640" y="160020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365760"/>
          </a:xfrm>
          <a:prstGeom prst="rect">
            <a:avLst/>
          </a:prstGeom>
          <a:noFill/>
        </p:spPr>
        <p:txBody>
          <a:bodyPr wrap="square" anchor="ctr">
            <a:spAutoFit/>
          </a:bodyPr>
          <a:lstStyle/>
          <a:p>
            <a:pPr algn="l">
              <a:lnSpc>
                <a:spcPct val="100000"/>
              </a:lnSpc>
            </a:pPr>
            <a:r>
              <a:rPr sz="2000" b="1" i="0">
                <a:solidFill>
                  <a:srgbClr val="3D1F5C"/>
                </a:solidFill>
                <a:latin typeface="Arial"/>
              </a:rPr>
              <a:t>I live in Mexico.</a:t>
            </a:r>
          </a:p>
        </p:txBody>
      </p:sp>
      <p:sp>
        <p:nvSpPr>
          <p:cNvPr id="6" name="TextBox 5"/>
          <p:cNvSpPr txBox="1"/>
          <p:nvPr/>
        </p:nvSpPr>
        <p:spPr>
          <a:xfrm>
            <a:off x="731520" y="2011680"/>
            <a:ext cx="7680960" cy="320040"/>
          </a:xfrm>
          <a:prstGeom prst="rect">
            <a:avLst/>
          </a:prstGeom>
          <a:noFill/>
        </p:spPr>
        <p:txBody>
          <a:bodyPr wrap="square" anchor="ctr">
            <a:spAutoFit/>
          </a:bodyPr>
          <a:lstStyle/>
          <a:p>
            <a:pPr algn="l">
              <a:lnSpc>
                <a:spcPct val="100000"/>
              </a:lnSpc>
            </a:pPr>
            <a:r>
              <a:rPr sz="1800" b="0" i="1">
                <a:solidFill>
                  <a:srgbClr val="009B9B"/>
                </a:solidFill>
                <a:latin typeface="Arial"/>
              </a:rPr>
              <a:t>fall</a:t>
            </a:r>
          </a:p>
        </p:txBody>
      </p:sp>
      <p:sp>
        <p:nvSpPr>
          <p:cNvPr id="7" name="Rounded Rectangle 6"/>
          <p:cNvSpPr/>
          <p:nvPr/>
        </p:nvSpPr>
        <p:spPr>
          <a:xfrm>
            <a:off x="548640" y="251460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560320"/>
            <a:ext cx="7680960" cy="365760"/>
          </a:xfrm>
          <a:prstGeom prst="rect">
            <a:avLst/>
          </a:prstGeom>
          <a:noFill/>
        </p:spPr>
        <p:txBody>
          <a:bodyPr wrap="square" anchor="ctr">
            <a:spAutoFit/>
          </a:bodyPr>
          <a:lstStyle/>
          <a:p>
            <a:pPr algn="l">
              <a:lnSpc>
                <a:spcPct val="100000"/>
              </a:lnSpc>
            </a:pPr>
            <a:r>
              <a:rPr sz="2000" b="1" i="0">
                <a:solidFill>
                  <a:srgbClr val="3D1F5C"/>
                </a:solidFill>
                <a:latin typeface="Arial"/>
              </a:rPr>
              <a:t>Do you live in Mexico?</a:t>
            </a:r>
          </a:p>
        </p:txBody>
      </p:sp>
      <p:sp>
        <p:nvSpPr>
          <p:cNvPr id="9" name="TextBox 8"/>
          <p:cNvSpPr txBox="1"/>
          <p:nvPr/>
        </p:nvSpPr>
        <p:spPr>
          <a:xfrm>
            <a:off x="731520" y="2926080"/>
            <a:ext cx="7680960" cy="320040"/>
          </a:xfrm>
          <a:prstGeom prst="rect">
            <a:avLst/>
          </a:prstGeom>
          <a:noFill/>
        </p:spPr>
        <p:txBody>
          <a:bodyPr wrap="square" anchor="ctr">
            <a:spAutoFit/>
          </a:bodyPr>
          <a:lstStyle/>
          <a:p>
            <a:pPr algn="l">
              <a:lnSpc>
                <a:spcPct val="100000"/>
              </a:lnSpc>
            </a:pPr>
            <a:r>
              <a:rPr sz="1800" b="0" i="1">
                <a:solidFill>
                  <a:srgbClr val="009B9B"/>
                </a:solidFill>
                <a:latin typeface="Arial"/>
              </a:rPr>
              <a:t>rise</a:t>
            </a:r>
          </a:p>
        </p:txBody>
      </p:sp>
      <p:sp>
        <p:nvSpPr>
          <p:cNvPr id="10" name="Rounded Rectangle 9"/>
          <p:cNvSpPr/>
          <p:nvPr/>
        </p:nvSpPr>
        <p:spPr>
          <a:xfrm>
            <a:off x="548640" y="342900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474720"/>
            <a:ext cx="7680960" cy="365760"/>
          </a:xfrm>
          <a:prstGeom prst="rect">
            <a:avLst/>
          </a:prstGeom>
          <a:noFill/>
        </p:spPr>
        <p:txBody>
          <a:bodyPr wrap="square" anchor="ctr">
            <a:spAutoFit/>
          </a:bodyPr>
          <a:lstStyle/>
          <a:p>
            <a:pPr algn="l">
              <a:lnSpc>
                <a:spcPct val="100000"/>
              </a:lnSpc>
            </a:pPr>
            <a:r>
              <a:rPr sz="2000" b="1" i="0">
                <a:solidFill>
                  <a:srgbClr val="3D1F5C"/>
                </a:solidFill>
                <a:latin typeface="Arial"/>
              </a:rPr>
              <a:t>Where do you live?</a:t>
            </a:r>
          </a:p>
        </p:txBody>
      </p:sp>
      <p:sp>
        <p:nvSpPr>
          <p:cNvPr id="12" name="TextBox 11"/>
          <p:cNvSpPr txBox="1"/>
          <p:nvPr/>
        </p:nvSpPr>
        <p:spPr>
          <a:xfrm>
            <a:off x="731520" y="3840480"/>
            <a:ext cx="7680960" cy="320040"/>
          </a:xfrm>
          <a:prstGeom prst="rect">
            <a:avLst/>
          </a:prstGeom>
          <a:noFill/>
        </p:spPr>
        <p:txBody>
          <a:bodyPr wrap="square" anchor="ctr">
            <a:spAutoFit/>
          </a:bodyPr>
          <a:lstStyle/>
          <a:p>
            <a:pPr algn="l">
              <a:lnSpc>
                <a:spcPct val="100000"/>
              </a:lnSpc>
            </a:pPr>
            <a:r>
              <a:rPr sz="1800" b="0" i="1">
                <a:solidFill>
                  <a:srgbClr val="009B9B"/>
                </a:solidFill>
                <a:latin typeface="Arial"/>
              </a:rPr>
              <a:t>fall</a:t>
            </a:r>
          </a:p>
        </p:txBody>
      </p:sp>
      <p:sp>
        <p:nvSpPr>
          <p:cNvPr id="13" name="Rounded Rectangle 12"/>
          <p:cNvSpPr/>
          <p:nvPr/>
        </p:nvSpPr>
        <p:spPr>
          <a:xfrm>
            <a:off x="548640" y="434340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389120"/>
            <a:ext cx="7680960" cy="365760"/>
          </a:xfrm>
          <a:prstGeom prst="rect">
            <a:avLst/>
          </a:prstGeom>
          <a:noFill/>
        </p:spPr>
        <p:txBody>
          <a:bodyPr wrap="square" anchor="ctr">
            <a:spAutoFit/>
          </a:bodyPr>
          <a:lstStyle/>
          <a:p>
            <a:pPr algn="l">
              <a:lnSpc>
                <a:spcPct val="100000"/>
              </a:lnSpc>
            </a:pPr>
            <a:r>
              <a:rPr sz="2000" b="1" i="0">
                <a:solidFill>
                  <a:srgbClr val="3D1F5C"/>
                </a:solidFill>
                <a:latin typeface="Arial"/>
              </a:rPr>
              <a:t>She is a teacher.</a:t>
            </a:r>
          </a:p>
        </p:txBody>
      </p:sp>
      <p:sp>
        <p:nvSpPr>
          <p:cNvPr id="15" name="TextBox 14"/>
          <p:cNvSpPr txBox="1"/>
          <p:nvPr/>
        </p:nvSpPr>
        <p:spPr>
          <a:xfrm>
            <a:off x="731520" y="4754880"/>
            <a:ext cx="7680960" cy="320040"/>
          </a:xfrm>
          <a:prstGeom prst="rect">
            <a:avLst/>
          </a:prstGeom>
          <a:noFill/>
        </p:spPr>
        <p:txBody>
          <a:bodyPr wrap="square" anchor="ctr">
            <a:spAutoFit/>
          </a:bodyPr>
          <a:lstStyle/>
          <a:p>
            <a:pPr algn="l">
              <a:lnSpc>
                <a:spcPct val="100000"/>
              </a:lnSpc>
            </a:pPr>
            <a:r>
              <a:rPr sz="1800" b="0" i="1">
                <a:solidFill>
                  <a:srgbClr val="009B9B"/>
                </a:solidFill>
                <a:latin typeface="Arial"/>
              </a:rPr>
              <a:t>fall</a:t>
            </a:r>
          </a:p>
        </p:txBody>
      </p:sp>
      <p:sp>
        <p:nvSpPr>
          <p:cNvPr id="16" name="Rounded Rectangle 1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Record yourself and compare.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16</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PRACTICE — Complete (1/2)</a:t>
            </a:r>
          </a:p>
        </p:txBody>
      </p:sp>
      <p:sp>
        <p:nvSpPr>
          <p:cNvPr id="4" name="Rounded Rectangle 3"/>
          <p:cNvSpPr/>
          <p:nvPr/>
        </p:nvSpPr>
        <p:spPr>
          <a:xfrm>
            <a:off x="548640" y="16459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1. 'I am tired,' she said. -&gt; She said she ___ tired.</a:t>
            </a:r>
          </a:p>
        </p:txBody>
      </p:sp>
      <p:sp>
        <p:nvSpPr>
          <p:cNvPr id="6" name="Rounded Rectangle 5"/>
          <p:cNvSpPr/>
          <p:nvPr/>
        </p:nvSpPr>
        <p:spPr>
          <a:xfrm>
            <a:off x="548640" y="25603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603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2. 'I like music,' he said. -&gt; He said he ___ music.</a:t>
            </a:r>
          </a:p>
        </p:txBody>
      </p:sp>
      <p:sp>
        <p:nvSpPr>
          <p:cNvPr id="8" name="Rounded Rectangle 7"/>
          <p:cNvSpPr/>
          <p:nvPr/>
        </p:nvSpPr>
        <p:spPr>
          <a:xfrm>
            <a:off x="548640" y="34747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3. 'I will call,' she said. -&gt; She said she ___ call.</a:t>
            </a:r>
          </a:p>
        </p:txBody>
      </p:sp>
      <p:sp>
        <p:nvSpPr>
          <p:cNvPr id="10" name="Rounded Rectangle 9"/>
          <p:cNvSpPr/>
          <p:nvPr/>
        </p:nvSpPr>
        <p:spPr>
          <a:xfrm>
            <a:off x="548640" y="43891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3891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4. 'I can help,' he said. -&gt; He said he ___ help.</a:t>
            </a:r>
          </a:p>
        </p:txBody>
      </p:sp>
      <p:sp>
        <p:nvSpPr>
          <p:cNvPr id="12" name="Rounded Rectangle 11"/>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Answer orally first.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17</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PRACTICE — Complete (2/2)</a:t>
            </a:r>
          </a:p>
        </p:txBody>
      </p:sp>
      <p:sp>
        <p:nvSpPr>
          <p:cNvPr id="4" name="Rounded Rectangle 3"/>
          <p:cNvSpPr/>
          <p:nvPr/>
        </p:nvSpPr>
        <p:spPr>
          <a:xfrm>
            <a:off x="548640" y="16459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5. 'I saw him yesterday,' she said. -&gt; She said she ___ him the day before.</a:t>
            </a:r>
          </a:p>
        </p:txBody>
      </p:sp>
      <p:sp>
        <p:nvSpPr>
          <p:cNvPr id="6" name="Rounded Rectangle 5"/>
          <p:cNvSpPr/>
          <p:nvPr/>
        </p:nvSpPr>
        <p:spPr>
          <a:xfrm>
            <a:off x="548640" y="25603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603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6. She ___ me she was tired. (said/told)</a:t>
            </a:r>
          </a:p>
        </p:txBody>
      </p:sp>
      <p:sp>
        <p:nvSpPr>
          <p:cNvPr id="8" name="Rounded Rectangle 7"/>
          <p:cNvSpPr/>
          <p:nvPr/>
        </p:nvSpPr>
        <p:spPr>
          <a:xfrm>
            <a:off x="548640" y="34747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7. He ___ he was happy. (said/told)</a:t>
            </a:r>
          </a:p>
        </p:txBody>
      </p:sp>
      <p:sp>
        <p:nvSpPr>
          <p:cNvPr id="10" name="Rounded Rectangle 9"/>
          <p:cNvSpPr/>
          <p:nvPr/>
        </p:nvSpPr>
        <p:spPr>
          <a:xfrm>
            <a:off x="548640" y="4389120"/>
            <a:ext cx="8046720" cy="777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389120"/>
            <a:ext cx="7680960" cy="777240"/>
          </a:xfrm>
          <a:prstGeom prst="rect">
            <a:avLst/>
          </a:prstGeom>
          <a:noFill/>
        </p:spPr>
        <p:txBody>
          <a:bodyPr wrap="square" anchor="ctr">
            <a:spAutoFit/>
          </a:bodyPr>
          <a:lstStyle/>
          <a:p>
            <a:pPr algn="l">
              <a:lnSpc>
                <a:spcPct val="100000"/>
              </a:lnSpc>
            </a:pPr>
            <a:r>
              <a:rPr sz="2200" b="0" i="0">
                <a:solidFill>
                  <a:srgbClr val="000000"/>
                </a:solidFill>
                <a:latin typeface="Arial"/>
              </a:rPr>
              <a:t>8. I ___ her I would come. (said/told)</a:t>
            </a:r>
          </a:p>
        </p:txBody>
      </p:sp>
      <p:sp>
        <p:nvSpPr>
          <p:cNvPr id="12" name="Rounded Rectangle 11"/>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Answer orally first.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18</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SPEAKING — Conversation (1/2)</a:t>
            </a:r>
          </a:p>
        </p:txBody>
      </p:sp>
      <p:sp>
        <p:nvSpPr>
          <p:cNvPr id="4" name="Rounded Rectangle 3"/>
          <p:cNvSpPr/>
          <p:nvPr/>
        </p:nvSpPr>
        <p:spPr>
          <a:xfrm>
            <a:off x="548640" y="1554480"/>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What did your friend tell you?</a:t>
            </a:r>
          </a:p>
        </p:txBody>
      </p:sp>
      <p:sp>
        <p:nvSpPr>
          <p:cNvPr id="6" name="TextBox 5"/>
          <p:cNvSpPr txBox="1"/>
          <p:nvPr/>
        </p:nvSpPr>
        <p:spPr>
          <a:xfrm>
            <a:off x="914400" y="2148840"/>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She/He told me that ____.</a:t>
            </a:r>
          </a:p>
        </p:txBody>
      </p:sp>
      <p:sp>
        <p:nvSpPr>
          <p:cNvPr id="7" name="Rounded Rectangle 6"/>
          <p:cNvSpPr/>
          <p:nvPr/>
        </p:nvSpPr>
        <p:spPr>
          <a:xfrm>
            <a:off x="548640" y="2834639"/>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926079"/>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What did your teacher say?</a:t>
            </a:r>
          </a:p>
        </p:txBody>
      </p:sp>
      <p:sp>
        <p:nvSpPr>
          <p:cNvPr id="9" name="TextBox 8"/>
          <p:cNvSpPr txBox="1"/>
          <p:nvPr/>
        </p:nvSpPr>
        <p:spPr>
          <a:xfrm>
            <a:off x="914400" y="3428999"/>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She/He said that ____.</a:t>
            </a:r>
          </a:p>
        </p:txBody>
      </p:sp>
      <p:sp>
        <p:nvSpPr>
          <p:cNvPr id="10" name="Rounded Rectangle 9"/>
          <p:cNvSpPr/>
          <p:nvPr/>
        </p:nvSpPr>
        <p:spPr>
          <a:xfrm>
            <a:off x="548640" y="4114800"/>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206240"/>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What did someone ask?</a:t>
            </a:r>
          </a:p>
        </p:txBody>
      </p:sp>
      <p:sp>
        <p:nvSpPr>
          <p:cNvPr id="12" name="TextBox 11"/>
          <p:cNvSpPr txBox="1"/>
          <p:nvPr/>
        </p:nvSpPr>
        <p:spPr>
          <a:xfrm>
            <a:off x="914400" y="4709160"/>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She/He asked me if ____.</a:t>
            </a:r>
          </a:p>
        </p:txBody>
      </p:sp>
      <p:sp>
        <p:nvSpPr>
          <p:cNvPr id="13" name="Rounded Rectangle 12"/>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Speak naturally.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19</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SPEAKING — Conversation (2/2)</a:t>
            </a:r>
          </a:p>
        </p:txBody>
      </p:sp>
      <p:sp>
        <p:nvSpPr>
          <p:cNvPr id="4" name="Rounded Rectangle 3"/>
          <p:cNvSpPr/>
          <p:nvPr/>
        </p:nvSpPr>
        <p:spPr>
          <a:xfrm>
            <a:off x="548640" y="1554480"/>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What did someone tell you to do?</a:t>
            </a:r>
          </a:p>
        </p:txBody>
      </p:sp>
      <p:sp>
        <p:nvSpPr>
          <p:cNvPr id="6" name="TextBox 5"/>
          <p:cNvSpPr txBox="1"/>
          <p:nvPr/>
        </p:nvSpPr>
        <p:spPr>
          <a:xfrm>
            <a:off x="914400" y="2148840"/>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She/He told me to ____.</a:t>
            </a:r>
          </a:p>
        </p:txBody>
      </p:sp>
      <p:sp>
        <p:nvSpPr>
          <p:cNvPr id="7" name="Rounded Rectangle 6"/>
          <p:cNvSpPr/>
          <p:nvPr/>
        </p:nvSpPr>
        <p:spPr>
          <a:xfrm>
            <a:off x="548640" y="2834639"/>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926079"/>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What did someone promise?</a:t>
            </a:r>
          </a:p>
        </p:txBody>
      </p:sp>
      <p:sp>
        <p:nvSpPr>
          <p:cNvPr id="9" name="TextBox 8"/>
          <p:cNvSpPr txBox="1"/>
          <p:nvPr/>
        </p:nvSpPr>
        <p:spPr>
          <a:xfrm>
            <a:off x="914400" y="3428999"/>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She/He promised that ____.</a:t>
            </a:r>
          </a:p>
        </p:txBody>
      </p:sp>
      <p:sp>
        <p:nvSpPr>
          <p:cNvPr id="10" name="Rounded Rectangle 9"/>
          <p:cNvSpPr/>
          <p:nvPr/>
        </p:nvSpPr>
        <p:spPr>
          <a:xfrm>
            <a:off x="548640" y="4114800"/>
            <a:ext cx="8046720" cy="1143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206240"/>
            <a:ext cx="7680960" cy="457200"/>
          </a:xfrm>
          <a:prstGeom prst="rect">
            <a:avLst/>
          </a:prstGeom>
          <a:noFill/>
        </p:spPr>
        <p:txBody>
          <a:bodyPr wrap="square" anchor="ctr">
            <a:spAutoFit/>
          </a:bodyPr>
          <a:lstStyle/>
          <a:p>
            <a:pPr algn="l">
              <a:lnSpc>
                <a:spcPct val="100000"/>
              </a:lnSpc>
            </a:pPr>
            <a:r>
              <a:rPr sz="2000" b="1" i="0">
                <a:solidFill>
                  <a:srgbClr val="3D1F5C"/>
                </a:solidFill>
                <a:latin typeface="Arial"/>
              </a:rPr>
              <a:t>What did someone explain?</a:t>
            </a:r>
          </a:p>
        </p:txBody>
      </p:sp>
      <p:sp>
        <p:nvSpPr>
          <p:cNvPr id="12" name="TextBox 11"/>
          <p:cNvSpPr txBox="1"/>
          <p:nvPr/>
        </p:nvSpPr>
        <p:spPr>
          <a:xfrm>
            <a:off x="914400" y="4709160"/>
            <a:ext cx="7498080" cy="457200"/>
          </a:xfrm>
          <a:prstGeom prst="rect">
            <a:avLst/>
          </a:prstGeom>
          <a:noFill/>
        </p:spPr>
        <p:txBody>
          <a:bodyPr wrap="square" anchor="ctr">
            <a:spAutoFit/>
          </a:bodyPr>
          <a:lstStyle/>
          <a:p>
            <a:pPr algn="l">
              <a:lnSpc>
                <a:spcPct val="100000"/>
              </a:lnSpc>
            </a:pPr>
            <a:r>
              <a:rPr sz="1800" b="0" i="0">
                <a:solidFill>
                  <a:srgbClr val="009B9B"/>
                </a:solidFill>
                <a:latin typeface="Arial"/>
              </a:rPr>
              <a:t>-&gt;  She/He explained that ____.</a:t>
            </a:r>
          </a:p>
        </p:txBody>
      </p:sp>
      <p:sp>
        <p:nvSpPr>
          <p:cNvPr id="13" name="Rounded Rectangle 12"/>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Speak naturally.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20</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LISTENING — Yesterday's Conversation</a:t>
            </a:r>
          </a:p>
        </p:txBody>
      </p:sp>
      <p:sp>
        <p:nvSpPr>
          <p:cNvPr id="4" name="Rounded Rectangle 3"/>
          <p:cNvSpPr/>
          <p:nvPr/>
        </p:nvSpPr>
        <p:spPr>
          <a:xfrm>
            <a:off x="548640" y="1508760"/>
            <a:ext cx="8046720" cy="4206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320040"/>
          </a:xfrm>
          <a:prstGeom prst="rect">
            <a:avLst/>
          </a:prstGeom>
          <a:noFill/>
        </p:spPr>
        <p:txBody>
          <a:bodyPr wrap="square" anchor="t">
            <a:spAutoFit/>
          </a:bodyPr>
          <a:lstStyle/>
          <a:p>
            <a:pPr algn="l">
              <a:lnSpc>
                <a:spcPct val="100000"/>
              </a:lnSpc>
            </a:pPr>
            <a:r>
              <a:rPr sz="1800" b="1" i="0">
                <a:solidFill>
                  <a:srgbClr val="FF6B35"/>
                </a:solidFill>
                <a:latin typeface="Arial"/>
              </a:rPr>
              <a:t>TEXT</a:t>
            </a:r>
          </a:p>
        </p:txBody>
      </p:sp>
      <p:sp>
        <p:nvSpPr>
          <p:cNvPr id="6" name="TextBox 5"/>
          <p:cNvSpPr txBox="1"/>
          <p:nvPr/>
        </p:nvSpPr>
        <p:spPr>
          <a:xfrm>
            <a:off x="822959" y="2057400"/>
            <a:ext cx="7498080" cy="3566160"/>
          </a:xfrm>
          <a:prstGeom prst="rect">
            <a:avLst/>
          </a:prstGeom>
          <a:noFill/>
        </p:spPr>
        <p:txBody>
          <a:bodyPr wrap="square" anchor="t">
            <a:spAutoFit/>
          </a:bodyPr>
          <a:lstStyle/>
          <a:p>
            <a:pPr algn="l">
              <a:lnSpc>
                <a:spcPct val="130000"/>
              </a:lnSpc>
            </a:pPr>
            <a:r>
              <a:rPr sz="1800" b="0" i="0">
                <a:solidFill>
                  <a:srgbClr val="000000"/>
                </a:solidFill>
                <a:latin typeface="Arial"/>
              </a:rPr>
              <a:t>Yesterday, I met my friend Maria. She told me she was very tired because she had worked all day. She said she wanted to go home and rest. I asked her if she wanted to have dinner with me, but she said she couldn't. She told me she had to study for an exam. She promised she would call me the next day. I told her not to worry and to take care of herself.</a:t>
            </a:r>
          </a:p>
        </p:txBody>
      </p:sp>
      <p:sp>
        <p:nvSpPr>
          <p:cNvPr id="7" name="Rounded Rectangle 6"/>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Listen carefully to the text.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21</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LISTENING — Answer the questions</a:t>
            </a:r>
          </a:p>
        </p:txBody>
      </p:sp>
      <p:sp>
        <p:nvSpPr>
          <p:cNvPr id="4" name="Rounded Rectangle 3"/>
          <p:cNvSpPr/>
          <p:nvPr/>
        </p:nvSpPr>
        <p:spPr>
          <a:xfrm>
            <a:off x="548640" y="1600200"/>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1. Why was Maria tired?</a:t>
            </a:r>
          </a:p>
        </p:txBody>
      </p:sp>
      <p:sp>
        <p:nvSpPr>
          <p:cNvPr id="6" name="Rounded Rectangle 5"/>
          <p:cNvSpPr/>
          <p:nvPr/>
        </p:nvSpPr>
        <p:spPr>
          <a:xfrm>
            <a:off x="548640" y="2404872"/>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04872"/>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2. What did she want to do?</a:t>
            </a:r>
          </a:p>
        </p:txBody>
      </p:sp>
      <p:sp>
        <p:nvSpPr>
          <p:cNvPr id="8" name="Rounded Rectangle 7"/>
          <p:cNvSpPr/>
          <p:nvPr/>
        </p:nvSpPr>
        <p:spPr>
          <a:xfrm>
            <a:off x="548640" y="3209544"/>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209544"/>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3. What did the speaker ask her?</a:t>
            </a:r>
          </a:p>
        </p:txBody>
      </p:sp>
      <p:sp>
        <p:nvSpPr>
          <p:cNvPr id="10" name="Rounded Rectangle 9"/>
          <p:cNvSpPr/>
          <p:nvPr/>
        </p:nvSpPr>
        <p:spPr>
          <a:xfrm>
            <a:off x="548640" y="4014215"/>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014215"/>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4. Why couldn't Maria have dinner?</a:t>
            </a:r>
          </a:p>
        </p:txBody>
      </p:sp>
      <p:sp>
        <p:nvSpPr>
          <p:cNvPr id="12" name="Rounded Rectangle 11"/>
          <p:cNvSpPr/>
          <p:nvPr/>
        </p:nvSpPr>
        <p:spPr>
          <a:xfrm>
            <a:off x="548640" y="4818888"/>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18888"/>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5. What did Maria promise?</a:t>
            </a:r>
          </a:p>
        </p:txBody>
      </p:sp>
      <p:sp>
        <p:nvSpPr>
          <p:cNvPr id="14" name="Rounded Rectangle 1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Answer in complete sentences.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22</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SPEAKING CHALLENGE — A Conversation I Had</a:t>
            </a:r>
          </a:p>
        </p:txBody>
      </p:sp>
      <p:sp>
        <p:nvSpPr>
          <p:cNvPr id="4" name="Rounded Rectangle 3"/>
          <p:cNvSpPr/>
          <p:nvPr/>
        </p:nvSpPr>
        <p:spPr>
          <a:xfrm>
            <a:off x="914400" y="1600200"/>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600200"/>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5 said or told</a:t>
            </a:r>
          </a:p>
        </p:txBody>
      </p:sp>
      <p:sp>
        <p:nvSpPr>
          <p:cNvPr id="6" name="Rounded Rectangle 5"/>
          <p:cNvSpPr/>
          <p:nvPr/>
        </p:nvSpPr>
        <p:spPr>
          <a:xfrm>
            <a:off x="914400" y="2377440"/>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377440"/>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2 reported questions</a:t>
            </a:r>
          </a:p>
        </p:txBody>
      </p:sp>
      <p:sp>
        <p:nvSpPr>
          <p:cNvPr id="8" name="Rounded Rectangle 7"/>
          <p:cNvSpPr/>
          <p:nvPr/>
        </p:nvSpPr>
        <p:spPr>
          <a:xfrm>
            <a:off x="914400" y="3154680"/>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154680"/>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1 reported order</a:t>
            </a:r>
          </a:p>
        </p:txBody>
      </p:sp>
      <p:sp>
        <p:nvSpPr>
          <p:cNvPr id="10" name="Rounded Rectangle 9"/>
          <p:cNvSpPr/>
          <p:nvPr/>
        </p:nvSpPr>
        <p:spPr>
          <a:xfrm>
            <a:off x="914400" y="3931920"/>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931920"/>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Tense + pronoun changes</a:t>
            </a:r>
          </a:p>
        </p:txBody>
      </p:sp>
      <p:sp>
        <p:nvSpPr>
          <p:cNvPr id="12" name="Rounded Rectangle 11"/>
          <p:cNvSpPr/>
          <p:nvPr/>
        </p:nvSpPr>
        <p:spPr>
          <a:xfrm>
            <a:off x="914400" y="4709159"/>
            <a:ext cx="7315200" cy="6858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709159"/>
            <a:ext cx="6949440" cy="685800"/>
          </a:xfrm>
          <a:prstGeom prst="rect">
            <a:avLst/>
          </a:prstGeom>
          <a:noFill/>
        </p:spPr>
        <p:txBody>
          <a:bodyPr wrap="square" anchor="ctr">
            <a:spAutoFit/>
          </a:bodyPr>
          <a:lstStyle/>
          <a:p>
            <a:pPr algn="ctr">
              <a:lnSpc>
                <a:spcPct val="100000"/>
              </a:lnSpc>
            </a:pPr>
            <a:r>
              <a:rPr sz="2000" b="1" i="0">
                <a:solidFill>
                  <a:srgbClr val="3D1F5C"/>
                </a:solidFill>
                <a:latin typeface="Arial"/>
              </a:rPr>
              <a:t>90-120 seconds</a:t>
            </a:r>
          </a:p>
        </p:txBody>
      </p:sp>
      <p:sp>
        <p:nvSpPr>
          <p:cNvPr id="14" name="Rounded Rectangle 1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Speak 1-2 minutes. No memorization.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23</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WRITING — Requirements</a:t>
            </a:r>
          </a:p>
        </p:txBody>
      </p:sp>
      <p:sp>
        <p:nvSpPr>
          <p:cNvPr id="4" name="Rounded Rectangle 3"/>
          <p:cNvSpPr/>
          <p:nvPr/>
        </p:nvSpPr>
        <p:spPr>
          <a:xfrm>
            <a:off x="548640" y="1508760"/>
            <a:ext cx="3931920" cy="10058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3657600" cy="365760"/>
          </a:xfrm>
          <a:prstGeom prst="rect">
            <a:avLst/>
          </a:prstGeom>
          <a:noFill/>
        </p:spPr>
        <p:txBody>
          <a:bodyPr wrap="square" anchor="ctr">
            <a:spAutoFit/>
          </a:bodyPr>
          <a:lstStyle/>
          <a:p>
            <a:pPr algn="l">
              <a:lnSpc>
                <a:spcPct val="100000"/>
              </a:lnSpc>
            </a:pPr>
            <a:r>
              <a:rPr sz="2000" b="1" i="0">
                <a:solidFill>
                  <a:srgbClr val="FF6B35"/>
                </a:solidFill>
                <a:latin typeface="Arial"/>
              </a:rPr>
              <a:t>120-150 WORDS</a:t>
            </a:r>
          </a:p>
        </p:txBody>
      </p:sp>
      <p:sp>
        <p:nvSpPr>
          <p:cNvPr id="6" name="TextBox 5"/>
          <p:cNvSpPr txBox="1"/>
          <p:nvPr/>
        </p:nvSpPr>
        <p:spPr>
          <a:xfrm>
            <a:off x="731520" y="2011680"/>
            <a:ext cx="3657600" cy="365760"/>
          </a:xfrm>
          <a:prstGeom prst="rect">
            <a:avLst/>
          </a:prstGeom>
          <a:noFill/>
        </p:spPr>
        <p:txBody>
          <a:bodyPr wrap="square" anchor="ctr">
            <a:spAutoFit/>
          </a:bodyPr>
          <a:lstStyle/>
          <a:p>
            <a:pPr algn="l">
              <a:lnSpc>
                <a:spcPct val="100000"/>
              </a:lnSpc>
            </a:pPr>
            <a:r>
              <a:rPr sz="1800" b="0" i="0">
                <a:solidFill>
                  <a:srgbClr val="000000"/>
                </a:solidFill>
                <a:latin typeface="Arial"/>
              </a:rPr>
              <a:t>TIME: 30 min</a:t>
            </a:r>
          </a:p>
        </p:txBody>
      </p:sp>
      <p:sp>
        <p:nvSpPr>
          <p:cNvPr id="7" name="Rounded Rectangle 6"/>
          <p:cNvSpPr/>
          <p:nvPr/>
        </p:nvSpPr>
        <p:spPr>
          <a:xfrm>
            <a:off x="4663440" y="1508760"/>
            <a:ext cx="3931920" cy="100584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846320" y="1554480"/>
            <a:ext cx="3657600" cy="320040"/>
          </a:xfrm>
          <a:prstGeom prst="rect">
            <a:avLst/>
          </a:prstGeom>
          <a:noFill/>
        </p:spPr>
        <p:txBody>
          <a:bodyPr wrap="square" anchor="ctr">
            <a:spAutoFit/>
          </a:bodyPr>
          <a:lstStyle/>
          <a:p>
            <a:pPr algn="l">
              <a:lnSpc>
                <a:spcPct val="100000"/>
              </a:lnSpc>
            </a:pPr>
            <a:r>
              <a:rPr sz="1600" b="1" i="0">
                <a:solidFill>
                  <a:srgbClr val="FF6B35"/>
                </a:solidFill>
                <a:latin typeface="Arial"/>
              </a:rPr>
              <a:t>FOCUS</a:t>
            </a:r>
          </a:p>
        </p:txBody>
      </p:sp>
      <p:sp>
        <p:nvSpPr>
          <p:cNvPr id="9" name="TextBox 8"/>
          <p:cNvSpPr txBox="1"/>
          <p:nvPr/>
        </p:nvSpPr>
        <p:spPr>
          <a:xfrm>
            <a:off x="4846320" y="1920240"/>
            <a:ext cx="3657600" cy="502920"/>
          </a:xfrm>
          <a:prstGeom prst="rect">
            <a:avLst/>
          </a:prstGeom>
          <a:noFill/>
        </p:spPr>
        <p:txBody>
          <a:bodyPr wrap="square" anchor="ctr">
            <a:spAutoFit/>
          </a:bodyPr>
          <a:lstStyle/>
          <a:p>
            <a:pPr algn="ctr">
              <a:lnSpc>
                <a:spcPct val="100000"/>
              </a:lnSpc>
            </a:pPr>
            <a:r>
              <a:rPr sz="1600" b="0" i="0">
                <a:solidFill>
                  <a:srgbClr val="FFFFFF"/>
                </a:solidFill>
                <a:latin typeface="Arial"/>
              </a:rPr>
              <a:t>Reported Speech</a:t>
            </a:r>
          </a:p>
        </p:txBody>
      </p:sp>
      <p:sp>
        <p:nvSpPr>
          <p:cNvPr id="10" name="Rounded Rectangle 9"/>
          <p:cNvSpPr/>
          <p:nvPr/>
        </p:nvSpPr>
        <p:spPr>
          <a:xfrm>
            <a:off x="548640" y="2697480"/>
            <a:ext cx="8046720" cy="30632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743200"/>
            <a:ext cx="7680960" cy="365760"/>
          </a:xfrm>
          <a:prstGeom prst="rect">
            <a:avLst/>
          </a:prstGeom>
          <a:noFill/>
        </p:spPr>
        <p:txBody>
          <a:bodyPr wrap="square" anchor="t">
            <a:spAutoFit/>
          </a:bodyPr>
          <a:lstStyle/>
          <a:p>
            <a:pPr algn="l">
              <a:lnSpc>
                <a:spcPct val="100000"/>
              </a:lnSpc>
            </a:pPr>
            <a:r>
              <a:rPr sz="1800" b="1" i="0">
                <a:solidFill>
                  <a:srgbClr val="FF6B35"/>
                </a:solidFill>
                <a:latin typeface="Arial"/>
              </a:rPr>
              <a:t>REQUIREMENTS</a:t>
            </a:r>
          </a:p>
        </p:txBody>
      </p:sp>
      <p:sp>
        <p:nvSpPr>
          <p:cNvPr id="12" name="TextBox 11"/>
          <p:cNvSpPr txBox="1"/>
          <p:nvPr/>
        </p:nvSpPr>
        <p:spPr>
          <a:xfrm>
            <a:off x="822959" y="3200400"/>
            <a:ext cx="7589520" cy="2468880"/>
          </a:xfrm>
          <a:prstGeom prst="rect">
            <a:avLst/>
          </a:prstGeom>
          <a:noFill/>
        </p:spPr>
        <p:txBody>
          <a:bodyPr wrap="square" anchor="t">
            <a:spAutoFit/>
          </a:bodyPr>
          <a:lstStyle/>
          <a:p>
            <a:pPr algn="l">
              <a:lnSpc>
                <a:spcPct val="130000"/>
              </a:lnSpc>
            </a:pPr>
            <a:r>
              <a:rPr sz="2000" b="0" i="0">
                <a:solidFill>
                  <a:srgbClr val="000000"/>
                </a:solidFill>
                <a:latin typeface="Arial"/>
              </a:rPr>
              <a:t>- 5 said/told</a:t>
            </a:r>
          </a:p>
          <a:p>
            <a:pPr algn="l">
              <a:lnSpc>
                <a:spcPct val="130000"/>
              </a:lnSpc>
            </a:pPr>
            <a:r>
              <a:rPr sz="2000" b="0" i="0">
                <a:solidFill>
                  <a:srgbClr val="000000"/>
                </a:solidFill>
                <a:latin typeface="Arial"/>
              </a:rPr>
              <a:t>- 2 reported questions</a:t>
            </a:r>
          </a:p>
          <a:p>
            <a:pPr algn="l">
              <a:lnSpc>
                <a:spcPct val="130000"/>
              </a:lnSpc>
            </a:pPr>
            <a:r>
              <a:rPr sz="2000" b="0" i="0">
                <a:solidFill>
                  <a:srgbClr val="000000"/>
                </a:solidFill>
                <a:latin typeface="Arial"/>
              </a:rPr>
              <a:t>- 1 reported order</a:t>
            </a:r>
          </a:p>
          <a:p>
            <a:pPr algn="l">
              <a:lnSpc>
                <a:spcPct val="130000"/>
              </a:lnSpc>
            </a:pPr>
            <a:r>
              <a:rPr sz="2000" b="0" i="0">
                <a:solidFill>
                  <a:srgbClr val="000000"/>
                </a:solidFill>
                <a:latin typeface="Arial"/>
              </a:rPr>
              <a:t>- 1 tense change</a:t>
            </a:r>
          </a:p>
          <a:p>
            <a:pPr algn="l">
              <a:lnSpc>
                <a:spcPct val="130000"/>
              </a:lnSpc>
            </a:pPr>
            <a:r>
              <a:rPr sz="2000" b="0" i="0">
                <a:solidFill>
                  <a:srgbClr val="000000"/>
                </a:solidFill>
                <a:latin typeface="Arial"/>
              </a:rPr>
              <a:t>- 1 pronoun change</a:t>
            </a:r>
          </a:p>
        </p:txBody>
      </p:sp>
      <p:sp>
        <p:nvSpPr>
          <p:cNvPr id="13" name="Rounded Rectangle 12"/>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Follow the requirements.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24</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WRITING — Template</a:t>
            </a:r>
          </a:p>
        </p:txBody>
      </p:sp>
      <p:sp>
        <p:nvSpPr>
          <p:cNvPr id="4" name="Rounded Rectangle 3"/>
          <p:cNvSpPr/>
          <p:nvPr/>
        </p:nvSpPr>
        <p:spPr>
          <a:xfrm>
            <a:off x="548640" y="1463040"/>
            <a:ext cx="8046720" cy="43434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7406640" cy="3977639"/>
          </a:xfrm>
          <a:prstGeom prst="rect">
            <a:avLst/>
          </a:prstGeom>
          <a:noFill/>
        </p:spPr>
        <p:txBody>
          <a:bodyPr wrap="square" anchor="ctr">
            <a:spAutoFit/>
          </a:bodyPr>
          <a:lstStyle/>
          <a:p>
            <a:pPr algn="l">
              <a:lnSpc>
                <a:spcPct val="120000"/>
              </a:lnSpc>
            </a:pPr>
            <a:r>
              <a:rPr sz="2000" b="0" i="0">
                <a:solidFill>
                  <a:srgbClr val="000000"/>
                </a:solidFill>
                <a:latin typeface="Arial"/>
              </a:rPr>
              <a:t>A CONVERSATION I HAD   —   By: ____________</a:t>
            </a:r>
          </a:p>
          <a:p>
            <a:pPr algn="l">
              <a:lnSpc>
                <a:spcPct val="120000"/>
              </a:lnSpc>
            </a:pPr>
          </a:p>
          <a:p>
            <a:pPr algn="l">
              <a:lnSpc>
                <a:spcPct val="120000"/>
              </a:lnSpc>
            </a:pPr>
            <a:r>
              <a:rPr sz="2000" b="0" i="0">
                <a:solidFill>
                  <a:srgbClr val="000000"/>
                </a:solidFill>
                <a:latin typeface="Arial"/>
              </a:rPr>
              <a:t>Yesterday, I talked to ____________.</a:t>
            </a:r>
          </a:p>
          <a:p>
            <a:pPr algn="l">
              <a:lnSpc>
                <a:spcPct val="120000"/>
              </a:lnSpc>
            </a:pPr>
            <a:r>
              <a:rPr sz="2000" b="0" i="0">
                <a:solidFill>
                  <a:srgbClr val="000000"/>
                </a:solidFill>
                <a:latin typeface="Arial"/>
              </a:rPr>
              <a:t>She/He told me that ____________.</a:t>
            </a:r>
          </a:p>
          <a:p>
            <a:pPr algn="l">
              <a:lnSpc>
                <a:spcPct val="120000"/>
              </a:lnSpc>
            </a:pPr>
            <a:r>
              <a:rPr sz="2000" b="0" i="0">
                <a:solidFill>
                  <a:srgbClr val="000000"/>
                </a:solidFill>
                <a:latin typeface="Arial"/>
              </a:rPr>
              <a:t>She/He said that ____________.</a:t>
            </a:r>
          </a:p>
          <a:p>
            <a:pPr algn="l">
              <a:lnSpc>
                <a:spcPct val="120000"/>
              </a:lnSpc>
            </a:pPr>
            <a:r>
              <a:rPr sz="2000" b="0" i="0">
                <a:solidFill>
                  <a:srgbClr val="000000"/>
                </a:solidFill>
                <a:latin typeface="Arial"/>
              </a:rPr>
              <a:t>She/He mentioned that ____________.</a:t>
            </a:r>
          </a:p>
          <a:p>
            <a:pPr algn="l">
              <a:lnSpc>
                <a:spcPct val="120000"/>
              </a:lnSpc>
            </a:pPr>
          </a:p>
          <a:p>
            <a:pPr algn="l">
              <a:lnSpc>
                <a:spcPct val="120000"/>
              </a:lnSpc>
            </a:pPr>
            <a:r>
              <a:rPr sz="2000" b="0" i="0">
                <a:solidFill>
                  <a:srgbClr val="000000"/>
                </a:solidFill>
                <a:latin typeface="Arial"/>
              </a:rPr>
              <a:t>I asked her/him if ____________.</a:t>
            </a:r>
          </a:p>
          <a:p>
            <a:pPr algn="l">
              <a:lnSpc>
                <a:spcPct val="120000"/>
              </a:lnSpc>
            </a:pPr>
            <a:r>
              <a:rPr sz="2000" b="0" i="0">
                <a:solidFill>
                  <a:srgbClr val="000000"/>
                </a:solidFill>
                <a:latin typeface="Arial"/>
              </a:rPr>
              <a:t>I asked her/him what ____________.</a:t>
            </a:r>
          </a:p>
          <a:p>
            <a:pPr algn="l">
              <a:lnSpc>
                <a:spcPct val="120000"/>
              </a:lnSpc>
            </a:pPr>
          </a:p>
          <a:p>
            <a:pPr algn="l">
              <a:lnSpc>
                <a:spcPct val="120000"/>
              </a:lnSpc>
            </a:pPr>
            <a:r>
              <a:rPr sz="2000" b="0" i="0">
                <a:solidFill>
                  <a:srgbClr val="000000"/>
                </a:solidFill>
                <a:latin typeface="Arial"/>
              </a:rPr>
              <a:t>She/He told me to ____________.</a:t>
            </a:r>
          </a:p>
          <a:p>
            <a:pPr algn="l">
              <a:lnSpc>
                <a:spcPct val="120000"/>
              </a:lnSpc>
            </a:pPr>
            <a:r>
              <a:rPr sz="2000" b="0" i="0">
                <a:solidFill>
                  <a:srgbClr val="000000"/>
                </a:solidFill>
                <a:latin typeface="Arial"/>
              </a:rPr>
              <a:t>She/He promised that ____________.</a:t>
            </a:r>
          </a:p>
          <a:p>
            <a:pPr algn="l">
              <a:lnSpc>
                <a:spcPct val="120000"/>
              </a:lnSpc>
            </a:pPr>
          </a:p>
          <a:p>
            <a:pPr algn="l">
              <a:lnSpc>
                <a:spcPct val="120000"/>
              </a:lnSpc>
            </a:pPr>
            <a:r>
              <a:rPr sz="2000" b="0" i="0">
                <a:solidFill>
                  <a:srgbClr val="000000"/>
                </a:solidFill>
                <a:latin typeface="Arial"/>
              </a:rPr>
              <a:t>It was a ____________ conversation.</a:t>
            </a:r>
          </a:p>
        </p:txBody>
      </p:sp>
      <p:sp>
        <p:nvSpPr>
          <p:cNvPr id="6" name="Rounded Rectangle 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Use this template to write.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25</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CHECKPOINT — Rate your progress</a:t>
            </a:r>
          </a:p>
        </p:txBody>
      </p:sp>
      <p:sp>
        <p:nvSpPr>
          <p:cNvPr id="4" name="Rounded Rectangle 3"/>
          <p:cNvSpPr/>
          <p:nvPr/>
        </p:nvSpPr>
        <p:spPr>
          <a:xfrm>
            <a:off x="548640" y="1600200"/>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use say and tell correctly</a:t>
            </a:r>
          </a:p>
        </p:txBody>
      </p:sp>
      <p:sp>
        <p:nvSpPr>
          <p:cNvPr id="6" name="Rounded Rectangle 5"/>
          <p:cNvSpPr/>
          <p:nvPr/>
        </p:nvSpPr>
        <p:spPr>
          <a:xfrm>
            <a:off x="548640" y="2404872"/>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404872"/>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apply backshift</a:t>
            </a:r>
          </a:p>
        </p:txBody>
      </p:sp>
      <p:sp>
        <p:nvSpPr>
          <p:cNvPr id="8" name="Rounded Rectangle 7"/>
          <p:cNvSpPr/>
          <p:nvPr/>
        </p:nvSpPr>
        <p:spPr>
          <a:xfrm>
            <a:off x="548640" y="3209544"/>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209544"/>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report questions</a:t>
            </a:r>
          </a:p>
        </p:txBody>
      </p:sp>
      <p:sp>
        <p:nvSpPr>
          <p:cNvPr id="10" name="Rounded Rectangle 9"/>
          <p:cNvSpPr/>
          <p:nvPr/>
        </p:nvSpPr>
        <p:spPr>
          <a:xfrm>
            <a:off x="548640" y="4014215"/>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014215"/>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report orders</a:t>
            </a:r>
          </a:p>
        </p:txBody>
      </p:sp>
      <p:sp>
        <p:nvSpPr>
          <p:cNvPr id="12" name="Rounded Rectangle 11"/>
          <p:cNvSpPr/>
          <p:nvPr/>
        </p:nvSpPr>
        <p:spPr>
          <a:xfrm>
            <a:off x="548640" y="4818888"/>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18888"/>
            <a:ext cx="7680960" cy="731520"/>
          </a:xfrm>
          <a:prstGeom prst="rect">
            <a:avLst/>
          </a:prstGeom>
          <a:noFill/>
        </p:spPr>
        <p:txBody>
          <a:bodyPr wrap="square" anchor="ctr">
            <a:spAutoFit/>
          </a:bodyPr>
          <a:lstStyle/>
          <a:p>
            <a:pPr algn="l">
              <a:lnSpc>
                <a:spcPct val="100000"/>
              </a:lnSpc>
            </a:pPr>
            <a:r>
              <a:rPr sz="2000" b="0" i="0">
                <a:solidFill>
                  <a:srgbClr val="000000"/>
                </a:solidFill>
                <a:latin typeface="Arial"/>
              </a:rPr>
              <a:t>I can change pronouns and time</a:t>
            </a:r>
          </a:p>
        </p:txBody>
      </p:sp>
      <p:sp>
        <p:nvSpPr>
          <p:cNvPr id="14" name="Rounded Rectangle 1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Be honest with yourself.</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26</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SELF-EVALUATION — Rate (1-4)</a:t>
            </a:r>
          </a:p>
        </p:txBody>
      </p:sp>
      <p:sp>
        <p:nvSpPr>
          <p:cNvPr id="4" name="Rounded Rectangle 3"/>
          <p:cNvSpPr/>
          <p:nvPr/>
        </p:nvSpPr>
        <p:spPr>
          <a:xfrm>
            <a:off x="548640" y="1600200"/>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Vocabulary</a:t>
            </a:r>
          </a:p>
        </p:txBody>
      </p:sp>
      <p:sp>
        <p:nvSpPr>
          <p:cNvPr id="6" name="TextBox 5"/>
          <p:cNvSpPr txBox="1"/>
          <p:nvPr/>
        </p:nvSpPr>
        <p:spPr>
          <a:xfrm>
            <a:off x="5212080" y="1600200"/>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7" name="TextBox 6"/>
          <p:cNvSpPr txBox="1"/>
          <p:nvPr/>
        </p:nvSpPr>
        <p:spPr>
          <a:xfrm>
            <a:off x="6126480" y="1600200"/>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8" name="TextBox 7"/>
          <p:cNvSpPr txBox="1"/>
          <p:nvPr/>
        </p:nvSpPr>
        <p:spPr>
          <a:xfrm>
            <a:off x="7040880" y="1600200"/>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9" name="TextBox 8"/>
          <p:cNvSpPr txBox="1"/>
          <p:nvPr/>
        </p:nvSpPr>
        <p:spPr>
          <a:xfrm>
            <a:off x="7955279" y="1600200"/>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10" name="Rounded Rectangle 9"/>
          <p:cNvSpPr/>
          <p:nvPr/>
        </p:nvSpPr>
        <p:spPr>
          <a:xfrm>
            <a:off x="548640" y="2404872"/>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04872"/>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Say vs Tell</a:t>
            </a:r>
          </a:p>
        </p:txBody>
      </p:sp>
      <p:sp>
        <p:nvSpPr>
          <p:cNvPr id="12" name="TextBox 11"/>
          <p:cNvSpPr txBox="1"/>
          <p:nvPr/>
        </p:nvSpPr>
        <p:spPr>
          <a:xfrm>
            <a:off x="5212080" y="2404872"/>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13" name="TextBox 12"/>
          <p:cNvSpPr txBox="1"/>
          <p:nvPr/>
        </p:nvSpPr>
        <p:spPr>
          <a:xfrm>
            <a:off x="6126480" y="2404872"/>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14" name="TextBox 13"/>
          <p:cNvSpPr txBox="1"/>
          <p:nvPr/>
        </p:nvSpPr>
        <p:spPr>
          <a:xfrm>
            <a:off x="7040880" y="2404872"/>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15" name="TextBox 14"/>
          <p:cNvSpPr txBox="1"/>
          <p:nvPr/>
        </p:nvSpPr>
        <p:spPr>
          <a:xfrm>
            <a:off x="7955279" y="2404872"/>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16" name="Rounded Rectangle 15"/>
          <p:cNvSpPr/>
          <p:nvPr/>
        </p:nvSpPr>
        <p:spPr>
          <a:xfrm>
            <a:off x="548640" y="3209544"/>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209544"/>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Backshift</a:t>
            </a:r>
          </a:p>
        </p:txBody>
      </p:sp>
      <p:sp>
        <p:nvSpPr>
          <p:cNvPr id="18" name="TextBox 17"/>
          <p:cNvSpPr txBox="1"/>
          <p:nvPr/>
        </p:nvSpPr>
        <p:spPr>
          <a:xfrm>
            <a:off x="5212080" y="3209544"/>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19" name="TextBox 18"/>
          <p:cNvSpPr txBox="1"/>
          <p:nvPr/>
        </p:nvSpPr>
        <p:spPr>
          <a:xfrm>
            <a:off x="6126480" y="3209544"/>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20" name="TextBox 19"/>
          <p:cNvSpPr txBox="1"/>
          <p:nvPr/>
        </p:nvSpPr>
        <p:spPr>
          <a:xfrm>
            <a:off x="7040880" y="3209544"/>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21" name="TextBox 20"/>
          <p:cNvSpPr txBox="1"/>
          <p:nvPr/>
        </p:nvSpPr>
        <p:spPr>
          <a:xfrm>
            <a:off x="7955279" y="3209544"/>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22" name="Rounded Rectangle 21"/>
          <p:cNvSpPr/>
          <p:nvPr/>
        </p:nvSpPr>
        <p:spPr>
          <a:xfrm>
            <a:off x="548640" y="4014215"/>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014215"/>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Reported questions</a:t>
            </a:r>
          </a:p>
        </p:txBody>
      </p:sp>
      <p:sp>
        <p:nvSpPr>
          <p:cNvPr id="24" name="TextBox 23"/>
          <p:cNvSpPr txBox="1"/>
          <p:nvPr/>
        </p:nvSpPr>
        <p:spPr>
          <a:xfrm>
            <a:off x="5212080" y="4014215"/>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25" name="TextBox 24"/>
          <p:cNvSpPr txBox="1"/>
          <p:nvPr/>
        </p:nvSpPr>
        <p:spPr>
          <a:xfrm>
            <a:off x="6126480" y="4014215"/>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26" name="TextBox 25"/>
          <p:cNvSpPr txBox="1"/>
          <p:nvPr/>
        </p:nvSpPr>
        <p:spPr>
          <a:xfrm>
            <a:off x="7040880" y="4014215"/>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27" name="TextBox 26"/>
          <p:cNvSpPr txBox="1"/>
          <p:nvPr/>
        </p:nvSpPr>
        <p:spPr>
          <a:xfrm>
            <a:off x="7955279" y="4014215"/>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28" name="Rounded Rectangle 27"/>
          <p:cNvSpPr/>
          <p:nvPr/>
        </p:nvSpPr>
        <p:spPr>
          <a:xfrm>
            <a:off x="548640" y="4818888"/>
            <a:ext cx="8046720" cy="7315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818888"/>
            <a:ext cx="4023360" cy="731520"/>
          </a:xfrm>
          <a:prstGeom prst="rect">
            <a:avLst/>
          </a:prstGeom>
          <a:noFill/>
        </p:spPr>
        <p:txBody>
          <a:bodyPr wrap="square" anchor="ctr">
            <a:spAutoFit/>
          </a:bodyPr>
          <a:lstStyle/>
          <a:p>
            <a:pPr algn="l">
              <a:lnSpc>
                <a:spcPct val="100000"/>
              </a:lnSpc>
            </a:pPr>
            <a:r>
              <a:rPr sz="2000" b="0" i="0">
                <a:solidFill>
                  <a:srgbClr val="000000"/>
                </a:solidFill>
                <a:latin typeface="Arial"/>
              </a:rPr>
              <a:t>Fluency</a:t>
            </a:r>
          </a:p>
        </p:txBody>
      </p:sp>
      <p:sp>
        <p:nvSpPr>
          <p:cNvPr id="30" name="TextBox 29"/>
          <p:cNvSpPr txBox="1"/>
          <p:nvPr/>
        </p:nvSpPr>
        <p:spPr>
          <a:xfrm>
            <a:off x="5212080" y="4818888"/>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1</a:t>
            </a:r>
          </a:p>
        </p:txBody>
      </p:sp>
      <p:sp>
        <p:nvSpPr>
          <p:cNvPr id="31" name="TextBox 30"/>
          <p:cNvSpPr txBox="1"/>
          <p:nvPr/>
        </p:nvSpPr>
        <p:spPr>
          <a:xfrm>
            <a:off x="6126480" y="4818888"/>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2</a:t>
            </a:r>
          </a:p>
        </p:txBody>
      </p:sp>
      <p:sp>
        <p:nvSpPr>
          <p:cNvPr id="32" name="TextBox 31"/>
          <p:cNvSpPr txBox="1"/>
          <p:nvPr/>
        </p:nvSpPr>
        <p:spPr>
          <a:xfrm>
            <a:off x="7040880" y="4818888"/>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3</a:t>
            </a:r>
          </a:p>
        </p:txBody>
      </p:sp>
      <p:sp>
        <p:nvSpPr>
          <p:cNvPr id="33" name="TextBox 32"/>
          <p:cNvSpPr txBox="1"/>
          <p:nvPr/>
        </p:nvSpPr>
        <p:spPr>
          <a:xfrm>
            <a:off x="7955279" y="4818888"/>
            <a:ext cx="457200" cy="731520"/>
          </a:xfrm>
          <a:prstGeom prst="rect">
            <a:avLst/>
          </a:prstGeom>
          <a:noFill/>
        </p:spPr>
        <p:txBody>
          <a:bodyPr wrap="square" anchor="ctr">
            <a:spAutoFit/>
          </a:bodyPr>
          <a:lstStyle/>
          <a:p>
            <a:pPr algn="ctr">
              <a:lnSpc>
                <a:spcPct val="100000"/>
              </a:lnSpc>
            </a:pPr>
            <a:r>
              <a:rPr sz="1800" b="1" i="0">
                <a:solidFill>
                  <a:srgbClr val="3D1F5C"/>
                </a:solidFill>
                <a:latin typeface="Arial"/>
              </a:rPr>
              <a:t>4</a:t>
            </a:r>
          </a:p>
        </p:txBody>
      </p:sp>
      <p:sp>
        <p:nvSpPr>
          <p:cNvPr id="34" name="Rounded Rectangle 33"/>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Reflect on your learning.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27</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RESOURCES — Keep learning</a:t>
            </a:r>
          </a:p>
        </p:txBody>
      </p:sp>
      <p:sp>
        <p:nvSpPr>
          <p:cNvPr id="4" name="Rounded Rectangle 3"/>
          <p:cNvSpPr/>
          <p:nvPr/>
        </p:nvSpPr>
        <p:spPr>
          <a:xfrm>
            <a:off x="548640" y="1508760"/>
            <a:ext cx="8046720" cy="45720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08760"/>
            <a:ext cx="7680960" cy="457200"/>
          </a:xfrm>
          <a:prstGeom prst="rect">
            <a:avLst/>
          </a:prstGeom>
          <a:noFill/>
        </p:spPr>
        <p:txBody>
          <a:bodyPr wrap="square" anchor="ctr">
            <a:spAutoFit/>
          </a:bodyPr>
          <a:lstStyle/>
          <a:p>
            <a:pPr algn="l">
              <a:lnSpc>
                <a:spcPct val="100000"/>
              </a:lnSpc>
            </a:pPr>
            <a:r>
              <a:rPr sz="1800" b="1" i="0">
                <a:solidFill>
                  <a:srgbClr val="FFFFFF"/>
                </a:solidFill>
                <a:latin typeface="Arial"/>
              </a:rPr>
              <a:t>PODCASTS</a:t>
            </a:r>
          </a:p>
        </p:txBody>
      </p:sp>
      <p:sp>
        <p:nvSpPr>
          <p:cNvPr id="6" name="TextBox 5"/>
          <p:cNvSpPr txBox="1"/>
          <p:nvPr/>
        </p:nvSpPr>
        <p:spPr>
          <a:xfrm>
            <a:off x="822959" y="201168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All Ears English</a:t>
            </a:r>
          </a:p>
        </p:txBody>
      </p:sp>
      <p:sp>
        <p:nvSpPr>
          <p:cNvPr id="7" name="TextBox 6"/>
          <p:cNvSpPr txBox="1"/>
          <p:nvPr/>
        </p:nvSpPr>
        <p:spPr>
          <a:xfrm>
            <a:off x="822959" y="237744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English and Beyond</a:t>
            </a:r>
          </a:p>
        </p:txBody>
      </p:sp>
      <p:sp>
        <p:nvSpPr>
          <p:cNvPr id="8" name="Rounded Rectangle 7"/>
          <p:cNvSpPr/>
          <p:nvPr/>
        </p:nvSpPr>
        <p:spPr>
          <a:xfrm>
            <a:off x="548640" y="2834640"/>
            <a:ext cx="8046720" cy="45720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834640"/>
            <a:ext cx="7680960" cy="457200"/>
          </a:xfrm>
          <a:prstGeom prst="rect">
            <a:avLst/>
          </a:prstGeom>
          <a:noFill/>
        </p:spPr>
        <p:txBody>
          <a:bodyPr wrap="square" anchor="ctr">
            <a:spAutoFit/>
          </a:bodyPr>
          <a:lstStyle/>
          <a:p>
            <a:pPr algn="l">
              <a:lnSpc>
                <a:spcPct val="100000"/>
              </a:lnSpc>
            </a:pPr>
            <a:r>
              <a:rPr sz="1800" b="1" i="0">
                <a:solidFill>
                  <a:srgbClr val="FFFFFF"/>
                </a:solidFill>
                <a:latin typeface="Arial"/>
              </a:rPr>
              <a:t>VIDEOS</a:t>
            </a:r>
          </a:p>
        </p:txBody>
      </p:sp>
      <p:sp>
        <p:nvSpPr>
          <p:cNvPr id="10" name="TextBox 9"/>
          <p:cNvSpPr txBox="1"/>
          <p:nvPr/>
        </p:nvSpPr>
        <p:spPr>
          <a:xfrm>
            <a:off x="822959" y="333756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English with Lucy — Reported Speech</a:t>
            </a:r>
          </a:p>
        </p:txBody>
      </p:sp>
      <p:sp>
        <p:nvSpPr>
          <p:cNvPr id="11" name="Rounded Rectangle 10"/>
          <p:cNvSpPr/>
          <p:nvPr/>
        </p:nvSpPr>
        <p:spPr>
          <a:xfrm>
            <a:off x="548640" y="3794760"/>
            <a:ext cx="8046720" cy="45720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94760"/>
            <a:ext cx="7680960" cy="457200"/>
          </a:xfrm>
          <a:prstGeom prst="rect">
            <a:avLst/>
          </a:prstGeom>
          <a:noFill/>
        </p:spPr>
        <p:txBody>
          <a:bodyPr wrap="square" anchor="ctr">
            <a:spAutoFit/>
          </a:bodyPr>
          <a:lstStyle/>
          <a:p>
            <a:pPr algn="l">
              <a:lnSpc>
                <a:spcPct val="100000"/>
              </a:lnSpc>
            </a:pPr>
            <a:r>
              <a:rPr sz="1800" b="1" i="0">
                <a:solidFill>
                  <a:srgbClr val="FFFFFF"/>
                </a:solidFill>
                <a:latin typeface="Arial"/>
              </a:rPr>
              <a:t>APPS</a:t>
            </a:r>
          </a:p>
        </p:txBody>
      </p:sp>
      <p:sp>
        <p:nvSpPr>
          <p:cNvPr id="13" name="TextBox 12"/>
          <p:cNvSpPr txBox="1"/>
          <p:nvPr/>
        </p:nvSpPr>
        <p:spPr>
          <a:xfrm>
            <a:off x="822959" y="429768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Duolingo</a:t>
            </a:r>
          </a:p>
        </p:txBody>
      </p:sp>
      <p:sp>
        <p:nvSpPr>
          <p:cNvPr id="14" name="TextBox 13"/>
          <p:cNvSpPr txBox="1"/>
          <p:nvPr/>
        </p:nvSpPr>
        <p:spPr>
          <a:xfrm>
            <a:off x="822959" y="4663440"/>
            <a:ext cx="7589520" cy="365760"/>
          </a:xfrm>
          <a:prstGeom prst="rect">
            <a:avLst/>
          </a:prstGeom>
          <a:noFill/>
        </p:spPr>
        <p:txBody>
          <a:bodyPr wrap="square" anchor="ctr">
            <a:spAutoFit/>
          </a:bodyPr>
          <a:lstStyle/>
          <a:p>
            <a:pPr algn="l">
              <a:lnSpc>
                <a:spcPct val="100000"/>
              </a:lnSpc>
            </a:pPr>
            <a:r>
              <a:rPr sz="1600" b="0" i="0">
                <a:solidFill>
                  <a:srgbClr val="000000"/>
                </a:solidFill>
                <a:latin typeface="Arial"/>
              </a:rPr>
              <a:t>- Quizlet</a:t>
            </a:r>
          </a:p>
        </p:txBody>
      </p:sp>
      <p:sp>
        <p:nvSpPr>
          <p:cNvPr id="15" name="Rounded Rectangle 14"/>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Practice every day.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28</a:t>
            </a:r>
          </a:p>
        </p:txBody>
      </p:sp>
      <p:sp>
        <p:nvSpPr>
          <p:cNvPr id="3" name="TextBox 2"/>
          <p:cNvSpPr txBox="1"/>
          <p:nvPr/>
        </p:nvSpPr>
        <p:spPr>
          <a:xfrm>
            <a:off x="548640" y="777240"/>
            <a:ext cx="8046720" cy="594360"/>
          </a:xfrm>
          <a:prstGeom prst="rect">
            <a:avLst/>
          </a:prstGeom>
          <a:noFill/>
        </p:spPr>
        <p:txBody>
          <a:bodyPr wrap="square" anchor="ctr">
            <a:spAutoFit/>
          </a:bodyPr>
          <a:lstStyle/>
          <a:p>
            <a:pPr algn="l">
              <a:lnSpc>
                <a:spcPct val="100000"/>
              </a:lnSpc>
            </a:pPr>
            <a:r>
              <a:rPr sz="2600" b="1" i="0">
                <a:solidFill>
                  <a:srgbClr val="3D1F5C"/>
                </a:solidFill>
                <a:latin typeface="Arial"/>
              </a:rPr>
              <a:t>HOMEWORK — Your tasks</a:t>
            </a:r>
          </a:p>
        </p:txBody>
      </p:sp>
      <p:sp>
        <p:nvSpPr>
          <p:cNvPr id="4" name="Rounded Rectangle 3"/>
          <p:cNvSpPr/>
          <p:nvPr/>
        </p:nvSpPr>
        <p:spPr>
          <a:xfrm>
            <a:off x="548640" y="1600200"/>
            <a:ext cx="8046720" cy="502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00200"/>
            <a:ext cx="7680960" cy="502920"/>
          </a:xfrm>
          <a:prstGeom prst="rect">
            <a:avLst/>
          </a:prstGeom>
          <a:noFill/>
        </p:spPr>
        <p:txBody>
          <a:bodyPr wrap="square" anchor="ctr">
            <a:spAutoFit/>
          </a:bodyPr>
          <a:lstStyle/>
          <a:p>
            <a:pPr algn="l">
              <a:lnSpc>
                <a:spcPct val="100000"/>
              </a:lnSpc>
            </a:pPr>
            <a:r>
              <a:rPr sz="1800" b="1" i="0">
                <a:solidFill>
                  <a:srgbClr val="FFFFFF"/>
                </a:solidFill>
                <a:latin typeface="Arial"/>
              </a:rPr>
              <a:t>WRITING</a:t>
            </a:r>
          </a:p>
        </p:txBody>
      </p:sp>
      <p:sp>
        <p:nvSpPr>
          <p:cNvPr id="6" name="TextBox 5"/>
          <p:cNvSpPr txBox="1"/>
          <p:nvPr/>
        </p:nvSpPr>
        <p:spPr>
          <a:xfrm>
            <a:off x="822959" y="2148840"/>
            <a:ext cx="7589520" cy="411480"/>
          </a:xfrm>
          <a:prstGeom prst="rect">
            <a:avLst/>
          </a:prstGeom>
          <a:noFill/>
        </p:spPr>
        <p:txBody>
          <a:bodyPr wrap="square" anchor="ctr">
            <a:spAutoFit/>
          </a:bodyPr>
          <a:lstStyle/>
          <a:p>
            <a:pPr algn="l">
              <a:lnSpc>
                <a:spcPct val="100000"/>
              </a:lnSpc>
            </a:pPr>
            <a:r>
              <a:rPr sz="1600" b="0" i="0">
                <a:solidFill>
                  <a:srgbClr val="000000"/>
                </a:solidFill>
                <a:latin typeface="Arial"/>
              </a:rPr>
              <a:t>Write 10-12 sentences reporting a conversation.</a:t>
            </a:r>
          </a:p>
        </p:txBody>
      </p:sp>
      <p:sp>
        <p:nvSpPr>
          <p:cNvPr id="7" name="Rounded Rectangle 6"/>
          <p:cNvSpPr/>
          <p:nvPr/>
        </p:nvSpPr>
        <p:spPr>
          <a:xfrm>
            <a:off x="548640" y="2651760"/>
            <a:ext cx="8046720" cy="502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651760"/>
            <a:ext cx="7680960" cy="502920"/>
          </a:xfrm>
          <a:prstGeom prst="rect">
            <a:avLst/>
          </a:prstGeom>
          <a:noFill/>
        </p:spPr>
        <p:txBody>
          <a:bodyPr wrap="square" anchor="ctr">
            <a:spAutoFit/>
          </a:bodyPr>
          <a:lstStyle/>
          <a:p>
            <a:pPr algn="l">
              <a:lnSpc>
                <a:spcPct val="100000"/>
              </a:lnSpc>
            </a:pPr>
            <a:r>
              <a:rPr sz="1800" b="1" i="0">
                <a:solidFill>
                  <a:srgbClr val="FFFFFF"/>
                </a:solidFill>
                <a:latin typeface="Arial"/>
              </a:rPr>
              <a:t>SPEAKING</a:t>
            </a:r>
          </a:p>
        </p:txBody>
      </p:sp>
      <p:sp>
        <p:nvSpPr>
          <p:cNvPr id="9" name="TextBox 8"/>
          <p:cNvSpPr txBox="1"/>
          <p:nvPr/>
        </p:nvSpPr>
        <p:spPr>
          <a:xfrm>
            <a:off x="822959" y="3200400"/>
            <a:ext cx="7589520" cy="411480"/>
          </a:xfrm>
          <a:prstGeom prst="rect">
            <a:avLst/>
          </a:prstGeom>
          <a:noFill/>
        </p:spPr>
        <p:txBody>
          <a:bodyPr wrap="square" anchor="ctr">
            <a:spAutoFit/>
          </a:bodyPr>
          <a:lstStyle/>
          <a:p>
            <a:pPr algn="l">
              <a:lnSpc>
                <a:spcPct val="100000"/>
              </a:lnSpc>
            </a:pPr>
            <a:r>
              <a:rPr sz="1600" b="0" i="0">
                <a:solidFill>
                  <a:srgbClr val="000000"/>
                </a:solidFill>
                <a:latin typeface="Arial"/>
              </a:rPr>
              <a:t>Record yourself (90-120 sec).</a:t>
            </a:r>
          </a:p>
        </p:txBody>
      </p:sp>
      <p:sp>
        <p:nvSpPr>
          <p:cNvPr id="10" name="Rounded Rectangle 9"/>
          <p:cNvSpPr/>
          <p:nvPr/>
        </p:nvSpPr>
        <p:spPr>
          <a:xfrm>
            <a:off x="548640" y="3703320"/>
            <a:ext cx="8046720" cy="502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703320"/>
            <a:ext cx="7680960" cy="502920"/>
          </a:xfrm>
          <a:prstGeom prst="rect">
            <a:avLst/>
          </a:prstGeom>
          <a:noFill/>
        </p:spPr>
        <p:txBody>
          <a:bodyPr wrap="square" anchor="ctr">
            <a:spAutoFit/>
          </a:bodyPr>
          <a:lstStyle/>
          <a:p>
            <a:pPr algn="l">
              <a:lnSpc>
                <a:spcPct val="100000"/>
              </a:lnSpc>
            </a:pPr>
            <a:r>
              <a:rPr sz="1800" b="1" i="0">
                <a:solidFill>
                  <a:srgbClr val="FFFFFF"/>
                </a:solidFill>
                <a:latin typeface="Arial"/>
              </a:rPr>
              <a:t>PRONUNCIATION</a:t>
            </a:r>
          </a:p>
        </p:txBody>
      </p:sp>
      <p:sp>
        <p:nvSpPr>
          <p:cNvPr id="12" name="TextBox 11"/>
          <p:cNvSpPr txBox="1"/>
          <p:nvPr/>
        </p:nvSpPr>
        <p:spPr>
          <a:xfrm>
            <a:off x="822959" y="4251960"/>
            <a:ext cx="7589520" cy="411480"/>
          </a:xfrm>
          <a:prstGeom prst="rect">
            <a:avLst/>
          </a:prstGeom>
          <a:noFill/>
        </p:spPr>
        <p:txBody>
          <a:bodyPr wrap="square" anchor="ctr">
            <a:spAutoFit/>
          </a:bodyPr>
          <a:lstStyle/>
          <a:p>
            <a:pPr algn="l">
              <a:lnSpc>
                <a:spcPct val="100000"/>
              </a:lnSpc>
            </a:pPr>
            <a:r>
              <a:rPr sz="1600" b="0" i="0">
                <a:solidFill>
                  <a:srgbClr val="000000"/>
                </a:solidFill>
                <a:latin typeface="Arial"/>
              </a:rPr>
              <a:t>Practice intonation with 10 sentences.</a:t>
            </a:r>
          </a:p>
        </p:txBody>
      </p:sp>
      <p:sp>
        <p:nvSpPr>
          <p:cNvPr id="13" name="Rounded Rectangle 12"/>
          <p:cNvSpPr/>
          <p:nvPr/>
        </p:nvSpPr>
        <p:spPr>
          <a:xfrm>
            <a:off x="548640" y="4754880"/>
            <a:ext cx="8046720" cy="502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754880"/>
            <a:ext cx="7680960" cy="502920"/>
          </a:xfrm>
          <a:prstGeom prst="rect">
            <a:avLst/>
          </a:prstGeom>
          <a:noFill/>
        </p:spPr>
        <p:txBody>
          <a:bodyPr wrap="square" anchor="ctr">
            <a:spAutoFit/>
          </a:bodyPr>
          <a:lstStyle/>
          <a:p>
            <a:pPr algn="l">
              <a:lnSpc>
                <a:spcPct val="100000"/>
              </a:lnSpc>
            </a:pPr>
            <a:r>
              <a:rPr sz="1800" b="1" i="0">
                <a:solidFill>
                  <a:srgbClr val="FFFFFF"/>
                </a:solidFill>
                <a:latin typeface="Arial"/>
              </a:rPr>
              <a:t>APP</a:t>
            </a:r>
          </a:p>
        </p:txBody>
      </p:sp>
      <p:sp>
        <p:nvSpPr>
          <p:cNvPr id="15" name="TextBox 14"/>
          <p:cNvSpPr txBox="1"/>
          <p:nvPr/>
        </p:nvSpPr>
        <p:spPr>
          <a:xfrm>
            <a:off x="822959" y="5303520"/>
            <a:ext cx="7589520" cy="411480"/>
          </a:xfrm>
          <a:prstGeom prst="rect">
            <a:avLst/>
          </a:prstGeom>
          <a:noFill/>
        </p:spPr>
        <p:txBody>
          <a:bodyPr wrap="square" anchor="ctr">
            <a:spAutoFit/>
          </a:bodyPr>
          <a:lstStyle/>
          <a:p>
            <a:pPr algn="l">
              <a:lnSpc>
                <a:spcPct val="100000"/>
              </a:lnSpc>
            </a:pPr>
            <a:r>
              <a:rPr sz="1600" b="0" i="0">
                <a:solidFill>
                  <a:srgbClr val="000000"/>
                </a:solidFill>
                <a:latin typeface="Arial"/>
              </a:rPr>
              <a:t>Practice Reported Speech.</a:t>
            </a:r>
          </a:p>
        </p:txBody>
      </p:sp>
      <p:sp>
        <p:nvSpPr>
          <p:cNvPr id="16" name="Rounded Rectangle 15"/>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Deadline: ____________</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2EFDA"/>
        </a:solidFill>
        <a:effectLst/>
      </p:bgPr>
    </p:bg>
    <p:spTree>
      <p:nvGrpSpPr>
        <p:cNvPr id="1" name=""/>
        <p:cNvGrpSpPr/>
        <p:nvPr/>
      </p:nvGrpSpPr>
      <p:grpSpPr/>
      <p:sp>
        <p:nvSpPr>
          <p:cNvPr id="2" name="TextBox 1"/>
          <p:cNvSpPr txBox="1"/>
          <p:nvPr/>
        </p:nvSpPr>
        <p:spPr>
          <a:xfrm>
            <a:off x="7589520" y="228600"/>
            <a:ext cx="1371600" cy="502920"/>
          </a:xfrm>
          <a:prstGeom prst="rect">
            <a:avLst/>
          </a:prstGeom>
          <a:noFill/>
        </p:spPr>
        <p:txBody>
          <a:bodyPr wrap="square" anchor="ctr">
            <a:spAutoFit/>
          </a:bodyPr>
          <a:lstStyle/>
          <a:p>
            <a:pPr algn="r">
              <a:lnSpc>
                <a:spcPct val="100000"/>
              </a:lnSpc>
            </a:pPr>
            <a:r>
              <a:rPr sz="1800" b="1" i="0">
                <a:solidFill>
                  <a:srgbClr val="3D1F5C"/>
                </a:solidFill>
                <a:latin typeface="Arial"/>
              </a:rPr>
              <a:t>29</a:t>
            </a:r>
          </a:p>
        </p:txBody>
      </p:sp>
      <p:sp>
        <p:nvSpPr>
          <p:cNvPr id="3" name="Rounded Rectangle 2"/>
          <p:cNvSpPr/>
          <p:nvPr/>
        </p:nvSpPr>
        <p:spPr>
          <a:xfrm>
            <a:off x="1371600" y="1371600"/>
            <a:ext cx="6400800" cy="164592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371600"/>
            <a:ext cx="6400800" cy="1645920"/>
          </a:xfrm>
          <a:prstGeom prst="rect">
            <a:avLst/>
          </a:prstGeom>
          <a:noFill/>
        </p:spPr>
        <p:txBody>
          <a:bodyPr wrap="square" anchor="ctr">
            <a:spAutoFit/>
          </a:bodyPr>
          <a:lstStyle/>
          <a:p>
            <a:pPr algn="ctr">
              <a:lnSpc>
                <a:spcPct val="100000"/>
              </a:lnSpc>
            </a:pPr>
            <a:r>
              <a:rPr sz="5400" b="1" i="0">
                <a:solidFill>
                  <a:srgbClr val="FFFFFF"/>
                </a:solidFill>
                <a:latin typeface="Arial"/>
              </a:rPr>
              <a:t>GRACIAS</a:t>
            </a:r>
          </a:p>
        </p:txBody>
      </p:sp>
      <p:sp>
        <p:nvSpPr>
          <p:cNvPr id="5" name="TextBox 4"/>
          <p:cNvSpPr txBox="1"/>
          <p:nvPr/>
        </p:nvSpPr>
        <p:spPr>
          <a:xfrm>
            <a:off x="548640" y="3291840"/>
            <a:ext cx="8046720" cy="731520"/>
          </a:xfrm>
          <a:prstGeom prst="rect">
            <a:avLst/>
          </a:prstGeom>
          <a:noFill/>
        </p:spPr>
        <p:txBody>
          <a:bodyPr wrap="square" anchor="ctr">
            <a:spAutoFit/>
          </a:bodyPr>
          <a:lstStyle/>
          <a:p>
            <a:pPr algn="ctr">
              <a:lnSpc>
                <a:spcPct val="100000"/>
              </a:lnSpc>
            </a:pPr>
            <a:r>
              <a:rPr sz="3600" b="1" i="0">
                <a:solidFill>
                  <a:srgbClr val="3D1F5C"/>
                </a:solidFill>
                <a:latin typeface="Arial"/>
              </a:rPr>
              <a:t>THANK YOU</a:t>
            </a:r>
          </a:p>
        </p:txBody>
      </p:sp>
      <p:sp>
        <p:nvSpPr>
          <p:cNvPr id="6" name="TextBox 5"/>
          <p:cNvSpPr txBox="1"/>
          <p:nvPr/>
        </p:nvSpPr>
        <p:spPr>
          <a:xfrm>
            <a:off x="548640" y="4206240"/>
            <a:ext cx="8046720" cy="548640"/>
          </a:xfrm>
          <a:prstGeom prst="rect">
            <a:avLst/>
          </a:prstGeom>
          <a:noFill/>
        </p:spPr>
        <p:txBody>
          <a:bodyPr wrap="square" anchor="ctr">
            <a:spAutoFit/>
          </a:bodyPr>
          <a:lstStyle/>
          <a:p>
            <a:pPr algn="ctr">
              <a:lnSpc>
                <a:spcPct val="100000"/>
              </a:lnSpc>
            </a:pPr>
            <a:r>
              <a:rPr sz="2200" b="0" i="1">
                <a:solidFill>
                  <a:srgbClr val="000000"/>
                </a:solidFill>
                <a:latin typeface="Arial"/>
              </a:rPr>
              <a:t>You've completed this class!</a:t>
            </a:r>
          </a:p>
        </p:txBody>
      </p:sp>
      <p:sp>
        <p:nvSpPr>
          <p:cNvPr id="7" name="Rounded Rectangle 6"/>
          <p:cNvSpPr/>
          <p:nvPr/>
        </p:nvSpPr>
        <p:spPr>
          <a:xfrm>
            <a:off x="1371600" y="5029200"/>
            <a:ext cx="6400800" cy="731520"/>
          </a:xfrm>
          <a:prstGeom prst="roundRect">
            <a:avLst/>
          </a:prstGeom>
          <a:solidFill>
            <a:srgbClr val="FF6B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5029200"/>
            <a:ext cx="6400800" cy="731520"/>
          </a:xfrm>
          <a:prstGeom prst="rect">
            <a:avLst/>
          </a:prstGeom>
          <a:noFill/>
        </p:spPr>
        <p:txBody>
          <a:bodyPr wrap="square" anchor="ctr">
            <a:spAutoFit/>
          </a:bodyPr>
          <a:lstStyle/>
          <a:p>
            <a:pPr algn="ctr">
              <a:lnSpc>
                <a:spcPct val="100000"/>
              </a:lnSpc>
            </a:pPr>
            <a:r>
              <a:rPr sz="2200" b="1" i="0">
                <a:solidFill>
                  <a:srgbClr val="FFFFFF"/>
                </a:solidFill>
                <a:latin typeface="Arial"/>
              </a:rPr>
              <a:t>NEXT: CLASS 16</a:t>
            </a:r>
          </a:p>
        </p:txBody>
      </p:sp>
      <p:sp>
        <p:nvSpPr>
          <p:cNvPr id="9" name="Rounded Rectangle 8"/>
          <p:cNvSpPr/>
          <p:nvPr/>
        </p:nvSpPr>
        <p:spPr>
          <a:xfrm>
            <a:off x="365760" y="5989320"/>
            <a:ext cx="8412480" cy="594360"/>
          </a:xfrm>
          <a:prstGeom prst="roundRect">
            <a:avLst/>
          </a:prstGeom>
          <a:solidFill>
            <a:srgbClr val="3D1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016752"/>
            <a:ext cx="8229600" cy="539496"/>
          </a:xfrm>
          <a:prstGeom prst="rect">
            <a:avLst/>
          </a:prstGeom>
          <a:noFill/>
        </p:spPr>
        <p:txBody>
          <a:bodyPr wrap="square" anchor="ctr">
            <a:spAutoFit/>
          </a:bodyPr>
          <a:lstStyle/>
          <a:p>
            <a:pPr algn="ctr">
              <a:lnSpc>
                <a:spcPct val="100000"/>
              </a:lnSpc>
            </a:pPr>
            <a:r>
              <a:rPr sz="1800" b="1" i="0">
                <a:solidFill>
                  <a:srgbClr val="FFFFFF"/>
                </a:solidFill>
                <a:latin typeface="Arial"/>
              </a:rPr>
              <a:t>Congratulations!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