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COVER (Class 16)</a:t>
            </a:r>
          </a:p>
          <a:p/>
          <a:p>
            <a:r>
              <a:rPr sz="1000">
                <a:latin typeface="Arial"/>
              </a:rPr>
              <a:t>ROLE : Ouverture.</a:t>
            </a:r>
          </a:p>
          <a:p>
            <a:r>
              <a:rPr sz="1000">
                <a:latin typeface="Arial"/>
              </a:rPr>
              <a:t>DUREE : 2 min</a:t>
            </a:r>
          </a:p>
          <a:p/>
          <a:p>
            <a:r>
              <a:rPr sz="1000">
                <a:latin typeface="Arial"/>
              </a:rPr>
              <a:t>SCRIPT :</a:t>
            </a:r>
          </a:p>
          <a:p>
            <a:r>
              <a:rPr sz="1000">
                <a:latin typeface="Arial"/>
              </a:rPr>
              <a:t>"Hello Ingrid! Welcome to Class 16.</a:t>
            </a:r>
          </a:p>
          <a:p>
            <a:r>
              <a:rPr sz="1000">
                <a:latin typeface="Arial"/>
              </a:rPr>
              <a:t>Today: Relative Clauses. Ready?"</a:t>
            </a:r>
          </a:p>
          <a:p/>
          <a:p>
            <a:r>
              <a:rPr sz="1000">
                <a:latin typeface="Arial"/>
              </a:rPr>
              <a:t>ACTIONS :</a:t>
            </a:r>
          </a:p>
          <a:p>
            <a:r>
              <a:rPr sz="1000">
                <a:latin typeface="Arial"/>
              </a:rPr>
              <a:t>- Verifier Teams</a:t>
            </a:r>
          </a:p>
          <a:p>
            <a:r>
              <a:rPr sz="1000">
                <a:latin typeface="Arial"/>
              </a:rPr>
              <a:t>- Small talk 30 sec</a:t>
            </a:r>
          </a:p>
          <a:p>
            <a:r>
              <a:rPr sz="1000">
                <a:latin typeface="Arial"/>
              </a:rPr>
              <a:t>- Annoncer 90 min</a:t>
            </a:r>
          </a:p>
          <a:p/>
          <a:p>
            <a:r>
              <a:rPr sz="1000">
                <a:latin typeface="Arial"/>
              </a:rPr>
              <a:t>TRANSITION : "Let's start with the objectives."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OVERVIEW</a:t>
            </a:r>
          </a:p>
          <a:p/>
          <a:p>
            <a:r>
              <a:rPr sz="1000">
                <a:latin typeface="Arial"/>
              </a:rPr>
              <a:t>ROLE : Annoncer objectifs.</a:t>
            </a:r>
          </a:p>
          <a:p>
            <a:r>
              <a:rPr sz="1000">
                <a:latin typeface="Arial"/>
              </a:rPr>
              <a:t>DUREE : 3 min</a:t>
            </a:r>
          </a:p>
          <a:p/>
          <a:p>
            <a:r>
              <a:rPr sz="1000">
                <a:latin typeface="Arial"/>
              </a:rPr>
              <a:t>Lire chaque objectif a voix haute.</a:t>
            </a:r>
          </a:p>
          <a:p>
            <a:r>
              <a:rPr sz="1000">
                <a:latin typeface="Arial"/>
              </a:rPr>
              <a:t>Ne pas expliquer.</a:t>
            </a:r>
          </a:p>
          <a:p/>
          <a:p>
            <a:r>
              <a:rPr sz="1000">
                <a:latin typeface="Arial"/>
              </a:rPr>
              <a:t>DIRE : "By the end of today, you will be able to do all of this."</a:t>
            </a:r>
          </a:p>
          <a:p/>
          <a:p>
            <a:r>
              <a:rPr sz="1000">
                <a:latin typeface="Arial"/>
              </a:rPr>
              <a:t>TRANSITION : "Let's start with a warm-up."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WARM-UP</a:t>
            </a:r>
          </a:p>
          <a:p/>
          <a:p>
            <a:r>
              <a:rPr sz="1000">
                <a:latin typeface="Arial"/>
              </a:rPr>
              <a:t>ROLE : Activer connaissances.</a:t>
            </a:r>
          </a:p>
          <a:p>
            <a:r>
              <a:rPr sz="1000">
                <a:latin typeface="Arial"/>
              </a:rPr>
              <a:t>DUREE : 10 min</a:t>
            </a:r>
          </a:p>
          <a:p/>
          <a:p>
            <a:r>
              <a:rPr sz="1000">
                <a:latin typeface="Arial"/>
              </a:rPr>
              <a:t>Ingrid repond ORALEMENT sans notes.</a:t>
            </a:r>
          </a:p>
          <a:p>
            <a:r>
              <a:rPr sz="1000">
                <a:latin typeface="Arial"/>
              </a:rPr>
              <a:t>Ne pas interrompre.</a:t>
            </a:r>
          </a:p>
          <a:p>
            <a:r>
              <a:rPr sz="1000">
                <a:latin typeface="Arial"/>
              </a:rPr>
              <a:t>Max 2-3 corrections apres.</a:t>
            </a:r>
          </a:p>
          <a:p/>
          <a:p>
            <a:r>
              <a:rPr sz="1000">
                <a:latin typeface="Arial"/>
              </a:rPr>
              <a:t>TRANSITION : "Now let's look at new vocabulary."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VOCABULARY (1)</a:t>
            </a:r>
          </a:p>
          <a:p/>
          <a:p>
            <a:r>
              <a:rPr sz="1000">
                <a:latin typeface="Arial"/>
              </a:rPr>
              <a:t>ROLE : Introduire vocabulaire.</a:t>
            </a:r>
          </a:p>
          <a:p>
            <a:r>
              <a:rPr sz="1000">
                <a:latin typeface="Arial"/>
              </a:rPr>
              <a:t>DUREE : 8-10 min</a:t>
            </a:r>
          </a:p>
          <a:p/>
          <a:p>
            <a:r>
              <a:rPr sz="1000">
                <a:latin typeface="Arial"/>
              </a:rPr>
              <a:t>METHODE 3 ETAPES :</a:t>
            </a:r>
          </a:p>
          <a:p>
            <a:r>
              <a:rPr sz="1000">
                <a:latin typeface="Arial"/>
              </a:rPr>
              <a:t>1. Prof dit -&gt; Ingrid repete</a:t>
            </a:r>
          </a:p>
          <a:p>
            <a:r>
              <a:rPr sz="1000">
                <a:latin typeface="Arial"/>
              </a:rPr>
              <a:t>2. Prof traduit</a:t>
            </a:r>
          </a:p>
          <a:p>
            <a:r>
              <a:rPr sz="1000">
                <a:latin typeface="Arial"/>
              </a:rPr>
              <a:t>3. Ingrid fait une phrase</a:t>
            </a:r>
          </a:p>
          <a:p/>
          <a:p>
            <a:r>
              <a:rPr sz="1000">
                <a:latin typeface="Arial"/>
              </a:rPr>
              <a:t>NE PAS lire simplement.</a:t>
            </a:r>
          </a:p>
          <a:p>
            <a:r>
              <a:rPr sz="1000">
                <a:latin typeface="Arial"/>
              </a:rPr>
              <a:t>TOUJOURS prononcer + utiliser.</a:t>
            </a:r>
          </a:p>
          <a:p/>
          <a:p>
            <a:r>
              <a:rPr sz="1000">
                <a:latin typeface="Arial"/>
              </a:rPr>
              <a:t>TRANSITION : "Now let's look at common mistakes."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VOCABULARY (2)</a:t>
            </a:r>
          </a:p>
          <a:p/>
          <a:p>
            <a:r>
              <a:rPr sz="1000">
                <a:latin typeface="Arial"/>
              </a:rPr>
              <a:t>ROLE : Introduire vocabulaire.</a:t>
            </a:r>
          </a:p>
          <a:p>
            <a:r>
              <a:rPr sz="1000">
                <a:latin typeface="Arial"/>
              </a:rPr>
              <a:t>DUREE : 8-10 min</a:t>
            </a:r>
          </a:p>
          <a:p/>
          <a:p>
            <a:r>
              <a:rPr sz="1000">
                <a:latin typeface="Arial"/>
              </a:rPr>
              <a:t>METHODE 3 ETAPES :</a:t>
            </a:r>
          </a:p>
          <a:p>
            <a:r>
              <a:rPr sz="1000">
                <a:latin typeface="Arial"/>
              </a:rPr>
              <a:t>1. Prof dit -&gt; Ingrid repete</a:t>
            </a:r>
          </a:p>
          <a:p>
            <a:r>
              <a:rPr sz="1000">
                <a:latin typeface="Arial"/>
              </a:rPr>
              <a:t>2. Prof traduit</a:t>
            </a:r>
          </a:p>
          <a:p>
            <a:r>
              <a:rPr sz="1000">
                <a:latin typeface="Arial"/>
              </a:rPr>
              <a:t>3. Ingrid fait une phrase</a:t>
            </a:r>
          </a:p>
          <a:p/>
          <a:p>
            <a:r>
              <a:rPr sz="1000">
                <a:latin typeface="Arial"/>
              </a:rPr>
              <a:t>NE PAS lire simplement.</a:t>
            </a:r>
          </a:p>
          <a:p>
            <a:r>
              <a:rPr sz="1000">
                <a:latin typeface="Arial"/>
              </a:rPr>
              <a:t>TOUJOURS prononcer + utiliser.</a:t>
            </a:r>
          </a:p>
          <a:p/>
          <a:p>
            <a:r>
              <a:rPr sz="1000">
                <a:latin typeface="Arial"/>
              </a:rPr>
              <a:t>TRANSITION : "Now let's look at common mistakes."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COMMON MISTAKES (Trampas)</a:t>
            </a:r>
          </a:p>
          <a:p/>
          <a:p>
            <a:r>
              <a:rPr sz="1000">
                <a:latin typeface="Arial"/>
              </a:rPr>
              <a:t>ROLE : Erreurs frequentes hispanophones.</a:t>
            </a:r>
          </a:p>
          <a:p>
            <a:r>
              <a:rPr sz="1000">
                <a:latin typeface="Arial"/>
              </a:rPr>
              <a:t>DUREE : 5 min</a:t>
            </a:r>
          </a:p>
          <a:p/>
          <a:p>
            <a:r>
              <a:rPr sz="1000">
                <a:latin typeface="Arial"/>
              </a:rPr>
              <a:t>METHODE :</a:t>
            </a:r>
          </a:p>
          <a:p>
            <a:r>
              <a:rPr sz="1000">
                <a:latin typeface="Arial"/>
              </a:rPr>
              <a:t>1. Montrer l'erreur (X)</a:t>
            </a:r>
          </a:p>
          <a:p>
            <a:r>
              <a:rPr sz="1000">
                <a:latin typeface="Arial"/>
              </a:rPr>
              <a:t>2. Demander : "Esta correcto?"</a:t>
            </a:r>
          </a:p>
          <a:p>
            <a:r>
              <a:rPr sz="1000">
                <a:latin typeface="Arial"/>
              </a:rPr>
              <a:t>3. Ingrid corrige</a:t>
            </a:r>
          </a:p>
          <a:p>
            <a:r>
              <a:rPr sz="1000">
                <a:latin typeface="Arial"/>
              </a:rPr>
              <a:t>4. Montrer la correction (OK)</a:t>
            </a:r>
          </a:p>
          <a:p>
            <a:r>
              <a:rPr sz="1000">
                <a:latin typeface="Arial"/>
              </a:rPr>
              <a:t>5. Lire l'explication en espagnol</a:t>
            </a:r>
          </a:p>
          <a:p>
            <a:r>
              <a:rPr sz="1000">
                <a:latin typeface="Arial"/>
              </a:rPr>
              <a:t>6. Repetir 3x la forme correcte</a:t>
            </a:r>
          </a:p>
          <a:p/>
          <a:p>
            <a:r>
              <a:rPr sz="1000">
                <a:latin typeface="Arial"/>
              </a:rPr>
              <a:t>FRASES UTILES :</a:t>
            </a:r>
          </a:p>
          <a:p>
            <a:r>
              <a:rPr sz="1000">
                <a:latin typeface="Arial"/>
              </a:rPr>
              <a:t>- "Esta es una trampa muy comun."</a:t>
            </a:r>
          </a:p>
          <a:p>
            <a:r>
              <a:rPr sz="1000">
                <a:latin typeface="Arial"/>
              </a:rPr>
              <a:t>- "Cuidado con esta palabra."</a:t>
            </a:r>
          </a:p>
          <a:p>
            <a:r>
              <a:rPr sz="1000">
                <a:latin typeface="Arial"/>
              </a:rPr>
              <a:t>- "Repite conmigo 3 veces."</a:t>
            </a:r>
          </a:p>
          <a:p/>
          <a:p>
            <a:r>
              <a:rPr sz="1000">
                <a:latin typeface="Arial"/>
              </a:rPr>
              <a:t>NE PAS juger les erreurs.</a:t>
            </a:r>
          </a:p>
          <a:p>
            <a:r>
              <a:rPr sz="1000">
                <a:latin typeface="Arial"/>
              </a:rPr>
              <a:t>ENCOURAGER : "Es normal, todos lo hacemos."</a:t>
            </a:r>
          </a:p>
          <a:p/>
          <a:p>
            <a:r>
              <a:rPr sz="1000">
                <a:latin typeface="Arial"/>
              </a:rPr>
              <a:t>TRANSITION : "Ahora veamos expresiones completas."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EXPRESSIONS &amp; YOUR TURN</a:t>
            </a:r>
          </a:p>
          <a:p/>
          <a:p>
            <a:r>
              <a:rPr sz="1000">
                <a:latin typeface="Arial"/>
              </a:rPr>
              <a:t>ROLE : Blocs lexicaux + production.</a:t>
            </a:r>
          </a:p>
          <a:p>
            <a:r>
              <a:rPr sz="1000">
                <a:latin typeface="Arial"/>
              </a:rPr>
              <a:t>DUREE : 8 min</a:t>
            </a:r>
          </a:p>
          <a:p/>
          <a:p>
            <a:r>
              <a:rPr sz="1000">
                <a:latin typeface="Arial"/>
              </a:rPr>
              <a:t>PARTIE 1 - EXPRESSIONS (4 min) :</a:t>
            </a:r>
          </a:p>
          <a:p>
            <a:r>
              <a:rPr sz="1000">
                <a:latin typeface="Arial"/>
              </a:rPr>
              <a:t>1. Lire chaque expression</a:t>
            </a:r>
          </a:p>
          <a:p>
            <a:r>
              <a:rPr sz="1000">
                <a:latin typeface="Arial"/>
              </a:rPr>
              <a:t>2. Ingrid repete</a:t>
            </a:r>
          </a:p>
          <a:p>
            <a:r>
              <a:rPr sz="1000">
                <a:latin typeface="Arial"/>
              </a:rPr>
              <a:t>3. Demander : "When do you use this?"</a:t>
            </a:r>
          </a:p>
          <a:p/>
          <a:p>
            <a:r>
              <a:rPr sz="1000">
                <a:latin typeface="Arial"/>
              </a:rPr>
              <a:t>PARTIE 2 - YOUR TURN (4 min) :</a:t>
            </a:r>
          </a:p>
          <a:p>
            <a:r>
              <a:rPr sz="1000">
                <a:latin typeface="Arial"/>
              </a:rPr>
              <a:t>1. Lire la consigne</a:t>
            </a:r>
          </a:p>
          <a:p>
            <a:r>
              <a:rPr sz="1000">
                <a:latin typeface="Arial"/>
              </a:rPr>
              <a:t>2. Ingrid ecrit 1 phrase par mot</a:t>
            </a:r>
          </a:p>
          <a:p>
            <a:r>
              <a:rPr sz="1000">
                <a:latin typeface="Arial"/>
              </a:rPr>
              <a:t>3. Verifier oralement</a:t>
            </a:r>
          </a:p>
          <a:p/>
          <a:p>
            <a:r>
              <a:rPr sz="1000">
                <a:latin typeface="Arial"/>
              </a:rPr>
              <a:t>NE PAS ecrire a sa place.</a:t>
            </a:r>
          </a:p>
          <a:p>
            <a:r>
              <a:rPr sz="1000">
                <a:latin typeface="Arial"/>
              </a:rPr>
              <a:t>CORRIGER 2-3 erreurs max.</a:t>
            </a:r>
          </a:p>
          <a:p/>
          <a:p>
            <a:r>
              <a:rPr sz="1000">
                <a:latin typeface="Arial"/>
              </a:rPr>
              <a:t>TRANSITION : "Now let's look at the grammar."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GRAMMAR 1.1 : Who/Which/Where</a:t>
            </a:r>
          </a:p>
          <a:p/>
          <a:p>
            <a:r>
              <a:rPr sz="1000">
                <a:latin typeface="Arial"/>
              </a:rPr>
              <a:t>ROLE : Presenter structure.</a:t>
            </a:r>
          </a:p>
          <a:p>
            <a:r>
              <a:rPr sz="1000">
                <a:latin typeface="Arial"/>
              </a:rPr>
              <a:t>DUREE : 10-15 min</a:t>
            </a:r>
          </a:p>
          <a:p/>
          <a:p>
            <a:r>
              <a:rPr sz="1000">
                <a:latin typeface="Arial"/>
              </a:rPr>
              <a:t>APPROCHE DECOUVERTE :</a:t>
            </a:r>
          </a:p>
          <a:p>
            <a:r>
              <a:rPr sz="1000">
                <a:latin typeface="Arial"/>
              </a:rPr>
              <a:t>1. Montrer exemples</a:t>
            </a:r>
          </a:p>
          <a:p>
            <a:r>
              <a:rPr sz="1000">
                <a:latin typeface="Arial"/>
              </a:rPr>
              <a:t>2. Demander : "What pattern?"</a:t>
            </a:r>
          </a:p>
          <a:p>
            <a:r>
              <a:rPr sz="1000">
                <a:latin typeface="Arial"/>
              </a:rPr>
              <a:t>3. Laisser deviner</a:t>
            </a:r>
          </a:p>
          <a:p>
            <a:r>
              <a:rPr sz="1000">
                <a:latin typeface="Arial"/>
              </a:rPr>
              <a:t>4. Confirmer</a:t>
            </a:r>
          </a:p>
          <a:p>
            <a:r>
              <a:rPr sz="1000">
                <a:latin typeface="Arial"/>
              </a:rPr>
              <a:t>5. Exemples personnels</a:t>
            </a:r>
          </a:p>
          <a:p/>
          <a:p>
            <a:r>
              <a:rPr sz="1000">
                <a:latin typeface="Arial"/>
              </a:rPr>
              <a:t>POINT : Non-defining clauses usan comas.</a:t>
            </a:r>
          </a:p>
          <a:p/>
          <a:p>
            <a:r>
              <a:rPr sz="1000">
                <a:latin typeface="Arial"/>
              </a:rPr>
              <a:t>MAX 2-3 corrections.</a:t>
            </a:r>
          </a:p>
          <a:p/>
          <a:p>
            <a:r>
              <a:rPr sz="1000">
                <a:latin typeface="Arial"/>
              </a:rPr>
              <a:t>TRANSITION : "Now let's practice."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GRAMMAR 1.1 : Who/Which/Where</a:t>
            </a:r>
          </a:p>
          <a:p/>
          <a:p>
            <a:r>
              <a:rPr sz="1000">
                <a:latin typeface="Arial"/>
              </a:rPr>
              <a:t>ROLE : Presenter structure.</a:t>
            </a:r>
          </a:p>
          <a:p>
            <a:r>
              <a:rPr sz="1000">
                <a:latin typeface="Arial"/>
              </a:rPr>
              <a:t>DUREE : 10-15 min</a:t>
            </a:r>
          </a:p>
          <a:p/>
          <a:p>
            <a:r>
              <a:rPr sz="1000">
                <a:latin typeface="Arial"/>
              </a:rPr>
              <a:t>APPROCHE DECOUVERTE :</a:t>
            </a:r>
          </a:p>
          <a:p>
            <a:r>
              <a:rPr sz="1000">
                <a:latin typeface="Arial"/>
              </a:rPr>
              <a:t>1. Montrer exemples</a:t>
            </a:r>
          </a:p>
          <a:p>
            <a:r>
              <a:rPr sz="1000">
                <a:latin typeface="Arial"/>
              </a:rPr>
              <a:t>2. Demander : "What pattern?"</a:t>
            </a:r>
          </a:p>
          <a:p>
            <a:r>
              <a:rPr sz="1000">
                <a:latin typeface="Arial"/>
              </a:rPr>
              <a:t>3. Laisser deviner</a:t>
            </a:r>
          </a:p>
          <a:p>
            <a:r>
              <a:rPr sz="1000">
                <a:latin typeface="Arial"/>
              </a:rPr>
              <a:t>4. Confirmer</a:t>
            </a:r>
          </a:p>
          <a:p>
            <a:r>
              <a:rPr sz="1000">
                <a:latin typeface="Arial"/>
              </a:rPr>
              <a:t>5. Exemples personnels</a:t>
            </a:r>
          </a:p>
          <a:p/>
          <a:p>
            <a:r>
              <a:rPr sz="1000">
                <a:latin typeface="Arial"/>
              </a:rPr>
              <a:t>POINT : Non-defining clauses usan comas.</a:t>
            </a:r>
          </a:p>
          <a:p/>
          <a:p>
            <a:r>
              <a:rPr sz="1000">
                <a:latin typeface="Arial"/>
              </a:rPr>
              <a:t>MAX 2-3 corrections.</a:t>
            </a:r>
          </a:p>
          <a:p/>
          <a:p>
            <a:r>
              <a:rPr sz="1000">
                <a:latin typeface="Arial"/>
              </a:rPr>
              <a:t>TRANSITION : "Now let's practice."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GRAMMAR 1.1 : Who/Which/Where</a:t>
            </a:r>
          </a:p>
          <a:p/>
          <a:p>
            <a:r>
              <a:rPr sz="1000">
                <a:latin typeface="Arial"/>
              </a:rPr>
              <a:t>ROLE : Presenter structure.</a:t>
            </a:r>
          </a:p>
          <a:p>
            <a:r>
              <a:rPr sz="1000">
                <a:latin typeface="Arial"/>
              </a:rPr>
              <a:t>DUREE : 10-15 min</a:t>
            </a:r>
          </a:p>
          <a:p/>
          <a:p>
            <a:r>
              <a:rPr sz="1000">
                <a:latin typeface="Arial"/>
              </a:rPr>
              <a:t>APPROCHE DECOUVERTE :</a:t>
            </a:r>
          </a:p>
          <a:p>
            <a:r>
              <a:rPr sz="1000">
                <a:latin typeface="Arial"/>
              </a:rPr>
              <a:t>1. Montrer exemples</a:t>
            </a:r>
          </a:p>
          <a:p>
            <a:r>
              <a:rPr sz="1000">
                <a:latin typeface="Arial"/>
              </a:rPr>
              <a:t>2. Demander : "What pattern?"</a:t>
            </a:r>
          </a:p>
          <a:p>
            <a:r>
              <a:rPr sz="1000">
                <a:latin typeface="Arial"/>
              </a:rPr>
              <a:t>3. Laisser deviner</a:t>
            </a:r>
          </a:p>
          <a:p>
            <a:r>
              <a:rPr sz="1000">
                <a:latin typeface="Arial"/>
              </a:rPr>
              <a:t>4. Confirmer</a:t>
            </a:r>
          </a:p>
          <a:p>
            <a:r>
              <a:rPr sz="1000">
                <a:latin typeface="Arial"/>
              </a:rPr>
              <a:t>5. Exemples personnels</a:t>
            </a:r>
          </a:p>
          <a:p/>
          <a:p>
            <a:r>
              <a:rPr sz="1000">
                <a:latin typeface="Arial"/>
              </a:rPr>
              <a:t>POINT : Non-defining clauses usan comas.</a:t>
            </a:r>
          </a:p>
          <a:p/>
          <a:p>
            <a:r>
              <a:rPr sz="1000">
                <a:latin typeface="Arial"/>
              </a:rPr>
              <a:t>MAX 2-3 corrections.</a:t>
            </a:r>
          </a:p>
          <a:p/>
          <a:p>
            <a:r>
              <a:rPr sz="1000">
                <a:latin typeface="Arial"/>
              </a:rPr>
              <a:t>TRANSITION : "Now let's practice."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GRAMMAR 1.1 : Who/Which/Where</a:t>
            </a:r>
          </a:p>
          <a:p/>
          <a:p>
            <a:r>
              <a:rPr sz="1000">
                <a:latin typeface="Arial"/>
              </a:rPr>
              <a:t>ROLE : Presenter structure.</a:t>
            </a:r>
          </a:p>
          <a:p>
            <a:r>
              <a:rPr sz="1000">
                <a:latin typeface="Arial"/>
              </a:rPr>
              <a:t>DUREE : 10-15 min</a:t>
            </a:r>
          </a:p>
          <a:p/>
          <a:p>
            <a:r>
              <a:rPr sz="1000">
                <a:latin typeface="Arial"/>
              </a:rPr>
              <a:t>APPROCHE DECOUVERTE :</a:t>
            </a:r>
          </a:p>
          <a:p>
            <a:r>
              <a:rPr sz="1000">
                <a:latin typeface="Arial"/>
              </a:rPr>
              <a:t>1. Montrer exemples</a:t>
            </a:r>
          </a:p>
          <a:p>
            <a:r>
              <a:rPr sz="1000">
                <a:latin typeface="Arial"/>
              </a:rPr>
              <a:t>2. Demander : "What pattern?"</a:t>
            </a:r>
          </a:p>
          <a:p>
            <a:r>
              <a:rPr sz="1000">
                <a:latin typeface="Arial"/>
              </a:rPr>
              <a:t>3. Laisser deviner</a:t>
            </a:r>
          </a:p>
          <a:p>
            <a:r>
              <a:rPr sz="1000">
                <a:latin typeface="Arial"/>
              </a:rPr>
              <a:t>4. Confirmer</a:t>
            </a:r>
          </a:p>
          <a:p>
            <a:r>
              <a:rPr sz="1000">
                <a:latin typeface="Arial"/>
              </a:rPr>
              <a:t>5. Exemples personnels</a:t>
            </a:r>
          </a:p>
          <a:p/>
          <a:p>
            <a:r>
              <a:rPr sz="1000">
                <a:latin typeface="Arial"/>
              </a:rPr>
              <a:t>POINT : Non-defining clauses usan comas.</a:t>
            </a:r>
          </a:p>
          <a:p/>
          <a:p>
            <a:r>
              <a:rPr sz="1000">
                <a:latin typeface="Arial"/>
              </a:rPr>
              <a:t>MAX 2-3 corrections.</a:t>
            </a:r>
          </a:p>
          <a:p/>
          <a:p>
            <a:r>
              <a:rPr sz="1000">
                <a:latin typeface="Arial"/>
              </a:rPr>
              <a:t>TRANSITION : "Now let's practice."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GRAMMAR 1.1 : Who/Which/Where</a:t>
            </a:r>
          </a:p>
          <a:p/>
          <a:p>
            <a:r>
              <a:rPr sz="1000">
                <a:latin typeface="Arial"/>
              </a:rPr>
              <a:t>ROLE : Presenter structure.</a:t>
            </a:r>
          </a:p>
          <a:p>
            <a:r>
              <a:rPr sz="1000">
                <a:latin typeface="Arial"/>
              </a:rPr>
              <a:t>DUREE : 10-15 min</a:t>
            </a:r>
          </a:p>
          <a:p/>
          <a:p>
            <a:r>
              <a:rPr sz="1000">
                <a:latin typeface="Arial"/>
              </a:rPr>
              <a:t>APPROCHE DECOUVERTE :</a:t>
            </a:r>
          </a:p>
          <a:p>
            <a:r>
              <a:rPr sz="1000">
                <a:latin typeface="Arial"/>
              </a:rPr>
              <a:t>1. Montrer exemples</a:t>
            </a:r>
          </a:p>
          <a:p>
            <a:r>
              <a:rPr sz="1000">
                <a:latin typeface="Arial"/>
              </a:rPr>
              <a:t>2. Demander : "What pattern?"</a:t>
            </a:r>
          </a:p>
          <a:p>
            <a:r>
              <a:rPr sz="1000">
                <a:latin typeface="Arial"/>
              </a:rPr>
              <a:t>3. Laisser deviner</a:t>
            </a:r>
          </a:p>
          <a:p>
            <a:r>
              <a:rPr sz="1000">
                <a:latin typeface="Arial"/>
              </a:rPr>
              <a:t>4. Confirmer</a:t>
            </a:r>
          </a:p>
          <a:p>
            <a:r>
              <a:rPr sz="1000">
                <a:latin typeface="Arial"/>
              </a:rPr>
              <a:t>5. Exemples personnels</a:t>
            </a:r>
          </a:p>
          <a:p/>
          <a:p>
            <a:r>
              <a:rPr sz="1000">
                <a:latin typeface="Arial"/>
              </a:rPr>
              <a:t>POINT : Non-defining clauses usan comas.</a:t>
            </a:r>
          </a:p>
          <a:p/>
          <a:p>
            <a:r>
              <a:rPr sz="1000">
                <a:latin typeface="Arial"/>
              </a:rPr>
              <a:t>MAX 2-3 corrections.</a:t>
            </a:r>
          </a:p>
          <a:p/>
          <a:p>
            <a:r>
              <a:rPr sz="1000">
                <a:latin typeface="Arial"/>
              </a:rPr>
              <a:t>TRANSITION : "Now let's practice."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GRAMMAR 1.1 : Who/Which/Where</a:t>
            </a:r>
          </a:p>
          <a:p/>
          <a:p>
            <a:r>
              <a:rPr sz="1000">
                <a:latin typeface="Arial"/>
              </a:rPr>
              <a:t>ROLE : Presenter structure.</a:t>
            </a:r>
          </a:p>
          <a:p>
            <a:r>
              <a:rPr sz="1000">
                <a:latin typeface="Arial"/>
              </a:rPr>
              <a:t>DUREE : 10-15 min</a:t>
            </a:r>
          </a:p>
          <a:p/>
          <a:p>
            <a:r>
              <a:rPr sz="1000">
                <a:latin typeface="Arial"/>
              </a:rPr>
              <a:t>APPROCHE DECOUVERTE :</a:t>
            </a:r>
          </a:p>
          <a:p>
            <a:r>
              <a:rPr sz="1000">
                <a:latin typeface="Arial"/>
              </a:rPr>
              <a:t>1. Montrer exemples</a:t>
            </a:r>
          </a:p>
          <a:p>
            <a:r>
              <a:rPr sz="1000">
                <a:latin typeface="Arial"/>
              </a:rPr>
              <a:t>2. Demander : "What pattern?"</a:t>
            </a:r>
          </a:p>
          <a:p>
            <a:r>
              <a:rPr sz="1000">
                <a:latin typeface="Arial"/>
              </a:rPr>
              <a:t>3. Laisser deviner</a:t>
            </a:r>
          </a:p>
          <a:p>
            <a:r>
              <a:rPr sz="1000">
                <a:latin typeface="Arial"/>
              </a:rPr>
              <a:t>4. Confirmer</a:t>
            </a:r>
          </a:p>
          <a:p>
            <a:r>
              <a:rPr sz="1000">
                <a:latin typeface="Arial"/>
              </a:rPr>
              <a:t>5. Exemples personnels</a:t>
            </a:r>
          </a:p>
          <a:p/>
          <a:p>
            <a:r>
              <a:rPr sz="1000">
                <a:latin typeface="Arial"/>
              </a:rPr>
              <a:t>POINT : Non-defining clauses usan comas.</a:t>
            </a:r>
          </a:p>
          <a:p/>
          <a:p>
            <a:r>
              <a:rPr sz="1000">
                <a:latin typeface="Arial"/>
              </a:rPr>
              <a:t>MAX 2-3 corrections.</a:t>
            </a:r>
          </a:p>
          <a:p/>
          <a:p>
            <a:r>
              <a:rPr sz="1000">
                <a:latin typeface="Arial"/>
              </a:rPr>
              <a:t>TRANSITION : "Now let's practice."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GRAMMAR 1.1 : Who/Which/Where</a:t>
            </a:r>
          </a:p>
          <a:p/>
          <a:p>
            <a:r>
              <a:rPr sz="1000">
                <a:latin typeface="Arial"/>
              </a:rPr>
              <a:t>ROLE : Presenter structure.</a:t>
            </a:r>
          </a:p>
          <a:p>
            <a:r>
              <a:rPr sz="1000">
                <a:latin typeface="Arial"/>
              </a:rPr>
              <a:t>DUREE : 10-15 min</a:t>
            </a:r>
          </a:p>
          <a:p/>
          <a:p>
            <a:r>
              <a:rPr sz="1000">
                <a:latin typeface="Arial"/>
              </a:rPr>
              <a:t>APPROCHE DECOUVERTE :</a:t>
            </a:r>
          </a:p>
          <a:p>
            <a:r>
              <a:rPr sz="1000">
                <a:latin typeface="Arial"/>
              </a:rPr>
              <a:t>1. Montrer exemples</a:t>
            </a:r>
          </a:p>
          <a:p>
            <a:r>
              <a:rPr sz="1000">
                <a:latin typeface="Arial"/>
              </a:rPr>
              <a:t>2. Demander : "What pattern?"</a:t>
            </a:r>
          </a:p>
          <a:p>
            <a:r>
              <a:rPr sz="1000">
                <a:latin typeface="Arial"/>
              </a:rPr>
              <a:t>3. Laisser deviner</a:t>
            </a:r>
          </a:p>
          <a:p>
            <a:r>
              <a:rPr sz="1000">
                <a:latin typeface="Arial"/>
              </a:rPr>
              <a:t>4. Confirmer</a:t>
            </a:r>
          </a:p>
          <a:p>
            <a:r>
              <a:rPr sz="1000">
                <a:latin typeface="Arial"/>
              </a:rPr>
              <a:t>5. Exemples personnels</a:t>
            </a:r>
          </a:p>
          <a:p/>
          <a:p>
            <a:r>
              <a:rPr sz="1000">
                <a:latin typeface="Arial"/>
              </a:rPr>
              <a:t>POINT : Non-defining clauses usan comas.</a:t>
            </a:r>
          </a:p>
          <a:p/>
          <a:p>
            <a:r>
              <a:rPr sz="1000">
                <a:latin typeface="Arial"/>
              </a:rPr>
              <a:t>MAX 2-3 corrections.</a:t>
            </a:r>
          </a:p>
          <a:p/>
          <a:p>
            <a:r>
              <a:rPr sz="1000">
                <a:latin typeface="Arial"/>
              </a:rPr>
              <a:t>TRANSITION : "Now let's practice."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GRAMMAR 1.1 : Who/Which/Where</a:t>
            </a:r>
          </a:p>
          <a:p/>
          <a:p>
            <a:r>
              <a:rPr sz="1000">
                <a:latin typeface="Arial"/>
              </a:rPr>
              <a:t>ROLE : Presenter structure.</a:t>
            </a:r>
          </a:p>
          <a:p>
            <a:r>
              <a:rPr sz="1000">
                <a:latin typeface="Arial"/>
              </a:rPr>
              <a:t>DUREE : 10-15 min</a:t>
            </a:r>
          </a:p>
          <a:p/>
          <a:p>
            <a:r>
              <a:rPr sz="1000">
                <a:latin typeface="Arial"/>
              </a:rPr>
              <a:t>APPROCHE DECOUVERTE :</a:t>
            </a:r>
          </a:p>
          <a:p>
            <a:r>
              <a:rPr sz="1000">
                <a:latin typeface="Arial"/>
              </a:rPr>
              <a:t>1. Montrer exemples</a:t>
            </a:r>
          </a:p>
          <a:p>
            <a:r>
              <a:rPr sz="1000">
                <a:latin typeface="Arial"/>
              </a:rPr>
              <a:t>2. Demander : "What pattern?"</a:t>
            </a:r>
          </a:p>
          <a:p>
            <a:r>
              <a:rPr sz="1000">
                <a:latin typeface="Arial"/>
              </a:rPr>
              <a:t>3. Laisser deviner</a:t>
            </a:r>
          </a:p>
          <a:p>
            <a:r>
              <a:rPr sz="1000">
                <a:latin typeface="Arial"/>
              </a:rPr>
              <a:t>4. Confirmer</a:t>
            </a:r>
          </a:p>
          <a:p>
            <a:r>
              <a:rPr sz="1000">
                <a:latin typeface="Arial"/>
              </a:rPr>
              <a:t>5. Exemples personnels</a:t>
            </a:r>
          </a:p>
          <a:p/>
          <a:p>
            <a:r>
              <a:rPr sz="1000">
                <a:latin typeface="Arial"/>
              </a:rPr>
              <a:t>POINT : Non-defining clauses usan comas.</a:t>
            </a:r>
          </a:p>
          <a:p/>
          <a:p>
            <a:r>
              <a:rPr sz="1000">
                <a:latin typeface="Arial"/>
              </a:rPr>
              <a:t>MAX 2-3 corrections.</a:t>
            </a:r>
          </a:p>
          <a:p/>
          <a:p>
            <a:r>
              <a:rPr sz="1000">
                <a:latin typeface="Arial"/>
              </a:rPr>
              <a:t>TRANSITION : "Now let's practice."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GRAMMAR 1.1 : Who/Which/Where</a:t>
            </a:r>
          </a:p>
          <a:p/>
          <a:p>
            <a:r>
              <a:rPr sz="1000">
                <a:latin typeface="Arial"/>
              </a:rPr>
              <a:t>ROLE : Presenter structure.</a:t>
            </a:r>
          </a:p>
          <a:p>
            <a:r>
              <a:rPr sz="1000">
                <a:latin typeface="Arial"/>
              </a:rPr>
              <a:t>DUREE : 10-15 min</a:t>
            </a:r>
          </a:p>
          <a:p/>
          <a:p>
            <a:r>
              <a:rPr sz="1000">
                <a:latin typeface="Arial"/>
              </a:rPr>
              <a:t>APPROCHE DECOUVERTE :</a:t>
            </a:r>
          </a:p>
          <a:p>
            <a:r>
              <a:rPr sz="1000">
                <a:latin typeface="Arial"/>
              </a:rPr>
              <a:t>1. Montrer exemples</a:t>
            </a:r>
          </a:p>
          <a:p>
            <a:r>
              <a:rPr sz="1000">
                <a:latin typeface="Arial"/>
              </a:rPr>
              <a:t>2. Demander : "What pattern?"</a:t>
            </a:r>
          </a:p>
          <a:p>
            <a:r>
              <a:rPr sz="1000">
                <a:latin typeface="Arial"/>
              </a:rPr>
              <a:t>3. Laisser deviner</a:t>
            </a:r>
          </a:p>
          <a:p>
            <a:r>
              <a:rPr sz="1000">
                <a:latin typeface="Arial"/>
              </a:rPr>
              <a:t>4. Confirmer</a:t>
            </a:r>
          </a:p>
          <a:p>
            <a:r>
              <a:rPr sz="1000">
                <a:latin typeface="Arial"/>
              </a:rPr>
              <a:t>5. Exemples personnels</a:t>
            </a:r>
          </a:p>
          <a:p/>
          <a:p>
            <a:r>
              <a:rPr sz="1000">
                <a:latin typeface="Arial"/>
              </a:rPr>
              <a:t>POINT : Non-defining clauses usan comas.</a:t>
            </a:r>
          </a:p>
          <a:p/>
          <a:p>
            <a:r>
              <a:rPr sz="1000">
                <a:latin typeface="Arial"/>
              </a:rPr>
              <a:t>MAX 2-3 corrections.</a:t>
            </a:r>
          </a:p>
          <a:p/>
          <a:p>
            <a:r>
              <a:rPr sz="1000">
                <a:latin typeface="Arial"/>
              </a:rPr>
              <a:t>TRANSITION : "Now let's practice."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SOUND : Rhythm</a:t>
            </a:r>
          </a:p>
          <a:p/>
          <a:p>
            <a:r>
              <a:rPr sz="1000">
                <a:latin typeface="Arial"/>
              </a:rPr>
              <a:t>ROLE : Focus phonetique.</a:t>
            </a:r>
          </a:p>
          <a:p>
            <a:r>
              <a:rPr sz="1000">
                <a:latin typeface="Arial"/>
              </a:rPr>
              <a:t>DUREE : 5 min</a:t>
            </a:r>
          </a:p>
          <a:p/>
          <a:p>
            <a:r>
              <a:rPr sz="1000">
                <a:latin typeface="Arial"/>
              </a:rPr>
              <a:t>METHODE :</a:t>
            </a:r>
          </a:p>
          <a:p>
            <a:r>
              <a:rPr sz="1000">
                <a:latin typeface="Arial"/>
              </a:rPr>
              <a:t>1. ECOUTER : prof prononce</a:t>
            </a:r>
          </a:p>
          <a:p>
            <a:r>
              <a:rPr sz="1000">
                <a:latin typeface="Arial"/>
              </a:rPr>
              <a:t>2. DISTINGUER : Ingrid identifie</a:t>
            </a:r>
          </a:p>
          <a:p>
            <a:r>
              <a:rPr sz="1000">
                <a:latin typeface="Arial"/>
              </a:rPr>
              <a:t>3. REPETER</a:t>
            </a:r>
          </a:p>
          <a:p/>
          <a:p>
            <a:r>
              <a:rPr sz="1000">
                <a:latin typeface="Arial"/>
              </a:rPr>
              <a:t>NE PAS enseigner theorie.</a:t>
            </a:r>
          </a:p>
          <a:p/>
          <a:p>
            <a:r>
              <a:rPr sz="1000">
                <a:latin typeface="Arial"/>
              </a:rPr>
              <a:t>TRANSITION : "Now let's practice in words."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PRONUNCIATION</a:t>
            </a:r>
          </a:p>
          <a:p/>
          <a:p>
            <a:r>
              <a:rPr sz="1000">
                <a:latin typeface="Arial"/>
              </a:rPr>
              <a:t>ROLE : Pratique active.</a:t>
            </a:r>
          </a:p>
          <a:p>
            <a:r>
              <a:rPr sz="1000">
                <a:latin typeface="Arial"/>
              </a:rPr>
              <a:t>DUREE : 5 min</a:t>
            </a:r>
          </a:p>
          <a:p/>
          <a:p>
            <a:r>
              <a:rPr sz="1000">
                <a:latin typeface="Arial"/>
              </a:rPr>
              <a:t>Chaque mot repete 5 fois.</a:t>
            </a:r>
          </a:p>
          <a:p>
            <a:r>
              <a:rPr sz="1000">
                <a:latin typeface="Arial"/>
              </a:rPr>
              <a:t>Prof corrige en temps reel.</a:t>
            </a:r>
          </a:p>
          <a:p>
            <a:r>
              <a:rPr sz="1000">
                <a:latin typeface="Arial"/>
              </a:rPr>
              <a:t>Enregistrer si possible.</a:t>
            </a:r>
          </a:p>
          <a:p/>
          <a:p>
            <a:r>
              <a:rPr sz="1000">
                <a:latin typeface="Arial"/>
              </a:rPr>
              <a:t>TRANSITION : "Now let's practice with exercises."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WARM-UP</a:t>
            </a:r>
          </a:p>
          <a:p/>
          <a:p>
            <a:r>
              <a:rPr sz="1000">
                <a:latin typeface="Arial"/>
              </a:rPr>
              <a:t>ROLE : Activer connaissances.</a:t>
            </a:r>
          </a:p>
          <a:p>
            <a:r>
              <a:rPr sz="1000">
                <a:latin typeface="Arial"/>
              </a:rPr>
              <a:t>DUREE : 10 min</a:t>
            </a:r>
          </a:p>
          <a:p/>
          <a:p>
            <a:r>
              <a:rPr sz="1000">
                <a:latin typeface="Arial"/>
              </a:rPr>
              <a:t>Ingrid repond ORALEMENT sans notes.</a:t>
            </a:r>
          </a:p>
          <a:p>
            <a:r>
              <a:rPr sz="1000">
                <a:latin typeface="Arial"/>
              </a:rPr>
              <a:t>Ne pas interrompre.</a:t>
            </a:r>
          </a:p>
          <a:p>
            <a:r>
              <a:rPr sz="1000">
                <a:latin typeface="Arial"/>
              </a:rPr>
              <a:t>Max 2-3 corrections apres.</a:t>
            </a:r>
          </a:p>
          <a:p/>
          <a:p>
            <a:r>
              <a:rPr sz="1000">
                <a:latin typeface="Arial"/>
              </a:rPr>
              <a:t>TRANSITION : "Now let's look at new vocabulary."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WARM-UP</a:t>
            </a:r>
          </a:p>
          <a:p/>
          <a:p>
            <a:r>
              <a:rPr sz="1000">
                <a:latin typeface="Arial"/>
              </a:rPr>
              <a:t>ROLE : Activer connaissances.</a:t>
            </a:r>
          </a:p>
          <a:p>
            <a:r>
              <a:rPr sz="1000">
                <a:latin typeface="Arial"/>
              </a:rPr>
              <a:t>DUREE : 10 min</a:t>
            </a:r>
          </a:p>
          <a:p/>
          <a:p>
            <a:r>
              <a:rPr sz="1000">
                <a:latin typeface="Arial"/>
              </a:rPr>
              <a:t>Ingrid repond ORALEMENT sans notes.</a:t>
            </a:r>
          </a:p>
          <a:p>
            <a:r>
              <a:rPr sz="1000">
                <a:latin typeface="Arial"/>
              </a:rPr>
              <a:t>Ne pas interrompre.</a:t>
            </a:r>
          </a:p>
          <a:p>
            <a:r>
              <a:rPr sz="1000">
                <a:latin typeface="Arial"/>
              </a:rPr>
              <a:t>Max 2-3 corrections apres.</a:t>
            </a:r>
          </a:p>
          <a:p/>
          <a:p>
            <a:r>
              <a:rPr sz="1000">
                <a:latin typeface="Arial"/>
              </a:rPr>
              <a:t>TRANSITION : "Now let's look at new vocabulary."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WARM-UP</a:t>
            </a:r>
          </a:p>
          <a:p/>
          <a:p>
            <a:r>
              <a:rPr sz="1000">
                <a:latin typeface="Arial"/>
              </a:rPr>
              <a:t>ROLE : Activer connaissances.</a:t>
            </a:r>
          </a:p>
          <a:p>
            <a:r>
              <a:rPr sz="1000">
                <a:latin typeface="Arial"/>
              </a:rPr>
              <a:t>DUREE : 10 min</a:t>
            </a:r>
          </a:p>
          <a:p/>
          <a:p>
            <a:r>
              <a:rPr sz="1000">
                <a:latin typeface="Arial"/>
              </a:rPr>
              <a:t>Ingrid repond ORALEMENT sans notes.</a:t>
            </a:r>
          </a:p>
          <a:p>
            <a:r>
              <a:rPr sz="1000">
                <a:latin typeface="Arial"/>
              </a:rPr>
              <a:t>Ne pas interrompre.</a:t>
            </a:r>
          </a:p>
          <a:p>
            <a:r>
              <a:rPr sz="1000">
                <a:latin typeface="Arial"/>
              </a:rPr>
              <a:t>Max 2-3 corrections apres.</a:t>
            </a:r>
          </a:p>
          <a:p/>
          <a:p>
            <a:r>
              <a:rPr sz="1000">
                <a:latin typeface="Arial"/>
              </a:rPr>
              <a:t>TRANSITION : "Now let's look at new vocabulary."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CONVERSATION (1)</a:t>
            </a:r>
          </a:p>
          <a:p/>
          <a:p>
            <a:r>
              <a:rPr sz="1000">
                <a:latin typeface="Arial"/>
              </a:rPr>
              <a:t>ROLE : Pratique orale.</a:t>
            </a:r>
          </a:p>
          <a:p>
            <a:r>
              <a:rPr sz="1000">
                <a:latin typeface="Arial"/>
              </a:rPr>
              <a:t>DUREE : 10-12 min</a:t>
            </a:r>
          </a:p>
          <a:p/>
          <a:p>
            <a:r>
              <a:rPr sz="1000">
                <a:latin typeface="Arial"/>
              </a:rPr>
              <a:t>Prof pose UNE question.</a:t>
            </a:r>
          </a:p>
          <a:p>
            <a:r>
              <a:rPr sz="1000">
                <a:latin typeface="Arial"/>
              </a:rPr>
              <a:t>Ingrid repond librement.</a:t>
            </a:r>
          </a:p>
          <a:p>
            <a:r>
              <a:rPr sz="1000">
                <a:latin typeface="Arial"/>
              </a:rPr>
              <a:t>NE PAS interrompre.</a:t>
            </a:r>
          </a:p>
          <a:p>
            <a:r>
              <a:rPr sz="1000">
                <a:latin typeface="Arial"/>
              </a:rPr>
              <a:t>Corriger 2-3 erreurs APRES.</a:t>
            </a:r>
          </a:p>
          <a:p/>
          <a:p>
            <a:r>
              <a:rPr sz="1000">
                <a:latin typeface="Arial"/>
              </a:rPr>
              <a:t>FOLLOW-UP : "Really? Tell me more."</a:t>
            </a:r>
          </a:p>
          <a:p/>
          <a:p>
            <a:r>
              <a:rPr sz="1000">
                <a:latin typeface="Arial"/>
              </a:rPr>
              <a:t>TRANSITION : "Now let's listen to a short text."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CONVERSATION (2)</a:t>
            </a:r>
          </a:p>
          <a:p/>
          <a:p>
            <a:r>
              <a:rPr sz="1000">
                <a:latin typeface="Arial"/>
              </a:rPr>
              <a:t>ROLE : Pratique orale.</a:t>
            </a:r>
          </a:p>
          <a:p>
            <a:r>
              <a:rPr sz="1000">
                <a:latin typeface="Arial"/>
              </a:rPr>
              <a:t>DUREE : 10-12 min</a:t>
            </a:r>
          </a:p>
          <a:p/>
          <a:p>
            <a:r>
              <a:rPr sz="1000">
                <a:latin typeface="Arial"/>
              </a:rPr>
              <a:t>Prof pose UNE question.</a:t>
            </a:r>
          </a:p>
          <a:p>
            <a:r>
              <a:rPr sz="1000">
                <a:latin typeface="Arial"/>
              </a:rPr>
              <a:t>Ingrid repond librement.</a:t>
            </a:r>
          </a:p>
          <a:p>
            <a:r>
              <a:rPr sz="1000">
                <a:latin typeface="Arial"/>
              </a:rPr>
              <a:t>NE PAS interrompre.</a:t>
            </a:r>
          </a:p>
          <a:p>
            <a:r>
              <a:rPr sz="1000">
                <a:latin typeface="Arial"/>
              </a:rPr>
              <a:t>Corriger 2-3 erreurs APRES.</a:t>
            </a:r>
          </a:p>
          <a:p/>
          <a:p>
            <a:r>
              <a:rPr sz="1000">
                <a:latin typeface="Arial"/>
              </a:rPr>
              <a:t>FOLLOW-UP : "Really? Tell me more."</a:t>
            </a:r>
          </a:p>
          <a:p/>
          <a:p>
            <a:r>
              <a:rPr sz="1000">
                <a:latin typeface="Arial"/>
              </a:rPr>
              <a:t>TRANSITION : "Now let's listen to a short text."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LISTENING TEXT : Text</a:t>
            </a:r>
          </a:p>
          <a:p/>
          <a:p>
            <a:r>
              <a:rPr sz="1000">
                <a:latin typeface="Arial"/>
              </a:rPr>
              <a:t>ROLE : Comprehension.</a:t>
            </a:r>
          </a:p>
          <a:p>
            <a:r>
              <a:rPr sz="1000">
                <a:latin typeface="Arial"/>
              </a:rPr>
              <a:t>DUREE : 4 min</a:t>
            </a:r>
          </a:p>
          <a:p/>
          <a:p>
            <a:r>
              <a:rPr sz="1000">
                <a:latin typeface="Arial"/>
              </a:rPr>
              <a:t>2 LECTURES :</a:t>
            </a:r>
          </a:p>
          <a:p>
            <a:r>
              <a:rPr sz="1000">
                <a:latin typeface="Arial"/>
              </a:rPr>
              <a:t>1ere : GLOBALE (sans ecrire)</a:t>
            </a:r>
          </a:p>
          <a:p>
            <a:r>
              <a:rPr sz="1000">
                <a:latin typeface="Arial"/>
              </a:rPr>
              <a:t>2eme : DETAILLEE</a:t>
            </a:r>
          </a:p>
          <a:p/>
          <a:p>
            <a:r>
              <a:rPr sz="1000">
                <a:latin typeface="Arial"/>
              </a:rPr>
              <a:t>NE PAS montrer le texte.</a:t>
            </a:r>
          </a:p>
          <a:p>
            <a:r>
              <a:rPr sz="1000">
                <a:latin typeface="Arial"/>
              </a:rPr>
              <a:t>LIRE lentement.</a:t>
            </a:r>
          </a:p>
          <a:p/>
          <a:p>
            <a:r>
              <a:rPr sz="1000">
                <a:latin typeface="Arial"/>
              </a:rPr>
              <a:t>TRANSITION : "Now let's answer the questions."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LISTENING QUESTIONS</a:t>
            </a:r>
          </a:p>
          <a:p/>
          <a:p>
            <a:r>
              <a:rPr sz="1000">
                <a:latin typeface="Arial"/>
              </a:rPr>
              <a:t>ROLE : Comprehension detaillee.</a:t>
            </a:r>
          </a:p>
          <a:p>
            <a:r>
              <a:rPr sz="1000">
                <a:latin typeface="Arial"/>
              </a:rPr>
              <a:t>DUREE : 4 min</a:t>
            </a:r>
          </a:p>
          <a:p/>
          <a:p>
            <a:r>
              <a:rPr sz="1000">
                <a:latin typeface="Arial"/>
              </a:rPr>
              <a:t>Ingrid repond en PHRASE COMPLETE.</a:t>
            </a:r>
          </a:p>
          <a:p>
            <a:r>
              <a:rPr sz="1000">
                <a:latin typeface="Arial"/>
              </a:rPr>
              <a:t>Corriger apres.</a:t>
            </a:r>
          </a:p>
          <a:p/>
          <a:p>
            <a:r>
              <a:rPr sz="1000">
                <a:latin typeface="Arial"/>
              </a:rPr>
              <a:t>TRANSITION : "Now it's your turn to speak."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SPEAKING CHALLENGE : Challenge</a:t>
            </a:r>
          </a:p>
          <a:p/>
          <a:p>
            <a:r>
              <a:rPr sz="1000">
                <a:latin typeface="Arial"/>
              </a:rPr>
              <a:t>ROLE : Production orale.</a:t>
            </a:r>
          </a:p>
          <a:p>
            <a:r>
              <a:rPr sz="1000">
                <a:latin typeface="Arial"/>
              </a:rPr>
              <a:t>DUREE : 10 min</a:t>
            </a:r>
          </a:p>
          <a:p/>
          <a:p>
            <a:r>
              <a:rPr sz="1000">
                <a:latin typeface="Arial"/>
              </a:rPr>
              <a:t>TIMING :</a:t>
            </a:r>
          </a:p>
          <a:p>
            <a:r>
              <a:rPr sz="1000">
                <a:latin typeface="Arial"/>
              </a:rPr>
              <a:t>- 0:45 Explication</a:t>
            </a:r>
          </a:p>
          <a:p>
            <a:r>
              <a:rPr sz="1000">
                <a:latin typeface="Arial"/>
              </a:rPr>
              <a:t>- 0:45 Preparation mentale (silence)</a:t>
            </a:r>
          </a:p>
          <a:p>
            <a:r>
              <a:rPr sz="1000">
                <a:latin typeface="Arial"/>
              </a:rPr>
              <a:t>- 2:00 Monologue</a:t>
            </a:r>
          </a:p>
          <a:p>
            <a:r>
              <a:rPr sz="1000">
                <a:latin typeface="Arial"/>
              </a:rPr>
              <a:t>- 2:00 Feedback (2+1)</a:t>
            </a:r>
          </a:p>
          <a:p>
            <a:r>
              <a:rPr sz="1000">
                <a:latin typeface="Arial"/>
              </a:rPr>
              <a:t>- 0:30 Re-record</a:t>
            </a:r>
          </a:p>
          <a:p/>
          <a:p>
            <a:r>
              <a:rPr sz="1000">
                <a:latin typeface="Arial"/>
              </a:rPr>
              <a:t>SCRIPT :</a:t>
            </a:r>
          </a:p>
          <a:p>
            <a:r>
              <a:rPr sz="1000">
                <a:latin typeface="Arial"/>
              </a:rPr>
              <a:t>"Okay Ingrid, YOUR turn.</a:t>
            </a:r>
          </a:p>
          <a:p>
            <a:r>
              <a:rPr sz="1000">
                <a:latin typeface="Arial"/>
              </a:rPr>
              <a:t>Talk for 2 minutes.</a:t>
            </a:r>
          </a:p>
          <a:p>
            <a:r>
              <a:rPr sz="1000">
                <a:latin typeface="Arial"/>
              </a:rPr>
              <a:t>Use: Who/Which/Where and Whose.</a:t>
            </a:r>
          </a:p>
          <a:p>
            <a:r>
              <a:rPr sz="1000">
                <a:latin typeface="Arial"/>
              </a:rPr>
              <a:t>Take 45 sec to think. Ready?"</a:t>
            </a:r>
          </a:p>
          <a:p/>
          <a:p>
            <a:r>
              <a:rPr sz="1000">
                <a:latin typeface="Arial"/>
              </a:rPr>
              <a:t>OBSERVER :</a:t>
            </a:r>
          </a:p>
          <a:p>
            <a:r>
              <a:rPr sz="1000">
                <a:latin typeface="Arial"/>
              </a:rPr>
              <a:t>- Who/Which/Where min 3 fois</a:t>
            </a:r>
          </a:p>
          <a:p>
            <a:r>
              <a:rPr sz="1000">
                <a:latin typeface="Arial"/>
              </a:rPr>
              <a:t>- Whose min 3 fois</a:t>
            </a:r>
          </a:p>
          <a:p>
            <a:r>
              <a:rPr sz="1000">
                <a:latin typeface="Arial"/>
              </a:rPr>
              <a:t>- Duree 60-90 sec</a:t>
            </a:r>
          </a:p>
          <a:p>
            <a:r>
              <a:rPr sz="1000">
                <a:latin typeface="Arial"/>
              </a:rPr>
              <a:t>- Pauses &lt; 5 sec</a:t>
            </a:r>
          </a:p>
          <a:p/>
          <a:p>
            <a:r>
              <a:rPr sz="1000">
                <a:latin typeface="Arial"/>
              </a:rPr>
              <a:t>FEEDBACK (2+1) :</a:t>
            </a:r>
          </a:p>
          <a:p>
            <a:r>
              <a:rPr sz="1000">
                <a:latin typeface="Arial"/>
              </a:rPr>
              <a:t>1. Compliment CONCRET</a:t>
            </a:r>
          </a:p>
          <a:p>
            <a:r>
              <a:rPr sz="1000">
                <a:latin typeface="Arial"/>
              </a:rPr>
              <a:t>2. Compliment CONCRET</a:t>
            </a:r>
          </a:p>
          <a:p>
            <a:r>
              <a:rPr sz="1000">
                <a:latin typeface="Arial"/>
              </a:rPr>
              <a:t>3. UNE correction -&gt; repeter 2 fois</a:t>
            </a:r>
          </a:p>
          <a:p/>
          <a:p>
            <a:r>
              <a:rPr sz="1000">
                <a:latin typeface="Arial"/>
              </a:rPr>
              <a:t>NE PAS interrompre.</a:t>
            </a:r>
          </a:p>
          <a:p/>
          <a:p>
            <a:r>
              <a:rPr sz="1000">
                <a:latin typeface="Arial"/>
              </a:rPr>
              <a:t>TRANSITION : "Now let's write about this."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WRITING REQUIREMENTS</a:t>
            </a:r>
          </a:p>
          <a:p/>
          <a:p>
            <a:r>
              <a:rPr sz="1000">
                <a:latin typeface="Arial"/>
              </a:rPr>
              <a:t>ROLE : Preparer ecrit.</a:t>
            </a:r>
          </a:p>
          <a:p>
            <a:r>
              <a:rPr sz="1000">
                <a:latin typeface="Arial"/>
              </a:rPr>
              <a:t>DUREE : 3 min</a:t>
            </a:r>
          </a:p>
          <a:p/>
          <a:p>
            <a:r>
              <a:rPr sz="1000">
                <a:latin typeface="Arial"/>
              </a:rPr>
              <a:t>5 ETAPES :</a:t>
            </a:r>
          </a:p>
          <a:p>
            <a:r>
              <a:rPr sz="1000">
                <a:latin typeface="Arial"/>
              </a:rPr>
              <a:t>1. Brainstorming (3 min)</a:t>
            </a:r>
          </a:p>
          <a:p>
            <a:r>
              <a:rPr sz="1000">
                <a:latin typeface="Arial"/>
              </a:rPr>
              <a:t>2. Borrador (10 min)</a:t>
            </a:r>
          </a:p>
          <a:p>
            <a:r>
              <a:rPr sz="1000">
                <a:latin typeface="Arial"/>
              </a:rPr>
              <a:t>3. Revision (5 min)</a:t>
            </a:r>
          </a:p>
          <a:p>
            <a:r>
              <a:rPr sz="1000">
                <a:latin typeface="Arial"/>
              </a:rPr>
              <a:t>4. Edicion (5 min)</a:t>
            </a:r>
          </a:p>
          <a:p>
            <a:r>
              <a:rPr sz="1000">
                <a:latin typeface="Arial"/>
              </a:rPr>
              <a:t>5. Publicacion (5 min)</a:t>
            </a:r>
          </a:p>
          <a:p/>
          <a:p>
            <a:r>
              <a:rPr sz="1000">
                <a:latin typeface="Arial"/>
              </a:rPr>
              <a:t>FOCUS : Who/Which/Where + Whose</a:t>
            </a:r>
          </a:p>
          <a:p/>
          <a:p>
            <a:r>
              <a:rPr sz="1000">
                <a:latin typeface="Arial"/>
              </a:rPr>
              <a:t>NE PAS ecrire a sa place.</a:t>
            </a:r>
          </a:p>
          <a:p/>
          <a:p>
            <a:r>
              <a:rPr sz="1000">
                <a:latin typeface="Arial"/>
              </a:rPr>
              <a:t>TRANSITION : "Now let's look at the template."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WRITING TEMPLATE</a:t>
            </a:r>
          </a:p>
          <a:p/>
          <a:p>
            <a:r>
              <a:rPr sz="1000">
                <a:latin typeface="Arial"/>
              </a:rPr>
              <a:t>ROLE : Guide structurel.</a:t>
            </a:r>
          </a:p>
          <a:p>
            <a:r>
              <a:rPr sz="1000">
                <a:latin typeface="Arial"/>
              </a:rPr>
              <a:t>DUREE : 2 min</a:t>
            </a:r>
          </a:p>
          <a:p/>
          <a:p>
            <a:r>
              <a:rPr sz="1000">
                <a:latin typeface="Arial"/>
              </a:rPr>
              <a:t>Ingrid ecrit sur papier.</a:t>
            </a:r>
          </a:p>
          <a:p>
            <a:r>
              <a:rPr sz="1000">
                <a:latin typeface="Arial"/>
              </a:rPr>
              <a:t>Suit le template.</a:t>
            </a:r>
          </a:p>
          <a:p>
            <a:r>
              <a:rPr sz="1000">
                <a:latin typeface="Arial"/>
              </a:rPr>
              <a:t>Complete les blancs.</a:t>
            </a:r>
          </a:p>
          <a:p/>
          <a:p>
            <a:r>
              <a:rPr sz="1000">
                <a:latin typeface="Arial"/>
              </a:rPr>
              <a:t>VERIFIER a la fin.</a:t>
            </a:r>
          </a:p>
          <a:p/>
          <a:p>
            <a:r>
              <a:rPr sz="1000">
                <a:latin typeface="Arial"/>
              </a:rPr>
              <a:t>TRANSITION : "Now let's check your progress."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CHECKPOINT</a:t>
            </a:r>
          </a:p>
          <a:p/>
          <a:p>
            <a:r>
              <a:rPr sz="1000">
                <a:latin typeface="Arial"/>
              </a:rPr>
              <a:t>ROLE : Auto-evaluation.</a:t>
            </a:r>
          </a:p>
          <a:p>
            <a:r>
              <a:rPr sz="1000">
                <a:latin typeface="Arial"/>
              </a:rPr>
              <a:t>DUREE : 5 min</a:t>
            </a:r>
          </a:p>
          <a:p/>
          <a:p>
            <a:r>
              <a:rPr sz="1000">
                <a:latin typeface="Arial"/>
              </a:rPr>
              <a:t>Lire chaque critere.</a:t>
            </a:r>
          </a:p>
          <a:p>
            <a:r>
              <a:rPr sz="1000">
                <a:latin typeface="Arial"/>
              </a:rPr>
              <a:t>Ingrid repond honnetement.</a:t>
            </a:r>
          </a:p>
          <a:p/>
          <a:p>
            <a:r>
              <a:rPr sz="1000">
                <a:latin typeface="Arial"/>
              </a:rPr>
              <a:t>NE PAS juger.</a:t>
            </a:r>
          </a:p>
          <a:p/>
          <a:p>
            <a:r>
              <a:rPr sz="1000">
                <a:latin typeface="Arial"/>
              </a:rPr>
              <a:t>TRANSITION : "Now let's reflect."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VOCABULARY (1)</a:t>
            </a:r>
          </a:p>
          <a:p/>
          <a:p>
            <a:r>
              <a:rPr sz="1000">
                <a:latin typeface="Arial"/>
              </a:rPr>
              <a:t>ROLE : Introduire vocabulaire.</a:t>
            </a:r>
          </a:p>
          <a:p>
            <a:r>
              <a:rPr sz="1000">
                <a:latin typeface="Arial"/>
              </a:rPr>
              <a:t>DUREE : 8-10 min</a:t>
            </a:r>
          </a:p>
          <a:p/>
          <a:p>
            <a:r>
              <a:rPr sz="1000">
                <a:latin typeface="Arial"/>
              </a:rPr>
              <a:t>METHODE 3 ETAPES :</a:t>
            </a:r>
          </a:p>
          <a:p>
            <a:r>
              <a:rPr sz="1000">
                <a:latin typeface="Arial"/>
              </a:rPr>
              <a:t>1. Prof dit -&gt; Ingrid repete</a:t>
            </a:r>
          </a:p>
          <a:p>
            <a:r>
              <a:rPr sz="1000">
                <a:latin typeface="Arial"/>
              </a:rPr>
              <a:t>2. Prof traduit</a:t>
            </a:r>
          </a:p>
          <a:p>
            <a:r>
              <a:rPr sz="1000">
                <a:latin typeface="Arial"/>
              </a:rPr>
              <a:t>3. Ingrid fait une phrase</a:t>
            </a:r>
          </a:p>
          <a:p/>
          <a:p>
            <a:r>
              <a:rPr sz="1000">
                <a:latin typeface="Arial"/>
              </a:rPr>
              <a:t>NE PAS lire simplement.</a:t>
            </a:r>
          </a:p>
          <a:p>
            <a:r>
              <a:rPr sz="1000">
                <a:latin typeface="Arial"/>
              </a:rPr>
              <a:t>TOUJOURS prononcer + utiliser.</a:t>
            </a:r>
          </a:p>
          <a:p/>
          <a:p>
            <a:r>
              <a:rPr sz="1000">
                <a:latin typeface="Arial"/>
              </a:rPr>
              <a:t>TRANSITION : "Now let's look at common mistakes."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PRACTICE (1)</a:t>
            </a:r>
          </a:p>
          <a:p/>
          <a:p>
            <a:r>
              <a:rPr sz="1000">
                <a:latin typeface="Arial"/>
              </a:rPr>
              <a:t>ROLE : Pratique controlee.</a:t>
            </a:r>
          </a:p>
          <a:p>
            <a:r>
              <a:rPr sz="1000">
                <a:latin typeface="Arial"/>
              </a:rPr>
              <a:t>DUREE : 8-10 min</a:t>
            </a:r>
          </a:p>
          <a:p/>
          <a:p>
            <a:r>
              <a:rPr sz="1000">
                <a:latin typeface="Arial"/>
              </a:rPr>
              <a:t>1. ORAL d'abord</a:t>
            </a:r>
          </a:p>
          <a:p>
            <a:r>
              <a:rPr sz="1000">
                <a:latin typeface="Arial"/>
              </a:rPr>
              <a:t>2. ECRIT ensuite</a:t>
            </a:r>
          </a:p>
          <a:p>
            <a:r>
              <a:rPr sz="1000">
                <a:latin typeface="Arial"/>
              </a:rPr>
              <a:t>3. CORRECTION en temps reel</a:t>
            </a:r>
          </a:p>
          <a:p/>
          <a:p>
            <a:r>
              <a:rPr sz="1000">
                <a:latin typeface="Arial"/>
              </a:rPr>
              <a:t>Ne pas donner la reponse.</a:t>
            </a:r>
          </a:p>
          <a:p>
            <a:r>
              <a:rPr sz="1000">
                <a:latin typeface="Arial"/>
              </a:rPr>
              <a:t>Laisser 5-10 secondes.</a:t>
            </a:r>
          </a:p>
          <a:p>
            <a:r>
              <a:rPr sz="1000">
                <a:latin typeface="Arial"/>
              </a:rPr>
              <a:t>MAX 3 corrections.</a:t>
            </a:r>
          </a:p>
          <a:p/>
          <a:p>
            <a:r>
              <a:rPr sz="1000">
                <a:latin typeface="Arial"/>
              </a:rPr>
              <a:t>TRANSITION : "Now let's use these in conversation."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PRONUNCIATION</a:t>
            </a:r>
          </a:p>
          <a:p/>
          <a:p>
            <a:r>
              <a:rPr sz="1000">
                <a:latin typeface="Arial"/>
              </a:rPr>
              <a:t>ROLE : Pratique active.</a:t>
            </a:r>
          </a:p>
          <a:p>
            <a:r>
              <a:rPr sz="1000">
                <a:latin typeface="Arial"/>
              </a:rPr>
              <a:t>DUREE : 5 min</a:t>
            </a:r>
          </a:p>
          <a:p/>
          <a:p>
            <a:r>
              <a:rPr sz="1000">
                <a:latin typeface="Arial"/>
              </a:rPr>
              <a:t>Chaque mot repete 5 fois.</a:t>
            </a:r>
          </a:p>
          <a:p>
            <a:r>
              <a:rPr sz="1000">
                <a:latin typeface="Arial"/>
              </a:rPr>
              <a:t>Prof corrige en temps reel.</a:t>
            </a:r>
          </a:p>
          <a:p>
            <a:r>
              <a:rPr sz="1000">
                <a:latin typeface="Arial"/>
              </a:rPr>
              <a:t>Enregistrer si possible.</a:t>
            </a:r>
          </a:p>
          <a:p/>
          <a:p>
            <a:r>
              <a:rPr sz="1000">
                <a:latin typeface="Arial"/>
              </a:rPr>
              <a:t>TRANSITION : "Now let's practice with exercises."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THANKS</a:t>
            </a:r>
          </a:p>
          <a:p/>
          <a:p>
            <a:r>
              <a:rPr sz="1000">
                <a:latin typeface="Arial"/>
              </a:rPr>
              <a:t>ROLE : Cloture.</a:t>
            </a:r>
          </a:p>
          <a:p>
            <a:r>
              <a:rPr sz="1000">
                <a:latin typeface="Arial"/>
              </a:rPr>
              <a:t>DUREE : 2 min</a:t>
            </a:r>
          </a:p>
          <a:p/>
          <a:p>
            <a:r>
              <a:rPr sz="1000">
                <a:latin typeface="Arial"/>
              </a:rPr>
              <a:t>SCRIPT :</a:t>
            </a:r>
          </a:p>
          <a:p>
            <a:r>
              <a:rPr sz="1000">
                <a:latin typeface="Arial"/>
              </a:rPr>
              <a:t>"Excellent work today, Ingrid!</a:t>
            </a:r>
          </a:p>
          <a:p>
            <a:r>
              <a:rPr sz="1000">
                <a:latin typeface="Arial"/>
              </a:rPr>
              <a:t>You've completed Class 16.</a:t>
            </a:r>
          </a:p>
          <a:p>
            <a:r>
              <a:rPr sz="1000">
                <a:latin typeface="Arial"/>
              </a:rPr>
              <a:t>See you next time."</a:t>
            </a:r>
          </a:p>
          <a:p/>
          <a:p>
            <a:r>
              <a:rPr sz="1000">
                <a:latin typeface="Arial"/>
              </a:rPr>
              <a:t>Rappeler : Class 17</a:t>
            </a:r>
          </a:p>
          <a:p/>
          <a:p>
            <a:r>
              <a:rPr sz="1000">
                <a:latin typeface="Arial"/>
              </a:rPr>
              <a:t>TERMINER sur une note positive.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011680"/>
            <a:ext cx="8046720" cy="1645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4800" b="1" i="0">
                <a:solidFill>
                  <a:srgbClr val="3D1F5C"/>
                </a:solidFill>
                <a:latin typeface="Arial"/>
              </a:rPr>
              <a:t>THE PERSON WHO...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0"/>
            <a:ext cx="804672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Ingrid - English - Class 16</a:t>
            </a:r>
          </a:p>
          <a:p>
            <a:pPr algn="ctr">
              <a:lnSpc>
                <a:spcPct val="10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Profesor: Jean Thomas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Welcome!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OVERVIEW — Today's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08760"/>
            <a:ext cx="8229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6B35"/>
                </a:solidFill>
                <a:latin typeface="Arial"/>
              </a:rPr>
              <a:t>01.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1508760"/>
            <a:ext cx="713232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Use relative clauses with who, which, that, where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221992"/>
            <a:ext cx="8229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6B35"/>
                </a:solidFill>
                <a:latin typeface="Arial"/>
              </a:rPr>
              <a:t>02.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2221992"/>
            <a:ext cx="713232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Combine two sentences into 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935224"/>
            <a:ext cx="8229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6B35"/>
                </a:solidFill>
                <a:latin typeface="Arial"/>
              </a:rPr>
              <a:t>03.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2935224"/>
            <a:ext cx="713232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Describe people, places, things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648456"/>
            <a:ext cx="8229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6B35"/>
                </a:solidFill>
                <a:latin typeface="Arial"/>
              </a:rPr>
              <a:t>04.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648456"/>
            <a:ext cx="713232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Distinguish defining and non-defining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361688"/>
            <a:ext cx="8229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6B35"/>
                </a:solidFill>
                <a:latin typeface="Arial"/>
              </a:rPr>
              <a:t>05.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4361688"/>
            <a:ext cx="713232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Use whose for possession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074920"/>
            <a:ext cx="8229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6B35"/>
                </a:solidFill>
                <a:latin typeface="Arial"/>
              </a:rPr>
              <a:t>06.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5074920"/>
            <a:ext cx="713232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Describe a person in 90-120 sec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GOAL: Speak with confidence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SPEAKING — Answer orally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54480"/>
            <a:ext cx="804672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76809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-  Who is your best friend?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450591"/>
            <a:ext cx="804672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450591"/>
            <a:ext cx="76809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-  What kind of person is he/she?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346703"/>
            <a:ext cx="804672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346703"/>
            <a:ext cx="76809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-  Where did you meet?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242816"/>
            <a:ext cx="804672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4242816"/>
            <a:ext cx="76809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-  What do you like about him/her?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5138927"/>
            <a:ext cx="804672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5138927"/>
            <a:ext cx="76809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-  What do you have in common?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Speak without looking at your notes.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VOCABULARY — Describing People (1/2)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08760"/>
            <a:ext cx="8046720" cy="13258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81912"/>
            <a:ext cx="3657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/>
              </a:rPr>
              <a:t>kind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0" y="1581912"/>
            <a:ext cx="2743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009B9B"/>
                </a:solidFill>
                <a:latin typeface="Arial"/>
              </a:rPr>
              <a:t>— amable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0" y="1581912"/>
            <a:ext cx="1554480" cy="36576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0" y="1581912"/>
            <a:ext cx="1554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Arial"/>
              </a:rPr>
              <a:t>ESSENTIAL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1965960"/>
            <a:ext cx="7589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666666"/>
                </a:solidFill>
                <a:latin typeface="Arial"/>
              </a:rPr>
              <a:t>+ a kind person  + kind to others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2258568"/>
            <a:ext cx="7589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1">
                <a:solidFill>
                  <a:srgbClr val="000000"/>
                </a:solidFill>
                <a:latin typeface="Arial"/>
              </a:rPr>
              <a:t>  "She is a person who is very kind."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2514600"/>
            <a:ext cx="75895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62828"/>
                </a:solidFill>
                <a:latin typeface="Arial"/>
              </a:rPr>
              <a:t>  NOT 'kind of me' (= un poco)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926080"/>
            <a:ext cx="8046720" cy="13258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999232"/>
            <a:ext cx="3657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/>
              </a:rPr>
              <a:t>funny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2999232"/>
            <a:ext cx="2743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009B9B"/>
                </a:solidFill>
                <a:latin typeface="Arial"/>
              </a:rPr>
              <a:t>— divertido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0" y="2999232"/>
            <a:ext cx="1554480" cy="36576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0" y="2999232"/>
            <a:ext cx="1554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Arial"/>
              </a:rPr>
              <a:t>ESSENTIAL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59" y="3383280"/>
            <a:ext cx="7589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666666"/>
                </a:solidFill>
                <a:latin typeface="Arial"/>
              </a:rPr>
              <a:t>+ a funny person  + very funny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59" y="3675888"/>
            <a:ext cx="7589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1">
                <a:solidFill>
                  <a:srgbClr val="000000"/>
                </a:solidFill>
                <a:latin typeface="Arial"/>
              </a:rPr>
              <a:t>  "He is someone who is really funny."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59" y="3931920"/>
            <a:ext cx="75895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62828"/>
                </a:solidFill>
                <a:latin typeface="Arial"/>
              </a:rPr>
              <a:t>  NOT 'funny of me'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343400"/>
            <a:ext cx="8046720" cy="13258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4416552"/>
            <a:ext cx="3657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/>
              </a:rPr>
              <a:t>hardworking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0" y="4416552"/>
            <a:ext cx="2743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009B9B"/>
                </a:solidFill>
                <a:latin typeface="Arial"/>
              </a:rPr>
              <a:t>— trabajador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0" y="4416552"/>
            <a:ext cx="1554480" cy="36576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0" y="4416552"/>
            <a:ext cx="1554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Arial"/>
              </a:rPr>
              <a:t>ESSENTIAL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59" y="4800600"/>
            <a:ext cx="7589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666666"/>
                </a:solidFill>
                <a:latin typeface="Arial"/>
              </a:rPr>
              <a:t>+ a hardworking student  + very hardworking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59" y="5093208"/>
            <a:ext cx="7589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1">
                <a:solidFill>
                  <a:srgbClr val="000000"/>
                </a:solidFill>
                <a:latin typeface="Arial"/>
              </a:rPr>
              <a:t>  "She is a person who is very hardworking."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59" y="5349240"/>
            <a:ext cx="75895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62828"/>
                </a:solidFill>
                <a:latin typeface="Arial"/>
              </a:rPr>
              <a:t>  NOT 'work harding'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Read aloud. Practice collocations.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VOCABULARY — Describing People (2/2)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08760"/>
            <a:ext cx="8046720" cy="13258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81912"/>
            <a:ext cx="3657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/>
              </a:rPr>
              <a:t>patient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0" y="1581912"/>
            <a:ext cx="2743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009B9B"/>
                </a:solidFill>
                <a:latin typeface="Arial"/>
              </a:rPr>
              <a:t>— paciente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0" y="1581912"/>
            <a:ext cx="1554480" cy="365760"/>
          </a:xfrm>
          <a:prstGeom prst="round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0" y="1581912"/>
            <a:ext cx="1554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Arial"/>
              </a:rPr>
              <a:t>IMPORTANT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1965960"/>
            <a:ext cx="7589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666666"/>
                </a:solidFill>
                <a:latin typeface="Arial"/>
              </a:rPr>
              <a:t>+ very patient  + patient with people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2258568"/>
            <a:ext cx="7589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1">
                <a:solidFill>
                  <a:srgbClr val="000000"/>
                </a:solidFill>
                <a:latin typeface="Arial"/>
              </a:rPr>
              <a:t>  "My teacher is someone who is very patient."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2514600"/>
            <a:ext cx="75895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62828"/>
                </a:solidFill>
                <a:latin typeface="Arial"/>
              </a:rPr>
              <a:t>  NOT 'patient of me' (use 'patient with')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926080"/>
            <a:ext cx="8046720" cy="13258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999232"/>
            <a:ext cx="3657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/>
              </a:rPr>
              <a:t>generous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2999232"/>
            <a:ext cx="2743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009B9B"/>
                </a:solidFill>
                <a:latin typeface="Arial"/>
              </a:rPr>
              <a:t>— generoso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0" y="2999232"/>
            <a:ext cx="1554480" cy="365760"/>
          </a:xfrm>
          <a:prstGeom prst="round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0" y="2999232"/>
            <a:ext cx="1554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Arial"/>
              </a:rPr>
              <a:t>IMPORTANT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59" y="3383280"/>
            <a:ext cx="7589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666666"/>
                </a:solidFill>
                <a:latin typeface="Arial"/>
              </a:rPr>
              <a:t>+ a generous person  + generous with money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59" y="3675888"/>
            <a:ext cx="7589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1">
                <a:solidFill>
                  <a:srgbClr val="000000"/>
                </a:solidFill>
                <a:latin typeface="Arial"/>
              </a:rPr>
              <a:t>  "He is a person who is generous with his time."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59" y="3931920"/>
            <a:ext cx="75895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62828"/>
                </a:solidFill>
                <a:latin typeface="Arial"/>
              </a:rPr>
              <a:t>  NOT 'generous of me'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343400"/>
            <a:ext cx="8046720" cy="13258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4416552"/>
            <a:ext cx="3657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/>
              </a:rPr>
              <a:t>honest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0" y="4416552"/>
            <a:ext cx="2743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009B9B"/>
                </a:solidFill>
                <a:latin typeface="Arial"/>
              </a:rPr>
              <a:t>— honesto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0" y="4416552"/>
            <a:ext cx="1554480" cy="365760"/>
          </a:xfrm>
          <a:prstGeom prst="round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0" y="4416552"/>
            <a:ext cx="1554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Arial"/>
              </a:rPr>
              <a:t>IMPORTANT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59" y="4800600"/>
            <a:ext cx="7589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666666"/>
                </a:solidFill>
                <a:latin typeface="Arial"/>
              </a:rPr>
              <a:t>+ an honest person  + completely honest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59" y="5093208"/>
            <a:ext cx="7589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1">
                <a:solidFill>
                  <a:srgbClr val="000000"/>
                </a:solidFill>
                <a:latin typeface="Arial"/>
              </a:rPr>
              <a:t>  "She is someone who is always honest."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59" y="5349240"/>
            <a:ext cx="75895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62828"/>
                </a:solidFill>
                <a:latin typeface="Arial"/>
              </a:rPr>
              <a:t>  NOT 'honest of people'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Read aloud. Practice collocations.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⚠️  COMMON MISTAKES — Avoid these!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08760"/>
            <a:ext cx="8046720" cy="1005839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76809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C62828"/>
                </a:solidFill>
                <a:latin typeface="Arial"/>
              </a:rPr>
              <a:t>❌  The man who I know him is nice.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92808"/>
            <a:ext cx="76809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2E7D32"/>
                </a:solidFill>
                <a:latin typeface="Arial"/>
              </a:rPr>
              <a:t>✓   The man who I know is nice.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31136"/>
            <a:ext cx="76809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666666"/>
                </a:solidFill>
                <a:latin typeface="Arial"/>
              </a:rPr>
              <a:t>      No se repite el objeto: 'who' ya lo reemplaza.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606040"/>
            <a:ext cx="8046720" cy="1005839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651760"/>
            <a:ext cx="76809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C62828"/>
                </a:solidFill>
                <a:latin typeface="Arial"/>
              </a:rPr>
              <a:t>❌  The book what I read was great.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990088"/>
            <a:ext cx="76809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2E7D32"/>
                </a:solidFill>
                <a:latin typeface="Arial"/>
              </a:rPr>
              <a:t>✓   The book which I read was great.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328416"/>
            <a:ext cx="76809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666666"/>
                </a:solidFill>
                <a:latin typeface="Arial"/>
              </a:rPr>
              <a:t>      Se usa 'which' o 'that', no 'what'.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703320"/>
            <a:ext cx="8046720" cy="1005839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749039"/>
            <a:ext cx="76809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C62828"/>
                </a:solidFill>
                <a:latin typeface="Arial"/>
              </a:rPr>
              <a:t>❌  The girl who's father is a doctor.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087368"/>
            <a:ext cx="76809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2E7D32"/>
                </a:solidFill>
                <a:latin typeface="Arial"/>
              </a:rPr>
              <a:t>✓   The girl whose father is a doctor.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425696"/>
            <a:ext cx="76809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666666"/>
                </a:solidFill>
                <a:latin typeface="Arial"/>
              </a:rPr>
              <a:t>      'Who's' = who is. 'Whose' = posesión.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800600"/>
            <a:ext cx="8046720" cy="1005839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846320"/>
            <a:ext cx="76809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C62828"/>
                </a:solidFill>
                <a:latin typeface="Arial"/>
              </a:rPr>
              <a:t>❌  The place which I was born.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184648"/>
            <a:ext cx="76809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2E7D32"/>
                </a:solidFill>
                <a:latin typeface="Arial"/>
              </a:rPr>
              <a:t>✓   The place where I was born.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522976"/>
            <a:ext cx="76809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666666"/>
                </a:solidFill>
                <a:latin typeface="Arial"/>
              </a:rPr>
              <a:t>      Para lugares se usa 'where'.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Repeat after me. Don't make these mistakes!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EXPRESSIONS &amp; YOUR TURN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08760"/>
            <a:ext cx="8046720" cy="2286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81912"/>
            <a:ext cx="7680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6B35"/>
                </a:solidFill>
                <a:latin typeface="Arial"/>
              </a:rPr>
              <a:t>EXPRESSIONS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59" y="1965960"/>
            <a:ext cx="75895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000000"/>
                </a:solidFill>
                <a:latin typeface="Arial"/>
              </a:rPr>
              <a:t>▸  She is a person who always helps.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313432"/>
            <a:ext cx="75895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000000"/>
                </a:solidFill>
                <a:latin typeface="Arial"/>
              </a:rPr>
              <a:t>▸  This is the place where I grew up.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660903"/>
            <a:ext cx="75895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000000"/>
                </a:solidFill>
                <a:latin typeface="Arial"/>
              </a:rPr>
              <a:t>▸  He is a friend whose family I know.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3008375"/>
            <a:ext cx="75895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000000"/>
                </a:solidFill>
                <a:latin typeface="Arial"/>
              </a:rPr>
              <a:t>▸  The book which I read was great.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3355847"/>
            <a:ext cx="75895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000000"/>
                </a:solidFill>
                <a:latin typeface="Arial"/>
              </a:rPr>
              <a:t>▸  The thing that I like most is her attitude.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931920"/>
            <a:ext cx="8046720" cy="1828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4005072"/>
            <a:ext cx="7680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6B35"/>
                </a:solidFill>
                <a:latin typeface="Arial"/>
              </a:rPr>
              <a:t>🎯  YOUR TURN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59" y="4389120"/>
            <a:ext cx="7589520" cy="301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000000"/>
                </a:solidFill>
                <a:latin typeface="Arial"/>
              </a:rPr>
              <a:t>1.  My best friend is someone who -&gt; ________________________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59" y="4709159"/>
            <a:ext cx="7589520" cy="301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000000"/>
                </a:solidFill>
                <a:latin typeface="Arial"/>
              </a:rPr>
              <a:t>2.  This is the place where -&gt; ________________________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59" y="5029199"/>
            <a:ext cx="7589520" cy="301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000000"/>
                </a:solidFill>
                <a:latin typeface="Arial"/>
              </a:rPr>
              <a:t>3.  I have a friend whose ____.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59" y="5349239"/>
            <a:ext cx="7589520" cy="301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000000"/>
                </a:solidFill>
                <a:latin typeface="Arial"/>
              </a:rPr>
              <a:t>4.  The book which ____ was ____.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59" y="5669279"/>
            <a:ext cx="7589520" cy="301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000000"/>
                </a:solidFill>
                <a:latin typeface="Arial"/>
              </a:rPr>
              <a:t>5.  The person who ____ is ____.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Write your own sentences.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GRAMMAR — Relative Clauses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8046720" cy="502920"/>
          </a:xfrm>
          <a:prstGeom prst="round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76809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Arial"/>
              </a:rPr>
              <a:t>FORMULA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286000"/>
            <a:ext cx="8046720" cy="34747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2423160"/>
            <a:ext cx="749808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NOUN + RELATIVE PRONOUN + CLAUSE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Use who/which/that/where/whose.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GRAMMAR — Relative Clauses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8046720" cy="502920"/>
          </a:xfrm>
          <a:prstGeom prst="round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76809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Arial"/>
              </a:rPr>
              <a:t>WHO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286000"/>
            <a:ext cx="8046720" cy="34747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2423160"/>
            <a:ext cx="749808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= persons</a:t>
            </a:r>
          </a:p>
          <a:p>
            <a:pPr algn="l">
              <a:lnSpc>
                <a:spcPct val="13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The man WHO lives next door is nice.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Use who/which/that/where/whose.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GRAMMAR — Relative Clauses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8046720" cy="502920"/>
          </a:xfrm>
          <a:prstGeom prst="round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76809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Arial"/>
              </a:rPr>
              <a:t>WHICH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286000"/>
            <a:ext cx="8046720" cy="34747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2423160"/>
            <a:ext cx="749808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= things/animals</a:t>
            </a:r>
          </a:p>
          <a:p>
            <a:pPr algn="l">
              <a:lnSpc>
                <a:spcPct val="13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The book WHICH I read was great.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Use who/which/that/where/whose.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GRAMMAR — Relative Clauses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8046720" cy="502920"/>
          </a:xfrm>
          <a:prstGeom prst="round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76809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Arial"/>
              </a:rPr>
              <a:t>THAT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286000"/>
            <a:ext cx="8046720" cy="34747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2423160"/>
            <a:ext cx="749808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= persons/things (informal)</a:t>
            </a:r>
          </a:p>
          <a:p>
            <a:pPr algn="l">
              <a:lnSpc>
                <a:spcPct val="13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The film THAT I saw was boring.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Use who/which/that/where/whose.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GRAMMAR — Relative Clauses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8046720" cy="502920"/>
          </a:xfrm>
          <a:prstGeom prst="round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76809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Arial"/>
              </a:rPr>
              <a:t>WHERE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286000"/>
            <a:ext cx="8046720" cy="34747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2423160"/>
            <a:ext cx="749808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= places</a:t>
            </a:r>
          </a:p>
          <a:p>
            <a:pPr algn="l">
              <a:lnSpc>
                <a:spcPct val="13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The city WHERE I was born is small.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Use who/which/that/where/whose.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GRAMMAR — Relative Clauses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8046720" cy="502920"/>
          </a:xfrm>
          <a:prstGeom prst="round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76809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Arial"/>
              </a:rPr>
              <a:t>WHOSE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286000"/>
            <a:ext cx="8046720" cy="34747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2423160"/>
            <a:ext cx="749808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= possession</a:t>
            </a:r>
          </a:p>
          <a:p>
            <a:pPr algn="l">
              <a:lnSpc>
                <a:spcPct val="13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The girl WHOSE father is a doctor.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Use who/which/that/where/whose.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GRAMMAR — Combining Sentences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8046720" cy="502920"/>
          </a:xfrm>
          <a:prstGeom prst="round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76809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Arial"/>
              </a:rPr>
              <a:t>TWO -&gt; ONE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286000"/>
            <a:ext cx="8046720" cy="34747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2423160"/>
            <a:ext cx="749808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I have a friend. He lives in Paris.</a:t>
            </a:r>
          </a:p>
          <a:p>
            <a:pPr algn="l">
              <a:lnSpc>
                <a:spcPct val="13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-&gt; I have a friend WHO lives in Paris.</a:t>
            </a:r>
          </a:p>
          <a:p>
            <a:pPr algn="l">
              <a:lnSpc>
                <a:spcPct val="13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I bought a book. It was expensive.</a:t>
            </a:r>
          </a:p>
          <a:p>
            <a:pPr algn="l">
              <a:lnSpc>
                <a:spcPct val="13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-&gt; I bought a book WHICH was expensive.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Non-defining clauses use commas.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GRAMMAR — Combining Sentences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8046720" cy="502920"/>
          </a:xfrm>
          <a:prstGeom prst="round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76809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Arial"/>
              </a:rPr>
              <a:t>MORE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286000"/>
            <a:ext cx="8046720" cy="34747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2423160"/>
            <a:ext cx="749808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This is the house. I grew up here.</a:t>
            </a:r>
          </a:p>
          <a:p>
            <a:pPr algn="l">
              <a:lnSpc>
                <a:spcPct val="13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-&gt; This is the house WHERE I grew up.</a:t>
            </a:r>
          </a:p>
          <a:p>
            <a:pPr algn="l">
              <a:lnSpc>
                <a:spcPct val="13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I know a girl. Her father is a pilot.</a:t>
            </a:r>
          </a:p>
          <a:p>
            <a:pPr algn="l">
              <a:lnSpc>
                <a:spcPct val="13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-&gt; I know a girl WHOSE father is a pilot.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Non-defining clauses use commas.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GRAMMAR — Combining Sentences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8046720" cy="502920"/>
          </a:xfrm>
          <a:prstGeom prst="round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76809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Arial"/>
              </a:rPr>
              <a:t>DEFINING vs NON-DEF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286000"/>
            <a:ext cx="8046720" cy="34747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2423160"/>
            <a:ext cx="749808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The man who lives next door is nice. (no commas)</a:t>
            </a:r>
          </a:p>
          <a:p>
            <a:pPr algn="l">
              <a:lnSpc>
                <a:spcPct val="13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My brother, who lives in Paris, is a doctor. (with commas)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Non-defining clauses use commas.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17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SOUND — Rhythm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91640"/>
            <a:ext cx="8046720" cy="594359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59" y="1691640"/>
            <a:ext cx="7498080" cy="5943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000000"/>
                </a:solidFill>
                <a:latin typeface="Arial"/>
              </a:rPr>
              <a:t>baNAna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350008"/>
            <a:ext cx="8046720" cy="594359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2350008"/>
            <a:ext cx="7498080" cy="5943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000000"/>
                </a:solidFill>
                <a:latin typeface="Arial"/>
              </a:rPr>
              <a:t>comPUter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008376"/>
            <a:ext cx="8046720" cy="594359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3008376"/>
            <a:ext cx="7498080" cy="5943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000000"/>
                </a:solidFill>
                <a:latin typeface="Arial"/>
              </a:rPr>
              <a:t>YESterday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666744"/>
            <a:ext cx="8046720" cy="594359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59" y="3666744"/>
            <a:ext cx="7498080" cy="5943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000000"/>
                </a:solidFill>
                <a:latin typeface="Arial"/>
              </a:rPr>
              <a:t>toMOrrow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Stress the correct syllable.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18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PRONUNCIATION — Practice Rhythm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804672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7680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/>
              </a:rPr>
              <a:t>baNAna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76809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1">
                <a:solidFill>
                  <a:srgbClr val="009B9B"/>
                </a:solidFill>
                <a:latin typeface="Arial"/>
              </a:rPr>
              <a:t>/bəˈnænə/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514600"/>
            <a:ext cx="804672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560320"/>
            <a:ext cx="7680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/>
              </a:rPr>
              <a:t>comPUter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926080"/>
            <a:ext cx="76809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1">
                <a:solidFill>
                  <a:srgbClr val="009B9B"/>
                </a:solidFill>
                <a:latin typeface="Arial"/>
              </a:rPr>
              <a:t>/kəmˈpjuːtər/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429000"/>
            <a:ext cx="804672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474720"/>
            <a:ext cx="7680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/>
              </a:rPr>
              <a:t>YESterday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840480"/>
            <a:ext cx="76809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1">
                <a:solidFill>
                  <a:srgbClr val="009B9B"/>
                </a:solidFill>
                <a:latin typeface="Arial"/>
              </a:rPr>
              <a:t>/ˈjestərdeɪ/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343400"/>
            <a:ext cx="804672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389120"/>
            <a:ext cx="7680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/>
              </a:rPr>
              <a:t>toMOrrow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754880"/>
            <a:ext cx="76809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1">
                <a:solidFill>
                  <a:srgbClr val="009B9B"/>
                </a:solidFill>
                <a:latin typeface="Arial"/>
              </a:rPr>
              <a:t>/təˈmɑːroʊ/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Record yourself and compare.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PRACTICE — Complete (1/3)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45920"/>
            <a:ext cx="804672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76809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1. I have a friend. He is a doctor. -&gt; Combine with who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560320"/>
            <a:ext cx="804672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560320"/>
            <a:ext cx="76809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2. I bought a book. It was interesting. -&gt; which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474720"/>
            <a:ext cx="804672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474720"/>
            <a:ext cx="76809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3. This is the house. I grew up here. -&gt; where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389120"/>
            <a:ext cx="804672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4389120"/>
            <a:ext cx="76809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4. I know a girl. Her father is a pilot. -&gt; whose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Answer orally first.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20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PRACTICE — Complete (2/3)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45920"/>
            <a:ext cx="804672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76809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5. The film was boring. We watched it. -&gt; which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560320"/>
            <a:ext cx="804672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560320"/>
            <a:ext cx="76809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6. The woman ___ lives next door is a teacher.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474720"/>
            <a:ext cx="804672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474720"/>
            <a:ext cx="76809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7. This is the book ___ I told you about.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389120"/>
            <a:ext cx="804672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4389120"/>
            <a:ext cx="76809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8. I know a place ___ we can go.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Answer orally first.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21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PRACTICE — Complete (3/3)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45920"/>
            <a:ext cx="804672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76809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9. She has a friend ___ father is a doctor.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Answer orally first.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SPEAKING — Conversation (1/2)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54480"/>
            <a:ext cx="8046720" cy="1143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76809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/>
              </a:rPr>
              <a:t>Who is your best friend?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48840"/>
            <a:ext cx="74980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009B9B"/>
                </a:solidFill>
                <a:latin typeface="Arial"/>
              </a:rPr>
              <a:t>-&gt;  My best friend is someone who ____.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834639"/>
            <a:ext cx="8046720" cy="1143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926079"/>
            <a:ext cx="76809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/>
              </a:rPr>
              <a:t>What kind of person?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428999"/>
            <a:ext cx="74980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009B9B"/>
                </a:solidFill>
                <a:latin typeface="Arial"/>
              </a:rPr>
              <a:t>-&gt;  He/She is a person who ____.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114800"/>
            <a:ext cx="8046720" cy="1143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4206240"/>
            <a:ext cx="76809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/>
              </a:rPr>
              <a:t>Where did you meet?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709160"/>
            <a:ext cx="74980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009B9B"/>
                </a:solidFill>
                <a:latin typeface="Arial"/>
              </a:rPr>
              <a:t>-&gt;  We met in a place where ____.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Speak naturally.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23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SPEAKING — Conversation (2/2)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54480"/>
            <a:ext cx="8046720" cy="1143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76809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/>
              </a:rPr>
              <a:t>What do you like about him/her?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48840"/>
            <a:ext cx="74980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009B9B"/>
                </a:solidFill>
                <a:latin typeface="Arial"/>
              </a:rPr>
              <a:t>-&gt;  I like that he/she is someone who ____.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834639"/>
            <a:ext cx="8046720" cy="1143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926079"/>
            <a:ext cx="76809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/>
              </a:rPr>
              <a:t>Do you have a friend whose family you know?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428999"/>
            <a:ext cx="74980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009B9B"/>
                </a:solidFill>
                <a:latin typeface="Arial"/>
              </a:rPr>
              <a:t>-&gt;  Yes, I have a friend whose ____.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114800"/>
            <a:ext cx="8046720" cy="1143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4206240"/>
            <a:ext cx="76809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/>
              </a:rPr>
              <a:t>Best quality?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709160"/>
            <a:ext cx="74980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009B9B"/>
                </a:solidFill>
                <a:latin typeface="Arial"/>
              </a:rPr>
              <a:t>-&gt;  He/She is someone who ____.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Speak naturally.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24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LISTENING — My Best Friend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08760"/>
            <a:ext cx="8046720" cy="4206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7680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6B35"/>
                </a:solidFill>
                <a:latin typeface="Arial"/>
              </a:rPr>
              <a:t>TEXT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59" y="2057400"/>
            <a:ext cx="7498080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0" i="0">
                <a:solidFill>
                  <a:srgbClr val="000000"/>
                </a:solidFill>
                <a:latin typeface="Arial"/>
              </a:rPr>
              <a:t>My best friend is a person who always makes me laugh. Her name is Lucia, and she's someone who loves adventure. She has a brother whose name is Marco. They live in a house where there's a big garden. Lucia is a girl who speaks three languages and plays the guitar. The thing that I like most about her is her positive attitude.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Listen carefully to the text.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LISTENING — Answer the questions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8046720" cy="7315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76809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000000"/>
                </a:solidFill>
                <a:latin typeface="Arial"/>
              </a:rPr>
              <a:t>1. Who is Lucia?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404872"/>
            <a:ext cx="8046720" cy="7315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404872"/>
            <a:ext cx="76809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000000"/>
                </a:solidFill>
                <a:latin typeface="Arial"/>
              </a:rPr>
              <a:t>2. What does Lucia love?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209544"/>
            <a:ext cx="8046720" cy="7315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209544"/>
            <a:ext cx="76809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000000"/>
                </a:solidFill>
                <a:latin typeface="Arial"/>
              </a:rPr>
              <a:t>3. What is her brother's name?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014215"/>
            <a:ext cx="8046720" cy="7315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4014215"/>
            <a:ext cx="76809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000000"/>
                </a:solidFill>
                <a:latin typeface="Arial"/>
              </a:rPr>
              <a:t>4. Where do they live?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818888"/>
            <a:ext cx="8046720" cy="7315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818888"/>
            <a:ext cx="76809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000000"/>
                </a:solidFill>
                <a:latin typeface="Arial"/>
              </a:rPr>
              <a:t>5. What languages does Lucia speak?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Answer in complete sentences.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SPEAKING CHALLENGE — An Important Person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600200"/>
            <a:ext cx="7315200" cy="685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600200"/>
            <a:ext cx="69494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/>
              </a:rPr>
              <a:t>3 who sentences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377440"/>
            <a:ext cx="7315200" cy="685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377440"/>
            <a:ext cx="69494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/>
              </a:rPr>
              <a:t>2 which sentences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3154680"/>
            <a:ext cx="7315200" cy="685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3154680"/>
            <a:ext cx="69494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/>
              </a:rPr>
              <a:t>2 where sentences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3931920"/>
            <a:ext cx="7315200" cy="685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3931920"/>
            <a:ext cx="69494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/>
              </a:rPr>
              <a:t>1 whose sentence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4709159"/>
            <a:ext cx="7315200" cy="685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4709159"/>
            <a:ext cx="69494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/>
              </a:rPr>
              <a:t>90-120 seconds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Speak 1-2 minutes. No memorization.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27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WRITING — Requirements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08760"/>
            <a:ext cx="3931920" cy="10058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3657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FF6B35"/>
                </a:solidFill>
                <a:latin typeface="Arial"/>
              </a:rPr>
              <a:t>120-150 WORDS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3657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000000"/>
                </a:solidFill>
                <a:latin typeface="Arial"/>
              </a:rPr>
              <a:t>TIME: 30 min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63440" y="1508760"/>
            <a:ext cx="3931920" cy="100584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46320" y="1554480"/>
            <a:ext cx="3657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F6B35"/>
                </a:solidFill>
                <a:latin typeface="Arial"/>
              </a:rPr>
              <a:t>FOCUS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0" y="1920240"/>
            <a:ext cx="3657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 i="0">
                <a:solidFill>
                  <a:srgbClr val="FFFFFF"/>
                </a:solidFill>
                <a:latin typeface="Arial"/>
              </a:rPr>
              <a:t>Relative Clauses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697480"/>
            <a:ext cx="8046720" cy="3063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743200"/>
            <a:ext cx="7680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6B35"/>
                </a:solidFill>
                <a:latin typeface="Arial"/>
              </a:rPr>
              <a:t>REQUIREMENTS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3200400"/>
            <a:ext cx="7589520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 i="0">
                <a:solidFill>
                  <a:srgbClr val="000000"/>
                </a:solidFill>
                <a:latin typeface="Arial"/>
              </a:rPr>
              <a:t>- 3 who</a:t>
            </a:r>
          </a:p>
          <a:p>
            <a:pPr algn="l">
              <a:lnSpc>
                <a:spcPct val="130000"/>
              </a:lnSpc>
            </a:pPr>
            <a:r>
              <a:rPr sz="2000" b="0" i="0">
                <a:solidFill>
                  <a:srgbClr val="000000"/>
                </a:solidFill>
                <a:latin typeface="Arial"/>
              </a:rPr>
              <a:t>- 2 which</a:t>
            </a:r>
          </a:p>
          <a:p>
            <a:pPr algn="l">
              <a:lnSpc>
                <a:spcPct val="130000"/>
              </a:lnSpc>
            </a:pPr>
            <a:r>
              <a:rPr sz="2000" b="0" i="0">
                <a:solidFill>
                  <a:srgbClr val="000000"/>
                </a:solidFill>
                <a:latin typeface="Arial"/>
              </a:rPr>
              <a:t>- 2 where</a:t>
            </a:r>
          </a:p>
          <a:p>
            <a:pPr algn="l">
              <a:lnSpc>
                <a:spcPct val="130000"/>
              </a:lnSpc>
            </a:pPr>
            <a:r>
              <a:rPr sz="2000" b="0" i="0">
                <a:solidFill>
                  <a:srgbClr val="000000"/>
                </a:solidFill>
                <a:latin typeface="Arial"/>
              </a:rPr>
              <a:t>- 1 whose</a:t>
            </a:r>
          </a:p>
          <a:p>
            <a:pPr algn="l">
              <a:lnSpc>
                <a:spcPct val="130000"/>
              </a:lnSpc>
            </a:pPr>
            <a:r>
              <a:rPr sz="2000" b="0" i="0">
                <a:solidFill>
                  <a:srgbClr val="000000"/>
                </a:solidFill>
                <a:latin typeface="Arial"/>
              </a:rPr>
              <a:t>- 1 that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Follow the requirements.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28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WRITING — Template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8046720" cy="4343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645920"/>
            <a:ext cx="7406640" cy="397763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100" b="0" i="0">
                <a:solidFill>
                  <a:srgbClr val="000000"/>
                </a:solidFill>
                <a:latin typeface="Arial"/>
              </a:rPr>
              <a:t>AN IMPORTANT PERSON   —   By: ____________</a:t>
            </a:r>
          </a:p>
          <a:p>
            <a:pPr algn="l">
              <a:lnSpc>
                <a:spcPct val="125000"/>
              </a:lnSpc>
            </a:pPr>
          </a:p>
          <a:p>
            <a:pPr algn="l">
              <a:lnSpc>
                <a:spcPct val="125000"/>
              </a:lnSpc>
            </a:pPr>
            <a:r>
              <a:rPr sz="2100" b="0" i="0">
                <a:solidFill>
                  <a:srgbClr val="000000"/>
                </a:solidFill>
                <a:latin typeface="Arial"/>
              </a:rPr>
              <a:t>The person who inspires me most is ____________.</a:t>
            </a:r>
          </a:p>
          <a:p>
            <a:pPr algn="l">
              <a:lnSpc>
                <a:spcPct val="125000"/>
              </a:lnSpc>
            </a:pPr>
            <a:r>
              <a:rPr sz="2100" b="0" i="0">
                <a:solidFill>
                  <a:srgbClr val="000000"/>
                </a:solidFill>
                <a:latin typeface="Arial"/>
              </a:rPr>
              <a:t>He/She is someone who ____________.</a:t>
            </a:r>
          </a:p>
          <a:p>
            <a:pPr algn="l">
              <a:lnSpc>
                <a:spcPct val="125000"/>
              </a:lnSpc>
            </a:pPr>
            <a:r>
              <a:rPr sz="2100" b="0" i="0">
                <a:solidFill>
                  <a:srgbClr val="000000"/>
                </a:solidFill>
                <a:latin typeface="Arial"/>
              </a:rPr>
              <a:t>I admire him/her because ____________.</a:t>
            </a:r>
          </a:p>
          <a:p>
            <a:pPr algn="l">
              <a:lnSpc>
                <a:spcPct val="125000"/>
              </a:lnSpc>
            </a:pPr>
            <a:r>
              <a:rPr sz="2100" b="0" i="0">
                <a:solidFill>
                  <a:srgbClr val="000000"/>
                </a:solidFill>
                <a:latin typeface="Arial"/>
              </a:rPr>
              <a:t>He/She is a person whose ____________.</a:t>
            </a:r>
          </a:p>
          <a:p>
            <a:pPr algn="l">
              <a:lnSpc>
                <a:spcPct val="125000"/>
              </a:lnSpc>
            </a:pPr>
            <a:r>
              <a:rPr sz="2100" b="0" i="0">
                <a:solidFill>
                  <a:srgbClr val="000000"/>
                </a:solidFill>
                <a:latin typeface="Arial"/>
              </a:rPr>
              <a:t>We met in a place where ____________.</a:t>
            </a:r>
          </a:p>
          <a:p>
            <a:pPr algn="l">
              <a:lnSpc>
                <a:spcPct val="125000"/>
              </a:lnSpc>
            </a:pPr>
          </a:p>
          <a:p>
            <a:pPr algn="l">
              <a:lnSpc>
                <a:spcPct val="125000"/>
              </a:lnSpc>
            </a:pPr>
            <a:r>
              <a:rPr sz="2100" b="0" i="0">
                <a:solidFill>
                  <a:srgbClr val="000000"/>
                </a:solidFill>
                <a:latin typeface="Arial"/>
              </a:rPr>
              <a:t>He/She has a ____________ which ____________.</a:t>
            </a:r>
          </a:p>
          <a:p>
            <a:pPr algn="l">
              <a:lnSpc>
                <a:spcPct val="125000"/>
              </a:lnSpc>
            </a:pPr>
            <a:r>
              <a:rPr sz="2100" b="0" i="0">
                <a:solidFill>
                  <a:srgbClr val="000000"/>
                </a:solidFill>
                <a:latin typeface="Arial"/>
              </a:rPr>
              <a:t>The thing that I like most is ____________.</a:t>
            </a:r>
          </a:p>
          <a:p>
            <a:pPr algn="l">
              <a:lnSpc>
                <a:spcPct val="125000"/>
              </a:lnSpc>
            </a:pPr>
          </a:p>
          <a:p>
            <a:pPr algn="l">
              <a:lnSpc>
                <a:spcPct val="125000"/>
              </a:lnSpc>
            </a:pPr>
            <a:r>
              <a:rPr sz="2100" b="0" i="0">
                <a:solidFill>
                  <a:srgbClr val="000000"/>
                </a:solidFill>
                <a:latin typeface="Arial"/>
              </a:rPr>
              <a:t>He/She is the kind of person who ____________.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Use this template to write.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29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CHECKPOINT — Rate your progress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8046720" cy="7315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76809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000000"/>
                </a:solidFill>
                <a:latin typeface="Arial"/>
              </a:rPr>
              <a:t>I can use who for people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404872"/>
            <a:ext cx="8046720" cy="7315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404872"/>
            <a:ext cx="76809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000000"/>
                </a:solidFill>
                <a:latin typeface="Arial"/>
              </a:rPr>
              <a:t>I can use which for things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209544"/>
            <a:ext cx="8046720" cy="7315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209544"/>
            <a:ext cx="76809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000000"/>
                </a:solidFill>
                <a:latin typeface="Arial"/>
              </a:rPr>
              <a:t>I can use where for places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014215"/>
            <a:ext cx="8046720" cy="7315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4014215"/>
            <a:ext cx="76809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000000"/>
                </a:solidFill>
                <a:latin typeface="Arial"/>
              </a:rPr>
              <a:t>I can use whose for possession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818888"/>
            <a:ext cx="8046720" cy="7315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818888"/>
            <a:ext cx="76809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000000"/>
                </a:solidFill>
                <a:latin typeface="Arial"/>
              </a:rPr>
              <a:t>I can combine two sentences into one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Be honest with yourself.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30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SELF-EVALUATION — Rate (1-4)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8046720" cy="7315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4023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000000"/>
                </a:solidFill>
                <a:latin typeface="Arial"/>
              </a:rPr>
              <a:t>Vocabulary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80" y="1600200"/>
            <a:ext cx="457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0" y="1600200"/>
            <a:ext cx="457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0" y="1600200"/>
            <a:ext cx="457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79" y="1600200"/>
            <a:ext cx="457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404872"/>
            <a:ext cx="8046720" cy="7315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404872"/>
            <a:ext cx="4023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000000"/>
                </a:solidFill>
                <a:latin typeface="Arial"/>
              </a:rPr>
              <a:t>Who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80" y="2404872"/>
            <a:ext cx="457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2404872"/>
            <a:ext cx="457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0" y="2404872"/>
            <a:ext cx="457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79" y="2404872"/>
            <a:ext cx="457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4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209544"/>
            <a:ext cx="8046720" cy="7315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209544"/>
            <a:ext cx="4023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000000"/>
                </a:solidFill>
                <a:latin typeface="Arial"/>
              </a:rPr>
              <a:t>Which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12080" y="3209544"/>
            <a:ext cx="457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0" y="3209544"/>
            <a:ext cx="457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0880" y="3209544"/>
            <a:ext cx="457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79" y="3209544"/>
            <a:ext cx="457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4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014215"/>
            <a:ext cx="8046720" cy="7315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4014215"/>
            <a:ext cx="4023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000000"/>
                </a:solidFill>
                <a:latin typeface="Arial"/>
              </a:rPr>
              <a:t>Where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12080" y="4014215"/>
            <a:ext cx="457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26480" y="4014215"/>
            <a:ext cx="457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40880" y="4014215"/>
            <a:ext cx="457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55279" y="4014215"/>
            <a:ext cx="457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4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4818888"/>
            <a:ext cx="8046720" cy="7315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4818888"/>
            <a:ext cx="4023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000000"/>
                </a:solidFill>
                <a:latin typeface="Arial"/>
              </a:rPr>
              <a:t>Whose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12080" y="4818888"/>
            <a:ext cx="457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26480" y="4818888"/>
            <a:ext cx="457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0880" y="4818888"/>
            <a:ext cx="457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55279" y="4818888"/>
            <a:ext cx="457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4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Reflect on your learning.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31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RESOURCES — Keep learning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08760"/>
            <a:ext cx="8046720" cy="45720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76809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PODCASTS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59" y="2011680"/>
            <a:ext cx="75895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000000"/>
                </a:solidFill>
                <a:latin typeface="Arial"/>
              </a:rPr>
              <a:t>- Aussie English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377440"/>
            <a:ext cx="75895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000000"/>
                </a:solidFill>
                <a:latin typeface="Arial"/>
              </a:rPr>
              <a:t>- British English Podcast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834640"/>
            <a:ext cx="8046720" cy="45720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834640"/>
            <a:ext cx="76809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VIDEOS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3337560"/>
            <a:ext cx="75895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000000"/>
                </a:solidFill>
                <a:latin typeface="Arial"/>
              </a:rPr>
              <a:t>- English with Lucy — Relative Clauses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794760"/>
            <a:ext cx="8046720" cy="45720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794760"/>
            <a:ext cx="76809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APPS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59" y="4297680"/>
            <a:ext cx="75895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000000"/>
                </a:solidFill>
                <a:latin typeface="Arial"/>
              </a:rPr>
              <a:t>- Duolingo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59" y="4663440"/>
            <a:ext cx="75895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000000"/>
                </a:solidFill>
                <a:latin typeface="Arial"/>
              </a:rPr>
              <a:t>- Quizlet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Practice every day.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HOMEWORK — Your tasks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8046720" cy="50292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76809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WRITING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59" y="2148840"/>
            <a:ext cx="75895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000000"/>
                </a:solidFill>
                <a:latin typeface="Arial"/>
              </a:rPr>
              <a:t>Write 10-12 sentences about an important person.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651760"/>
            <a:ext cx="8046720" cy="50292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651760"/>
            <a:ext cx="76809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SPEAKING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3200400"/>
            <a:ext cx="75895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000000"/>
                </a:solidFill>
                <a:latin typeface="Arial"/>
              </a:rPr>
              <a:t>Record yourself (90-120 sec).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703320"/>
            <a:ext cx="8046720" cy="50292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703320"/>
            <a:ext cx="76809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PRONUNCIATION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4251960"/>
            <a:ext cx="75895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000000"/>
                </a:solidFill>
                <a:latin typeface="Arial"/>
              </a:rPr>
              <a:t>Practice rhythm with 10 sentences.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754880"/>
            <a:ext cx="8046720" cy="50292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754880"/>
            <a:ext cx="76809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APP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59" y="5303520"/>
            <a:ext cx="75895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000000"/>
                </a:solidFill>
                <a:latin typeface="Arial"/>
              </a:rPr>
              <a:t>Practice Relative Clauses.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Deadline: ____________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33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71600" y="1371600"/>
            <a:ext cx="6400800" cy="164592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371600"/>
            <a:ext cx="6400800" cy="1645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5400" b="1" i="0">
                <a:solidFill>
                  <a:srgbClr val="FFFFFF"/>
                </a:solidFill>
                <a:latin typeface="Arial"/>
              </a:rPr>
              <a:t>GRACIAS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291840"/>
            <a:ext cx="80467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3600" b="1" i="0">
                <a:solidFill>
                  <a:srgbClr val="3D1F5C"/>
                </a:solidFill>
                <a:latin typeface="Arial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206240"/>
            <a:ext cx="80467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0" i="1">
                <a:solidFill>
                  <a:srgbClr val="000000"/>
                </a:solidFill>
                <a:latin typeface="Arial"/>
              </a:rPr>
              <a:t>You've completed this class!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5029200"/>
            <a:ext cx="6400800" cy="731520"/>
          </a:xfrm>
          <a:prstGeom prst="round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5029200"/>
            <a:ext cx="64008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Arial"/>
              </a:rPr>
              <a:t>NEXT: CLASS 17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Congratulations!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