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COVER (Class 18)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Ouverture.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2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SCRIPT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"Hello Ingrid! Welcome to Class 18.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Today: Future Continuous &amp; Perfect. Ready?"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ACTIONS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Verifier Teams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Small talk 30 sec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Annoncer 90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"Let's start with the objectives."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OVERVIEW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Annoncer objectifs.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3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Lire chaque objectif a voix haute.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expliquer.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DIRE : "By the end of today, you will be able to do all of this."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"Let's start with a warm-up."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WARM-UP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Activer connaissances.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Ingrid repond ORALEMENT sans notes.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Max 2-3 corrections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new vocabulary."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VOCABULARY (1)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Introduire vocabulaire.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8-10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METHODE 3 ETAPES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Prof dit -&gt; Ingrid repete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Prof traduit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Ingrid fait une phrase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lire simplement.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TOUJOURS prononcer + utiliser.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common mistakes."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VOCABULARY (2)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Introduire vocabulaire.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8-10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METHODE 3 ETAPES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Prof dit -&gt; Ingrid repete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Prof traduit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Ingrid fait une phrase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lire simplement.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TOUJOURS prononcer + utiliser.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common mistakes."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COMMON MISTAKES (Trampas)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Erreurs frequentes hispanophones.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METHODE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l'erreur (X)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"Esta correcto?"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Ingrid corrige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Montrer la correction (OK)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Lire l'explication en espagnol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6. Repetir 3x la forme correcte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FRASES UTILES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"Esta es una trampa muy comun."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"Cuidado con esta palabra."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"Repite conmigo 3 veces."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juger les erreurs.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ENCOURAGER : "Es normal, todos lo hacemos."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"Ahora veamos expresiones completas."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EXPRESSIONS &amp; YOUR TURN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Blocs lexicaux + production.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8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PARTIE 1 - EXPRESSIONS (4 min)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Lire chaque expression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Ingrid repete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Demander : "When do you use this?"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PARTIE 2 - YOUR TURN (4 min)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Lire la consigne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Ingrid ecrit 1 phrase par mot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Verifier oralement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ecrire a sa place.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CORRIGER 2-3 erreurs max.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the grammar."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GRAMMAR 1.1 : Future Continuous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Presenter structure.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APPROCHE DECOUVERTE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Montrer exemples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Demander : "What pattern?"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Laisser deviner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Confirmer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Exemples personnels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POINT : WILL BE + verb-ing | WILL HAVE + participio.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MAX 2-3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SOUND : Reductions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Focus phonetique.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METHODE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ECOUTER : prof prononce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DISTINGUER : Ingrid identifie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REPETER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enseigner theorie.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 in words."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PRONUNCIATION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Pratique active.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Chaque mot repete 5 fois.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Prof corrige en temps reel.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Enregistrer si possible.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 with exercises."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WARM-UP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Activer connaissances.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Ingrid repond ORALEMENT sans notes.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Max 2-3 corrections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new vocabulary."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WARM-UP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Activer connaissances.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Ingrid repond ORALEMENT sans notes.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Max 2-3 corrections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new vocabulary."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WARM-UP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Activer connaissances.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Ingrid repond ORALEMENT sans notes.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Max 2-3 corrections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new vocabulary."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CONVERSATION (1)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Pratique orale.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10-12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Prof pose UNE question.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Ingrid repond librement.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Corriger 2-3 erreurs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FOLLOW-UP : "Really? Tell me more."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listen to a short text."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CONVERSATION (2)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Pratique orale.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10-12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Prof pose UNE question.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Ingrid repond librement.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Corriger 2-3 erreurs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FOLLOW-UP : "Really? Tell me more."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listen to a short text."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LISTENING TEXT : Text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Comprehension.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4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2 LECTURES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1ere : GLOBALE (sans ecrire)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2eme : DETAILLEE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montrer le texte.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LIRE lentement.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answer the questions."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LISTENING QUESTIONS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Comprehension detaillee.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4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Ingrid repond en PHRASE COMPLETE.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Corriger apres.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it's your turn to speak."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SPEAKING CHALLENGE : Challenge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Production orale.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TIMING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- 0:45 Explication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- 0:45 Preparation mentale (silence)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- 2:00 Monologue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- 2:00 Feedback (2+1)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- 0:30 Re-record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SCRIPT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"Okay Ingrid, YOUR turn.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Talk for 2 minutes.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Use: Future Continuous and Future Perfect.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Take 45 sec to think. Ready?"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OBSERVER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Future Continuous min 3 fois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Future Perfect min 3 fois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Duree 60-90 sec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- Pauses &lt; 5 sec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FEEDBACK (2+1)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Compliment CONCRET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Compliment CONCRET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UNE correction -&gt; repeter 2 fois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interrompre.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write about this."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WRITING REQUIREMENTS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Preparer ecrit.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3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5 ETAPES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Brainstorming (3 min)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Borrador (10 min)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Revision (5 min)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4. Edicion (5 min)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5. Publicacion (5 min)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FOCUS : Future Continuous + Future Perfect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ecrire a sa place.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the template."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WRITING TEMPLATE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Guide structurel.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2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Ingrid ecrit sur papier.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Suit le template.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Complete les blancs.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VERIFIER a la fin.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check your progress."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CHECKPOINT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Auto-evaluation.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Lire chaque critere.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Ingrid repond honnetement.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juger.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reflect."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VOCABULARY (1)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Introduire vocabulaire.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8-10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METHODE 3 ETAPES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1. Prof dit -&gt; Ingrid repete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Prof traduit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Ingrid fait une phrase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lire simplement.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TOUJOURS prononcer + utiliser.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look at common mistakes."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PRACTICE (1)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Pratique controlee.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8-10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1. ORAL d'abord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2. ECRIT ensuite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3. CORRECTION en temps reel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Ne pas donner la reponse.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Laisser 5-10 secondes.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MAX 3 corrections.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use these in conversation."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PRONUNCIATION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Pratique active.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5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Chaque mot repete 5 fois.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Prof corrige en temps reel.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Enregistrer si possible.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TRANSITION : "Now let's practice with exercises."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000">
                <a:latin typeface="Arial" panose="020B0604020202020204"/>
              </a:rPr>
              <a:t>SLIDE - THANKS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ROLE : Cloture.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DUREE : 2 min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SCRIPT :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"Excellent work today, Ingrid!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You've completed Class 18.</a:t>
            </a:r>
            <a:endParaRPr sz="1000">
              <a:latin typeface="Arial" panose="020B0604020202020204"/>
            </a:endParaRPr>
          </a:p>
          <a:p>
            <a:r>
              <a:rPr sz="1000">
                <a:latin typeface="Arial" panose="020B0604020202020204"/>
              </a:rPr>
              <a:t>See you next time."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Rappeler : FINAL PROJECT</a:t>
            </a:r>
            <a:endParaRPr sz="1000">
              <a:latin typeface="Arial" panose="020B0604020202020204"/>
            </a:endParaRPr>
          </a:p>
          <a:p>
            <a:endParaRPr sz="1000"/>
          </a:p>
          <a:p>
            <a:r>
              <a:rPr sz="1000">
                <a:latin typeface="Arial" panose="020B0604020202020204"/>
              </a:rPr>
              <a:t>TERMINER sur une note positive.</a:t>
            </a:r>
            <a:endParaRPr sz="1000">
              <a:latin typeface="Arial" panose="020B0604020202020204"/>
            </a:endParaRPr>
          </a:p>
          <a:p>
            <a:endParaRPr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3D1F5C"/>
                </a:solidFill>
                <a:latin typeface="Arial" panose="020B0604020202020204"/>
              </a:rPr>
              <a:t>BY NEXT YEAR, I WILL HAVE...</a:t>
            </a:r>
            <a:endParaRPr sz="4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8046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Ingrid - English - Class 18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Profesor: Jean Thomas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Welcome!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OVERVIEW — Today's Objectives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01.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Use Future Continuous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221992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02.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2221992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Use Future Perfect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35224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03.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Talk about actions in progress in future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04.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63040" y="3648456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Talk about completed actions before future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361688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05.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4361688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Use by, by the time, this time next week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822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B35"/>
                </a:solidFill>
                <a:latin typeface="Arial" panose="020B0604020202020204"/>
              </a:rPr>
              <a:t>06.</a:t>
            </a:r>
            <a:endParaRPr sz="22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3040" y="5074920"/>
            <a:ext cx="71323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Speak 90-120 sec about projections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GOAL: Speak with confidence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— Answer orally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will you be doing at 8 p.m. tonight?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450591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50591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will you have done by next year?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346703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46703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Where will you be living in 10 years?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242816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will you have achieved by 30?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5138927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38927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-  What will you be doing this time next week?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without looking at your notes.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VOCABULARY — Life Projections (1/2)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graduate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graduarse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graduate from university  + graduate next year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"By next year, I will have graduated."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'graduate of the university' (as verb)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get a degree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obtener un título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get a degree in English  + get a university degree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"By 2030, I will have got a degree in English."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'take a degree'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get married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casarse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get married next year  + get married to someone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"By 30, I will have got married."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'marry with someone'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Read aloud. Practice collocations.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05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VOCABULARY — Life Projections (2/2)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buy a house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8191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comprar una casa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581912"/>
            <a:ext cx="1554480" cy="3657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ESSENTIAL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196596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buy a house near the beach  + buy a big house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"By 2040, I will have bought a house."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'buy to a house'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start a business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0" y="2999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empezar un negocio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0" y="299923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99923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IMPORTANT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338328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start a small business  + start a business online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"By the time I'm 35, I will have started a business."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'start to a business'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4343400"/>
            <a:ext cx="804672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16552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retire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441655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— jubilarse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0" y="4416552"/>
            <a:ext cx="1554480" cy="36576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41655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IMPORTANT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59" y="4800600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 panose="020B0604020202020204"/>
              </a:rPr>
              <a:t>+ retire early  + retire at 65</a:t>
            </a:r>
            <a:endParaRPr sz="1300" b="0" i="0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59" y="5093208"/>
            <a:ext cx="7589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000000"/>
                </a:solidFill>
                <a:latin typeface="Arial" panose="020B0604020202020204"/>
              </a:rPr>
              <a:t>  "By 2050, I will have retired."</a:t>
            </a:r>
            <a:endParaRPr sz="14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59" y="534924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2828"/>
                </a:solidFill>
                <a:latin typeface="Arial" panose="020B0604020202020204"/>
              </a:rPr>
              <a:t>  NOT 'retire me'</a:t>
            </a:r>
            <a:endParaRPr sz="13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Read aloud. Practice collocations.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06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⚠️  COMMON MISTAKES — Avoid these!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By the time I will arrive, I will call you.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By the time I arrive, I will call you.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Después de 'by the time' no se usa 'will'.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I will have graduate.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I will have graduated.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Future Perfect: will have + participio.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I will be study at 8 p.m.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I will be studying at 8 p.m.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Future Continuous: will be + verbo-ing.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4800600"/>
            <a:ext cx="8046720" cy="100583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62828"/>
                </a:solidFill>
                <a:latin typeface="Arial" panose="020B0604020202020204"/>
              </a:rPr>
              <a:t>❌  I will finish until 8 p.m.</a:t>
            </a:r>
            <a:endParaRPr sz="1700" b="1" i="0">
              <a:solidFill>
                <a:srgbClr val="C62828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518464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E7D32"/>
                </a:solidFill>
                <a:latin typeface="Arial" panose="020B0604020202020204"/>
              </a:rPr>
              <a:t>✓   I will finish by 8 p.m.</a:t>
            </a:r>
            <a:endParaRPr sz="1700" b="1" i="0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522976"/>
            <a:ext cx="7680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66666"/>
                </a:solidFill>
                <a:latin typeface="Arial" panose="020B0604020202020204"/>
              </a:rPr>
              <a:t>      'By' = antes de. 'Until' = hasta (continuo).</a:t>
            </a:r>
            <a:endParaRPr sz="1300" b="0" i="1">
              <a:solidFill>
                <a:srgbClr val="666666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Repeat after me. Don't make these mistakes!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07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EXPRESSIONS &amp; YOUR TURN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EXPRESSIONS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This time tomorrow, I will be flying to Paris.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313432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By next year, I will have graduated.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660903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By the time you arrive, I will have cooked dinner.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008375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Don't call me at 9; I will be studying.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3355847"/>
            <a:ext cx="7589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▸  In ten years, I will be living abroad.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8046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🎯  YOUR TURN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4389120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1.  This time next year, I will be  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470915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2.  By next year, I will have         -&gt; ________________________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502919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3.  By the time I'm 30, I will have ____.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534923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4.  At 8 p.m. tonight, I will be ____.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5669279"/>
            <a:ext cx="7589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5.  By 2040, I will have ____.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Write your own sentences.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08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Continuous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FORMULA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SUBJECT + WILL BE + VERB-ING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BE + verb-ing.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09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Continuous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EXAMPLES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This time tomorrow, I will be flying to Paris.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At 8 p.m. tonight, I will be having dinner.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Don't call me at 9; I will be studying.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BE + verb-ing.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10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Continuous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NEGATIVE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won't be studying at 8 p.m.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BE + verb-ing.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Continuous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QUESTIONS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Will you be studying at 8 p.m.?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Yes, I will. / No, I won't.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BE + verb-ing.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Perfect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FORMULA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SUBJECT + WILL HAVE + PAST PARTICIPLE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HAVE + past participle.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Perfect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EXAMPLES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By next year, I will have graduated.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By the time you arrive, I will have cooked dinner.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In 2030, I will have visited 20 countries.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HAVE + past participle.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Perfect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NEGATIVE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I won't have finished by 8 p.m.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HAVE + past participle.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15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Perfect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QUESTIONS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Will you have finished by 8 p.m.?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Yes, I will. / No, I won't.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HAVE + past participle.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16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GRAMMAR — Future Perfect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Arial" panose="020B0604020202020204"/>
              </a:rPr>
              <a:t>COMPARISON</a:t>
            </a:r>
            <a:endParaRPr sz="2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80467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23160"/>
            <a:ext cx="74980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At 8 p.m., I will be studying. (in progress)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By 8 p.m., I will have studied. (finished)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WILL HAVE + past participle.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17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SOUND — Reductions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91640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going to -&gt; gonna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350008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50008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want to -&gt; wanna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008376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008376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got to -&gt; gotta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666744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666744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have to -&gt; hafta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325112"/>
            <a:ext cx="8046720" cy="59435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325112"/>
            <a:ext cx="7498080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used to -&gt; usta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Informal: reductions. Formal: full forms.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18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PRONUNCIATION — Practice Reductions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I'm gonna go.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/ˈɡənə/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I wanna eat.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/ˈwɑːnə/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I gotta go.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/ˈɡɑːtə/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I hafta study.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009B9B"/>
                </a:solidFill>
                <a:latin typeface="Arial" panose="020B0604020202020204"/>
              </a:rPr>
              <a:t>/ˈhæftə/</a:t>
            </a:r>
            <a:endParaRPr sz="1800" b="0" i="1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Record yourself and compare.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19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PRACTICE — Complete (1/3)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1. At 8 p.m. tonight, I ___ (have) dinner.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2. This time tomorrow, she ___ (travel) to Paris.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3. Don't call me at 9; I ___ (study).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4. At midnight, they ___ (sleep).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orally first.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20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PRACTICE — Complete (2/3)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5. This time next week, we ___ (lie) on beach.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6. By next year, I ___ (graduate).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7. By 8 p.m., she ___ (finish) her homework.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8. By the time you arrive, I ___ (cook) dinner.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orally first.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PRACTICE — Complete (3/3)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9. In five years, he ___ (buy) a house.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10. By 2030, they ___ (visit) 20 countries.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11. At 8 p.m., I ___ (will be studying / will have studied)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389120"/>
            <a:ext cx="804672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000000"/>
                </a:solidFill>
                <a:latin typeface="Arial" panose="020B0604020202020204"/>
              </a:rPr>
              <a:t>12. By 8 p.m., I ___ (will be studying / will have studied)</a:t>
            </a:r>
            <a:endParaRPr sz="22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orally first.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— Conversation (1/2)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will you be doing at 8 p.m.?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At 8 p.m., I will be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will you have done by next year?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By next year, I will have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Where will you be living in 10 years?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In 10 years, I will be living in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naturally.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— Conversation (2/2)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will you have achieved by 30?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By 30, I will have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834639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will you be doing next week?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428999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Next week, I will be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804672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What by 2030?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7498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9B9B"/>
                </a:solidFill>
                <a:latin typeface="Arial" panose="020B0604020202020204"/>
              </a:rPr>
              <a:t>-&gt;  By 2030, I will have ____.</a:t>
            </a:r>
            <a:endParaRPr sz="1800" b="0" i="0">
              <a:solidFill>
                <a:srgbClr val="009B9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naturally.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LISTENING — My Life in 10 Years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TEXT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74980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In ten years, my life will be very different. This time next year, I will be studying at university. By 2030, I will have graduated and found a job. I will be working in a big company. By the time I'm 30, I will have traveled to at least 15 countries. At 8 p.m. on a typical day, I will be having dinner with my family. By 2040, I will have bought my own house and maybe started a family.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Listen carefully to the text.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25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LISTENING — Answer the questions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1. What will the speaker be doing this time next year?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2. What will the speaker have done by 2030?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3. How many countries by 30?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4. What at 8 p.m.?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5. What by 2040?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Answer in complete sentences.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26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SPEAKING CHALLENGE — My Life in 10 Years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60020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4 Future Continuous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237744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4 Future Perfect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14400" y="315468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2 by / by the time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1 negative sentence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4709159"/>
            <a:ext cx="73152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09159"/>
            <a:ext cx="6949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D1F5C"/>
                </a:solidFill>
                <a:latin typeface="Arial" panose="020B0604020202020204"/>
              </a:rPr>
              <a:t>90-120 seconds</a:t>
            </a:r>
            <a:endParaRPr sz="20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 1-2 minutes. No memorization.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27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WRITING — Requirements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6B35"/>
                </a:solidFill>
                <a:latin typeface="Arial" panose="020B0604020202020204"/>
              </a:rPr>
              <a:t>150-200 WORDS</a:t>
            </a:r>
            <a:endParaRPr sz="20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TIME: 35 min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63440" y="1508760"/>
            <a:ext cx="3931920" cy="100584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B35"/>
                </a:solidFill>
                <a:latin typeface="Arial" panose="020B0604020202020204"/>
              </a:rPr>
              <a:t>FOCUS</a:t>
            </a:r>
            <a:endParaRPr sz="16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Arial" panose="020B0604020202020204"/>
              </a:rPr>
              <a:t>Future Continuous + Perfect</a:t>
            </a:r>
            <a:endParaRPr sz="1600" b="0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804672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6B35"/>
                </a:solidFill>
                <a:latin typeface="Arial" panose="020B0604020202020204"/>
              </a:rPr>
              <a:t>REQUIREMENTS</a:t>
            </a:r>
            <a:endParaRPr sz="1800" b="1" i="0">
              <a:solidFill>
                <a:srgbClr val="FF6B35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3200400"/>
            <a:ext cx="7589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- 4 Future Continuous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- 4 Future Perfect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- 2 by / by the time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- 1 negative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Follow the requirements.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28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WRITING — Template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8046720" cy="4343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21777"/>
            <a:ext cx="7406640" cy="42259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MY LIFE IN 10 YEARS   —   By: ____________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In ten years, my life will be very different.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This time next year, I will be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By 2030, I will have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At 8 p.m. on a typical day, I will be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By the time I'm 30, I will have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I will be living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I will have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I won't be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By 2040, I will have ____________.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00000"/>
                </a:solidFill>
                <a:latin typeface="Arial" panose="020B0604020202020204"/>
              </a:rPr>
              <a:t>I will be living a ____________ life.</a:t>
            </a:r>
            <a:endParaRPr sz="18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Use this template to write.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29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CHECKPOINT — Rate your progress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use Future Continuous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04872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use Future Perfect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9544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distinguish both tenses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14215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use by and by the time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I can talk about my future life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Be honest with yourself.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30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SELF-EVALUATION — Rate (1-4)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Vocabulary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120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404872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Future Continuous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120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0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55279" y="2404872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9544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Future Perfect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120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4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0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3209544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5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14215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By / By the time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120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264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0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55279" y="4014215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4818888"/>
            <a:ext cx="804672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18888"/>
            <a:ext cx="4023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Fluency</a:t>
            </a:r>
            <a:endParaRPr sz="20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120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264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40880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55279" y="4818888"/>
            <a:ext cx="457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4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Reflect on your learning.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31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RESOURCES — Keep learning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PODCASTS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Curious Minds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Economist Podcasts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VIDEOS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9" y="333756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English with Lucy — Future Continuous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8046720" cy="45720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7680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APPS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429768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Duolingo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4663440"/>
            <a:ext cx="7589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- Quizlet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Practice every day.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32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046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1F5C"/>
                </a:solidFill>
                <a:latin typeface="Arial" panose="020B0604020202020204"/>
              </a:rPr>
              <a:t>HOMEWORK — Your tasks</a:t>
            </a:r>
            <a:endParaRPr sz="2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WRITING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Write 10-12 sentences about life in 10 years.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SPEAKING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59" y="320040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Record yourself (90-120 sec).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PRONUNCIATION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425196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Practice reductions with 10 sentences.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8046720" cy="502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APP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59" y="5303520"/>
            <a:ext cx="7589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Practice Future Continuous &amp; Perfect.</a:t>
            </a:r>
            <a:endParaRPr sz="1600" b="0" i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Deadline: ____________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228600"/>
            <a:ext cx="1371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3D1F5C"/>
                </a:solidFill>
                <a:latin typeface="Arial" panose="020B0604020202020204"/>
              </a:rPr>
              <a:t>33</a:t>
            </a:r>
            <a:endParaRPr sz="18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6400800" cy="164592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Arial" panose="020B0604020202020204"/>
              </a:rPr>
              <a:t>GRACIAS</a:t>
            </a:r>
            <a:endParaRPr sz="5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3D1F5C"/>
                </a:solidFill>
                <a:latin typeface="Arial" panose="020B0604020202020204"/>
              </a:rPr>
              <a:t>THANK YOU</a:t>
            </a:r>
            <a:endParaRPr sz="3600" b="1" i="0">
              <a:solidFill>
                <a:srgbClr val="3D1F5C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1">
                <a:solidFill>
                  <a:srgbClr val="000000"/>
                </a:solidFill>
                <a:latin typeface="Arial" panose="020B0604020202020204"/>
              </a:rPr>
              <a:t>You've completed this class!</a:t>
            </a:r>
            <a:endParaRPr sz="2200" b="0" i="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 panose="020B0604020202020204"/>
              </a:rPr>
              <a:t>NEXT: FINAL PROJECT B2</a:t>
            </a:r>
            <a:endParaRPr sz="2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5760" y="5989320"/>
            <a:ext cx="8412480" cy="594360"/>
          </a:xfrm>
          <a:prstGeom prst="roundRect">
            <a:avLst/>
          </a:prstGeom>
          <a:solidFill>
            <a:srgbClr val="3D1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16752"/>
            <a:ext cx="822960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 panose="020B0604020202020204"/>
              </a:rPr>
              <a:t>Congratulations!</a:t>
            </a:r>
            <a:endParaRPr sz="18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7560</Words>
  <Application>WPS Presentation</Application>
  <PresentationFormat>On-screen Show (4:3)</PresentationFormat>
  <Paragraphs>623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Jean Thomas Montezuma Montreui</cp:lastModifiedBy>
  <cp:revision>2</cp:revision>
  <dcterms:created xsi:type="dcterms:W3CDTF">2013-01-27T09:14:00Z</dcterms:created>
  <dcterms:modified xsi:type="dcterms:W3CDTF">2026-09-17T19:15:47Z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71F01B7198CE4599ACB2F9695FAAB11D_12</vt:lpwstr>
  </property>
  <property fmtid="{D5CDD505-2E9C-101B-9397-08002B2CF9AE}" pid="3" name="KSOProductBuildVer">
    <vt:lpwstr>3084-12.1.0.28485</vt:lpwstr>
  </property>
</Properties>
</file>