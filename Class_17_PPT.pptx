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COVER (Class 17)</a:t>
            </a:r>
          </a:p>
          <a:p/>
          <a:p>
            <a:r>
              <a:rPr sz="1000">
                <a:latin typeface="Arial"/>
              </a:rPr>
              <a:t>ROLE : Ouverture.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"Hello Ingrid! Welcome to Class 17.</a:t>
            </a:r>
          </a:p>
          <a:p>
            <a:r>
              <a:rPr sz="1000">
                <a:latin typeface="Arial"/>
              </a:rPr>
              <a:t>Today: Modals. Ready?"</a:t>
            </a:r>
          </a:p>
          <a:p/>
          <a:p>
            <a:r>
              <a:rPr sz="1000">
                <a:latin typeface="Arial"/>
              </a:rPr>
              <a:t>ACTIONS :</a:t>
            </a:r>
          </a:p>
          <a:p>
            <a:r>
              <a:rPr sz="1000">
                <a:latin typeface="Arial"/>
              </a:rPr>
              <a:t>- Verifier Teams</a:t>
            </a:r>
          </a:p>
          <a:p>
            <a:r>
              <a:rPr sz="1000">
                <a:latin typeface="Arial"/>
              </a:rPr>
              <a:t>- Small talk 30 sec</a:t>
            </a:r>
          </a:p>
          <a:p>
            <a:r>
              <a:rPr sz="1000">
                <a:latin typeface="Arial"/>
              </a:rPr>
              <a:t>- Annoncer 90 min</a:t>
            </a:r>
          </a:p>
          <a:p/>
          <a:p>
            <a:r>
              <a:rPr sz="1000">
                <a:latin typeface="Arial"/>
              </a:rPr>
              <a:t>TRANSITION : "Let's start with the objectives."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OVERVIEW</a:t>
            </a:r>
          </a:p>
          <a:p/>
          <a:p>
            <a:r>
              <a:rPr sz="1000">
                <a:latin typeface="Arial"/>
              </a:rPr>
              <a:t>ROLE : Annoncer objectifs.</a:t>
            </a:r>
          </a:p>
          <a:p>
            <a:r>
              <a:rPr sz="1000">
                <a:latin typeface="Arial"/>
              </a:rPr>
              <a:t>DUREE : 3 min</a:t>
            </a:r>
          </a:p>
          <a:p/>
          <a:p>
            <a:r>
              <a:rPr sz="1000">
                <a:latin typeface="Arial"/>
              </a:rPr>
              <a:t>Lire chaque objectif a voix haute.</a:t>
            </a:r>
          </a:p>
          <a:p>
            <a:r>
              <a:rPr sz="1000">
                <a:latin typeface="Arial"/>
              </a:rPr>
              <a:t>Ne pas expliquer.</a:t>
            </a:r>
          </a:p>
          <a:p/>
          <a:p>
            <a:r>
              <a:rPr sz="1000">
                <a:latin typeface="Arial"/>
              </a:rPr>
              <a:t>DIRE : "By the end of today, you will be able to do all of this."</a:t>
            </a:r>
          </a:p>
          <a:p/>
          <a:p>
            <a:r>
              <a:rPr sz="1000">
                <a:latin typeface="Arial"/>
              </a:rPr>
              <a:t>TRANSITION : "Let's start with a warm-up."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(1)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(2)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COMMON MISTAKES (Trampas)</a:t>
            </a:r>
          </a:p>
          <a:p/>
          <a:p>
            <a:r>
              <a:rPr sz="1000">
                <a:latin typeface="Arial"/>
              </a:rPr>
              <a:t>ROLE : Erreurs frequentes hispanophones.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METHODE :</a:t>
            </a:r>
          </a:p>
          <a:p>
            <a:r>
              <a:rPr sz="1000">
                <a:latin typeface="Arial"/>
              </a:rPr>
              <a:t>1. Montrer l'erreur (X)</a:t>
            </a:r>
          </a:p>
          <a:p>
            <a:r>
              <a:rPr sz="1000">
                <a:latin typeface="Arial"/>
              </a:rPr>
              <a:t>2. Demander : "Esta correcto?"</a:t>
            </a:r>
          </a:p>
          <a:p>
            <a:r>
              <a:rPr sz="1000">
                <a:latin typeface="Arial"/>
              </a:rPr>
              <a:t>3. Ingrid corrige</a:t>
            </a:r>
          </a:p>
          <a:p>
            <a:r>
              <a:rPr sz="1000">
                <a:latin typeface="Arial"/>
              </a:rPr>
              <a:t>4. Montrer la correction (OK)</a:t>
            </a:r>
          </a:p>
          <a:p>
            <a:r>
              <a:rPr sz="1000">
                <a:latin typeface="Arial"/>
              </a:rPr>
              <a:t>5. Lire l'explication en espagnol</a:t>
            </a:r>
          </a:p>
          <a:p>
            <a:r>
              <a:rPr sz="1000">
                <a:latin typeface="Arial"/>
              </a:rPr>
              <a:t>6. Repetir 3x la forme correcte</a:t>
            </a:r>
          </a:p>
          <a:p/>
          <a:p>
            <a:r>
              <a:rPr sz="1000">
                <a:latin typeface="Arial"/>
              </a:rPr>
              <a:t>FRASES UTILES :</a:t>
            </a:r>
          </a:p>
          <a:p>
            <a:r>
              <a:rPr sz="1000">
                <a:latin typeface="Arial"/>
              </a:rPr>
              <a:t>- "Esta es una trampa muy comun."</a:t>
            </a:r>
          </a:p>
          <a:p>
            <a:r>
              <a:rPr sz="1000">
                <a:latin typeface="Arial"/>
              </a:rPr>
              <a:t>- "Cuidado con esta palabra."</a:t>
            </a:r>
          </a:p>
          <a:p>
            <a:r>
              <a:rPr sz="1000">
                <a:latin typeface="Arial"/>
              </a:rPr>
              <a:t>- "Repite conmigo 3 veces."</a:t>
            </a:r>
          </a:p>
          <a:p/>
          <a:p>
            <a:r>
              <a:rPr sz="1000">
                <a:latin typeface="Arial"/>
              </a:rPr>
              <a:t>NE PAS juger les erreurs.</a:t>
            </a:r>
          </a:p>
          <a:p>
            <a:r>
              <a:rPr sz="1000">
                <a:latin typeface="Arial"/>
              </a:rPr>
              <a:t>ENCOURAGER : "Es normal, todos lo hacemos."</a:t>
            </a:r>
          </a:p>
          <a:p/>
          <a:p>
            <a:r>
              <a:rPr sz="1000">
                <a:latin typeface="Arial"/>
              </a:rPr>
              <a:t>TRANSITION : "Ahora veamos expresiones completas."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EXPRESSIONS &amp; YOUR TURN</a:t>
            </a:r>
          </a:p>
          <a:p/>
          <a:p>
            <a:r>
              <a:rPr sz="1000">
                <a:latin typeface="Arial"/>
              </a:rPr>
              <a:t>ROLE : Blocs lexicaux + production.</a:t>
            </a:r>
          </a:p>
          <a:p>
            <a:r>
              <a:rPr sz="1000">
                <a:latin typeface="Arial"/>
              </a:rPr>
              <a:t>DUREE : 8 min</a:t>
            </a:r>
          </a:p>
          <a:p/>
          <a:p>
            <a:r>
              <a:rPr sz="1000">
                <a:latin typeface="Arial"/>
              </a:rPr>
              <a:t>PARTIE 1 - EXPRESSIONS (4 min) :</a:t>
            </a:r>
          </a:p>
          <a:p>
            <a:r>
              <a:rPr sz="1000">
                <a:latin typeface="Arial"/>
              </a:rPr>
              <a:t>1. Lire chaque expression</a:t>
            </a:r>
          </a:p>
          <a:p>
            <a:r>
              <a:rPr sz="1000">
                <a:latin typeface="Arial"/>
              </a:rPr>
              <a:t>2. Ingrid repete</a:t>
            </a:r>
          </a:p>
          <a:p>
            <a:r>
              <a:rPr sz="1000">
                <a:latin typeface="Arial"/>
              </a:rPr>
              <a:t>3. Demander : "When do you use this?"</a:t>
            </a:r>
          </a:p>
          <a:p/>
          <a:p>
            <a:r>
              <a:rPr sz="1000">
                <a:latin typeface="Arial"/>
              </a:rPr>
              <a:t>PARTIE 2 - YOUR TURN (4 min) :</a:t>
            </a:r>
          </a:p>
          <a:p>
            <a:r>
              <a:rPr sz="1000">
                <a:latin typeface="Arial"/>
              </a:rPr>
              <a:t>1. Lire la consigne</a:t>
            </a:r>
          </a:p>
          <a:p>
            <a:r>
              <a:rPr sz="1000">
                <a:latin typeface="Arial"/>
              </a:rPr>
              <a:t>2. Ingrid ecrit 1 phrase par mot</a:t>
            </a:r>
          </a:p>
          <a:p>
            <a:r>
              <a:rPr sz="1000">
                <a:latin typeface="Arial"/>
              </a:rPr>
              <a:t>3. Verifier oralement</a:t>
            </a:r>
          </a:p>
          <a:p/>
          <a:p>
            <a:r>
              <a:rPr sz="1000">
                <a:latin typeface="Arial"/>
              </a:rPr>
              <a:t>NE PAS ecrire a sa place.</a:t>
            </a:r>
          </a:p>
          <a:p>
            <a:r>
              <a:rPr sz="1000">
                <a:latin typeface="Arial"/>
              </a:rPr>
              <a:t>CORRIGER 2-3 erreurs max.</a:t>
            </a:r>
          </a:p>
          <a:p/>
          <a:p>
            <a:r>
              <a:rPr sz="1000">
                <a:latin typeface="Arial"/>
              </a:rPr>
              <a:t>TRANSITION : "Now let's look at the grammar."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Deduccion (must, might, can't)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MUSTN'T = prohibido. DON'T HAVE TO = no necesario.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Deduccion (must, might, can't)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MUSTN'T = prohibido. DON'T HAVE TO = no necesario.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Deduccion (must, might, can't)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MUSTN'T = prohibido. DON'T HAVE TO = no necesario.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Deduccion (must, might, can't)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MUSTN'T = prohibido. DON'T HAVE TO = no necesario.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SOUND : Connected speech</a:t>
            </a:r>
          </a:p>
          <a:p/>
          <a:p>
            <a:r>
              <a:rPr sz="1000">
                <a:latin typeface="Arial"/>
              </a:rPr>
              <a:t>ROLE : Focus phonetique.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METHODE :</a:t>
            </a:r>
          </a:p>
          <a:p>
            <a:r>
              <a:rPr sz="1000">
                <a:latin typeface="Arial"/>
              </a:rPr>
              <a:t>1. ECOUTER : prof prononce</a:t>
            </a:r>
          </a:p>
          <a:p>
            <a:r>
              <a:rPr sz="1000">
                <a:latin typeface="Arial"/>
              </a:rPr>
              <a:t>2. DISTINGUER : Ingrid identifie</a:t>
            </a:r>
          </a:p>
          <a:p>
            <a:r>
              <a:rPr sz="1000">
                <a:latin typeface="Arial"/>
              </a:rPr>
              <a:t>3. REPETER</a:t>
            </a:r>
          </a:p>
          <a:p/>
          <a:p>
            <a:r>
              <a:rPr sz="1000">
                <a:latin typeface="Arial"/>
              </a:rPr>
              <a:t>NE PAS enseigner theorie.</a:t>
            </a:r>
          </a:p>
          <a:p/>
          <a:p>
            <a:r>
              <a:rPr sz="1000">
                <a:latin typeface="Arial"/>
              </a:rPr>
              <a:t>TRANSITION : "Now let's practice in words."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PRONUNCIATION</a:t>
            </a:r>
          </a:p>
          <a:p/>
          <a:p>
            <a:r>
              <a:rPr sz="1000">
                <a:latin typeface="Arial"/>
              </a:rPr>
              <a:t>ROLE : Pratique active.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Chaque mot repete 5 fois.</a:t>
            </a:r>
          </a:p>
          <a:p>
            <a:r>
              <a:rPr sz="1000">
                <a:latin typeface="Arial"/>
              </a:rPr>
              <a:t>Prof corrige en temps reel.</a:t>
            </a:r>
          </a:p>
          <a:p>
            <a:r>
              <a:rPr sz="1000">
                <a:latin typeface="Arial"/>
              </a:rPr>
              <a:t>Enregistrer si possible.</a:t>
            </a:r>
          </a:p>
          <a:p/>
          <a:p>
            <a:r>
              <a:rPr sz="1000">
                <a:latin typeface="Arial"/>
              </a:rPr>
              <a:t>TRANSITION : "Now let's practice with exercises."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CONVERSATION (1)</a:t>
            </a:r>
          </a:p>
          <a:p/>
          <a:p>
            <a:r>
              <a:rPr sz="1000">
                <a:latin typeface="Arial"/>
              </a:rPr>
              <a:t>ROLE : Pratique orale.</a:t>
            </a:r>
          </a:p>
          <a:p>
            <a:r>
              <a:rPr sz="1000">
                <a:latin typeface="Arial"/>
              </a:rPr>
              <a:t>DUREE : 10-12 min</a:t>
            </a:r>
          </a:p>
          <a:p/>
          <a:p>
            <a:r>
              <a:rPr sz="1000">
                <a:latin typeface="Arial"/>
              </a:rPr>
              <a:t>Prof pose UNE question.</a:t>
            </a:r>
          </a:p>
          <a:p>
            <a:r>
              <a:rPr sz="1000">
                <a:latin typeface="Arial"/>
              </a:rPr>
              <a:t>Ingrid repond librement.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Corriger 2-3 erreurs APRES.</a:t>
            </a:r>
          </a:p>
          <a:p/>
          <a:p>
            <a:r>
              <a:rPr sz="1000">
                <a:latin typeface="Arial"/>
              </a:rPr>
              <a:t>FOLLOW-UP : "Really? Tell me more."</a:t>
            </a:r>
          </a:p>
          <a:p/>
          <a:p>
            <a:r>
              <a:rPr sz="1000">
                <a:latin typeface="Arial"/>
              </a:rPr>
              <a:t>TRANSITION : "Now let's listen to a short text."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CONVERSATION (2)</a:t>
            </a:r>
          </a:p>
          <a:p/>
          <a:p>
            <a:r>
              <a:rPr sz="1000">
                <a:latin typeface="Arial"/>
              </a:rPr>
              <a:t>ROLE : Pratique orale.</a:t>
            </a:r>
          </a:p>
          <a:p>
            <a:r>
              <a:rPr sz="1000">
                <a:latin typeface="Arial"/>
              </a:rPr>
              <a:t>DUREE : 10-12 min</a:t>
            </a:r>
          </a:p>
          <a:p/>
          <a:p>
            <a:r>
              <a:rPr sz="1000">
                <a:latin typeface="Arial"/>
              </a:rPr>
              <a:t>Prof pose UNE question.</a:t>
            </a:r>
          </a:p>
          <a:p>
            <a:r>
              <a:rPr sz="1000">
                <a:latin typeface="Arial"/>
              </a:rPr>
              <a:t>Ingrid repond librement.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Corriger 2-3 erreurs APRES.</a:t>
            </a:r>
          </a:p>
          <a:p/>
          <a:p>
            <a:r>
              <a:rPr sz="1000">
                <a:latin typeface="Arial"/>
              </a:rPr>
              <a:t>FOLLOW-UP : "Really? Tell me more."</a:t>
            </a:r>
          </a:p>
          <a:p/>
          <a:p>
            <a:r>
              <a:rPr sz="1000">
                <a:latin typeface="Arial"/>
              </a:rPr>
              <a:t>TRANSITION : "Now let's listen to a short text."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LISTENING TEXT : Text</a:t>
            </a:r>
          </a:p>
          <a:p/>
          <a:p>
            <a:r>
              <a:rPr sz="1000">
                <a:latin typeface="Arial"/>
              </a:rPr>
              <a:t>ROLE : Comprehension.</a:t>
            </a:r>
          </a:p>
          <a:p>
            <a:r>
              <a:rPr sz="1000">
                <a:latin typeface="Arial"/>
              </a:rPr>
              <a:t>DUREE : 4 min</a:t>
            </a:r>
          </a:p>
          <a:p/>
          <a:p>
            <a:r>
              <a:rPr sz="1000">
                <a:latin typeface="Arial"/>
              </a:rPr>
              <a:t>2 LECTURES :</a:t>
            </a:r>
          </a:p>
          <a:p>
            <a:r>
              <a:rPr sz="1000">
                <a:latin typeface="Arial"/>
              </a:rPr>
              <a:t>1ere : GLOBALE (sans ecrire)</a:t>
            </a:r>
          </a:p>
          <a:p>
            <a:r>
              <a:rPr sz="1000">
                <a:latin typeface="Arial"/>
              </a:rPr>
              <a:t>2eme : DETAILLEE</a:t>
            </a:r>
          </a:p>
          <a:p/>
          <a:p>
            <a:r>
              <a:rPr sz="1000">
                <a:latin typeface="Arial"/>
              </a:rPr>
              <a:t>NE PAS montrer le texte.</a:t>
            </a:r>
          </a:p>
          <a:p>
            <a:r>
              <a:rPr sz="1000">
                <a:latin typeface="Arial"/>
              </a:rPr>
              <a:t>LIRE lentement.</a:t>
            </a:r>
          </a:p>
          <a:p/>
          <a:p>
            <a:r>
              <a:rPr sz="1000">
                <a:latin typeface="Arial"/>
              </a:rPr>
              <a:t>TRANSITION : "Now let's answer the questions."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LISTENING QUESTIONS</a:t>
            </a:r>
          </a:p>
          <a:p/>
          <a:p>
            <a:r>
              <a:rPr sz="1000">
                <a:latin typeface="Arial"/>
              </a:rPr>
              <a:t>ROLE : Comprehension detaillee.</a:t>
            </a:r>
          </a:p>
          <a:p>
            <a:r>
              <a:rPr sz="1000">
                <a:latin typeface="Arial"/>
              </a:rPr>
              <a:t>DUREE : 4 min</a:t>
            </a:r>
          </a:p>
          <a:p/>
          <a:p>
            <a:r>
              <a:rPr sz="1000">
                <a:latin typeface="Arial"/>
              </a:rPr>
              <a:t>Ingrid repond en PHRASE COMPLETE.</a:t>
            </a:r>
          </a:p>
          <a:p>
            <a:r>
              <a:rPr sz="1000">
                <a:latin typeface="Arial"/>
              </a:rPr>
              <a:t>Corriger apres.</a:t>
            </a:r>
          </a:p>
          <a:p/>
          <a:p>
            <a:r>
              <a:rPr sz="1000">
                <a:latin typeface="Arial"/>
              </a:rPr>
              <a:t>TRANSITION : "Now it's your turn to speak."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SPEAKING CHALLENGE : Challenge</a:t>
            </a:r>
          </a:p>
          <a:p/>
          <a:p>
            <a:r>
              <a:rPr sz="1000">
                <a:latin typeface="Arial"/>
              </a:rPr>
              <a:t>ROLE : Production orale.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TIMING :</a:t>
            </a:r>
          </a:p>
          <a:p>
            <a:r>
              <a:rPr sz="1000">
                <a:latin typeface="Arial"/>
              </a:rPr>
              <a:t>- 0:45 Explication</a:t>
            </a:r>
          </a:p>
          <a:p>
            <a:r>
              <a:rPr sz="1000">
                <a:latin typeface="Arial"/>
              </a:rPr>
              <a:t>- 0:45 Preparation mentale (silence)</a:t>
            </a:r>
          </a:p>
          <a:p>
            <a:r>
              <a:rPr sz="1000">
                <a:latin typeface="Arial"/>
              </a:rPr>
              <a:t>- 2:00 Monologue</a:t>
            </a:r>
          </a:p>
          <a:p>
            <a:r>
              <a:rPr sz="1000">
                <a:latin typeface="Arial"/>
              </a:rPr>
              <a:t>- 2:00 Feedback (2+1)</a:t>
            </a:r>
          </a:p>
          <a:p>
            <a:r>
              <a:rPr sz="1000">
                <a:latin typeface="Arial"/>
              </a:rPr>
              <a:t>- 0:30 Re-record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"Okay Ingrid, YOUR turn.</a:t>
            </a:r>
          </a:p>
          <a:p>
            <a:r>
              <a:rPr sz="1000">
                <a:latin typeface="Arial"/>
              </a:rPr>
              <a:t>Talk for 2 minutes.</a:t>
            </a:r>
          </a:p>
          <a:p>
            <a:r>
              <a:rPr sz="1000">
                <a:latin typeface="Arial"/>
              </a:rPr>
              <a:t>Use: Deduccion (must, might, can't) and Obligacion (must, have to, should).</a:t>
            </a:r>
          </a:p>
          <a:p>
            <a:r>
              <a:rPr sz="1000">
                <a:latin typeface="Arial"/>
              </a:rPr>
              <a:t>Take 45 sec to think. Ready?"</a:t>
            </a:r>
          </a:p>
          <a:p/>
          <a:p>
            <a:r>
              <a:rPr sz="1000">
                <a:latin typeface="Arial"/>
              </a:rPr>
              <a:t>OBSERVER :</a:t>
            </a:r>
          </a:p>
          <a:p>
            <a:r>
              <a:rPr sz="1000">
                <a:latin typeface="Arial"/>
              </a:rPr>
              <a:t>- Deduccion (must, might, can't) min 3 fois</a:t>
            </a:r>
          </a:p>
          <a:p>
            <a:r>
              <a:rPr sz="1000">
                <a:latin typeface="Arial"/>
              </a:rPr>
              <a:t>- Obligacion (must, have to, should) min 3 fois</a:t>
            </a:r>
          </a:p>
          <a:p>
            <a:r>
              <a:rPr sz="1000">
                <a:latin typeface="Arial"/>
              </a:rPr>
              <a:t>- Duree 60-90 sec</a:t>
            </a:r>
          </a:p>
          <a:p>
            <a:r>
              <a:rPr sz="1000">
                <a:latin typeface="Arial"/>
              </a:rPr>
              <a:t>- Pauses &lt; 5 sec</a:t>
            </a:r>
          </a:p>
          <a:p/>
          <a:p>
            <a:r>
              <a:rPr sz="1000">
                <a:latin typeface="Arial"/>
              </a:rPr>
              <a:t>FEEDBACK (2+1) :</a:t>
            </a:r>
          </a:p>
          <a:p>
            <a:r>
              <a:rPr sz="1000">
                <a:latin typeface="Arial"/>
              </a:rPr>
              <a:t>1. Compliment CONCRET</a:t>
            </a:r>
          </a:p>
          <a:p>
            <a:r>
              <a:rPr sz="1000">
                <a:latin typeface="Arial"/>
              </a:rPr>
              <a:t>2. Compliment CONCRET</a:t>
            </a:r>
          </a:p>
          <a:p>
            <a:r>
              <a:rPr sz="1000">
                <a:latin typeface="Arial"/>
              </a:rPr>
              <a:t>3. UNE correction -&gt; repeter 2 fois</a:t>
            </a:r>
          </a:p>
          <a:p/>
          <a:p>
            <a:r>
              <a:rPr sz="1000">
                <a:latin typeface="Arial"/>
              </a:rPr>
              <a:t>NE PAS interrompre.</a:t>
            </a:r>
          </a:p>
          <a:p/>
          <a:p>
            <a:r>
              <a:rPr sz="1000">
                <a:latin typeface="Arial"/>
              </a:rPr>
              <a:t>TRANSITION : "Now let's write about this."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WRITING REQUIREMENTS</a:t>
            </a:r>
          </a:p>
          <a:p/>
          <a:p>
            <a:r>
              <a:rPr sz="1000">
                <a:latin typeface="Arial"/>
              </a:rPr>
              <a:t>ROLE : Preparer ecrit.</a:t>
            </a:r>
          </a:p>
          <a:p>
            <a:r>
              <a:rPr sz="1000">
                <a:latin typeface="Arial"/>
              </a:rPr>
              <a:t>DUREE : 3 min</a:t>
            </a:r>
          </a:p>
          <a:p/>
          <a:p>
            <a:r>
              <a:rPr sz="1000">
                <a:latin typeface="Arial"/>
              </a:rPr>
              <a:t>5 ETAPES :</a:t>
            </a:r>
          </a:p>
          <a:p>
            <a:r>
              <a:rPr sz="1000">
                <a:latin typeface="Arial"/>
              </a:rPr>
              <a:t>1. Brainstorming (3 min)</a:t>
            </a:r>
          </a:p>
          <a:p>
            <a:r>
              <a:rPr sz="1000">
                <a:latin typeface="Arial"/>
              </a:rPr>
              <a:t>2. Borrador (10 min)</a:t>
            </a:r>
          </a:p>
          <a:p>
            <a:r>
              <a:rPr sz="1000">
                <a:latin typeface="Arial"/>
              </a:rPr>
              <a:t>3. Revision (5 min)</a:t>
            </a:r>
          </a:p>
          <a:p>
            <a:r>
              <a:rPr sz="1000">
                <a:latin typeface="Arial"/>
              </a:rPr>
              <a:t>4. Edicion (5 min)</a:t>
            </a:r>
          </a:p>
          <a:p>
            <a:r>
              <a:rPr sz="1000">
                <a:latin typeface="Arial"/>
              </a:rPr>
              <a:t>5. Publicacion (5 min)</a:t>
            </a:r>
          </a:p>
          <a:p/>
          <a:p>
            <a:r>
              <a:rPr sz="1000">
                <a:latin typeface="Arial"/>
              </a:rPr>
              <a:t>FOCUS : Deduccion (must, might, can't) + Obligacion (must, have to, should)</a:t>
            </a:r>
          </a:p>
          <a:p/>
          <a:p>
            <a:r>
              <a:rPr sz="1000">
                <a:latin typeface="Arial"/>
              </a:rPr>
              <a:t>NE PAS ecrire a sa place.</a:t>
            </a:r>
          </a:p>
          <a:p/>
          <a:p>
            <a:r>
              <a:rPr sz="1000">
                <a:latin typeface="Arial"/>
              </a:rPr>
              <a:t>TRANSITION : "Now let's look at the template."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WRITING TEMPLATE</a:t>
            </a:r>
          </a:p>
          <a:p/>
          <a:p>
            <a:r>
              <a:rPr sz="1000">
                <a:latin typeface="Arial"/>
              </a:rPr>
              <a:t>ROLE : Guide structurel.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Ingrid ecrit sur papier.</a:t>
            </a:r>
          </a:p>
          <a:p>
            <a:r>
              <a:rPr sz="1000">
                <a:latin typeface="Arial"/>
              </a:rPr>
              <a:t>Suit le template.</a:t>
            </a:r>
          </a:p>
          <a:p>
            <a:r>
              <a:rPr sz="1000">
                <a:latin typeface="Arial"/>
              </a:rPr>
              <a:t>Complete les blancs.</a:t>
            </a:r>
          </a:p>
          <a:p/>
          <a:p>
            <a:r>
              <a:rPr sz="1000">
                <a:latin typeface="Arial"/>
              </a:rPr>
              <a:t>VERIFIER a la fin.</a:t>
            </a:r>
          </a:p>
          <a:p/>
          <a:p>
            <a:r>
              <a:rPr sz="1000">
                <a:latin typeface="Arial"/>
              </a:rPr>
              <a:t>TRANSITION : "Now let's check your progress."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CHECKPOINT</a:t>
            </a:r>
          </a:p>
          <a:p/>
          <a:p>
            <a:r>
              <a:rPr sz="1000">
                <a:latin typeface="Arial"/>
              </a:rPr>
              <a:t>ROLE : Auto-evaluation.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Lire chaque critere.</a:t>
            </a:r>
          </a:p>
          <a:p>
            <a:r>
              <a:rPr sz="1000">
                <a:latin typeface="Arial"/>
              </a:rPr>
              <a:t>Ingrid repond honnetement.</a:t>
            </a:r>
          </a:p>
          <a:p/>
          <a:p>
            <a:r>
              <a:rPr sz="1000">
                <a:latin typeface="Arial"/>
              </a:rPr>
              <a:t>NE PAS juger.</a:t>
            </a:r>
          </a:p>
          <a:p/>
          <a:p>
            <a:r>
              <a:rPr sz="1000">
                <a:latin typeface="Arial"/>
              </a:rPr>
              <a:t>TRANSITION : "Now let's reflect."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(1)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PRACTICE (1)</a:t>
            </a:r>
          </a:p>
          <a:p/>
          <a:p>
            <a:r>
              <a:rPr sz="1000">
                <a:latin typeface="Arial"/>
              </a:rPr>
              <a:t>ROLE : Pratique controlee.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1. ORAL d'abord</a:t>
            </a:r>
          </a:p>
          <a:p>
            <a:r>
              <a:rPr sz="1000">
                <a:latin typeface="Arial"/>
              </a:rPr>
              <a:t>2. ECRIT ensuite</a:t>
            </a:r>
          </a:p>
          <a:p>
            <a:r>
              <a:rPr sz="1000">
                <a:latin typeface="Arial"/>
              </a:rPr>
              <a:t>3. CORRECTION en temps reel</a:t>
            </a:r>
          </a:p>
          <a:p/>
          <a:p>
            <a:r>
              <a:rPr sz="1000">
                <a:latin typeface="Arial"/>
              </a:rPr>
              <a:t>Ne pas donner la reponse.</a:t>
            </a:r>
          </a:p>
          <a:p>
            <a:r>
              <a:rPr sz="1000">
                <a:latin typeface="Arial"/>
              </a:rPr>
              <a:t>Laisser 5-10 secondes.</a:t>
            </a:r>
          </a:p>
          <a:p>
            <a:r>
              <a:rPr sz="1000">
                <a:latin typeface="Arial"/>
              </a:rPr>
              <a:t>MAX 3 corrections.</a:t>
            </a:r>
          </a:p>
          <a:p/>
          <a:p>
            <a:r>
              <a:rPr sz="1000">
                <a:latin typeface="Arial"/>
              </a:rPr>
              <a:t>TRANSITION : "Now let's use these in conversation."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PRONUNCIATION</a:t>
            </a:r>
          </a:p>
          <a:p/>
          <a:p>
            <a:r>
              <a:rPr sz="1000">
                <a:latin typeface="Arial"/>
              </a:rPr>
              <a:t>ROLE : Pratique active.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Chaque mot repete 5 fois.</a:t>
            </a:r>
          </a:p>
          <a:p>
            <a:r>
              <a:rPr sz="1000">
                <a:latin typeface="Arial"/>
              </a:rPr>
              <a:t>Prof corrige en temps reel.</a:t>
            </a:r>
          </a:p>
          <a:p>
            <a:r>
              <a:rPr sz="1000">
                <a:latin typeface="Arial"/>
              </a:rPr>
              <a:t>Enregistrer si possible.</a:t>
            </a:r>
          </a:p>
          <a:p/>
          <a:p>
            <a:r>
              <a:rPr sz="1000">
                <a:latin typeface="Arial"/>
              </a:rPr>
              <a:t>TRANSITION : "Now let's practice with exercises."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THANKS</a:t>
            </a:r>
          </a:p>
          <a:p/>
          <a:p>
            <a:r>
              <a:rPr sz="1000">
                <a:latin typeface="Arial"/>
              </a:rPr>
              <a:t>ROLE : Cloture.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"Excellent work today, Ingrid!</a:t>
            </a:r>
          </a:p>
          <a:p>
            <a:r>
              <a:rPr sz="1000">
                <a:latin typeface="Arial"/>
              </a:rPr>
              <a:t>You've completed Class 17.</a:t>
            </a:r>
          </a:p>
          <a:p>
            <a:r>
              <a:rPr sz="1000">
                <a:latin typeface="Arial"/>
              </a:rPr>
              <a:t>See you next time."</a:t>
            </a:r>
          </a:p>
          <a:p/>
          <a:p>
            <a:r>
              <a:rPr sz="1000">
                <a:latin typeface="Arial"/>
              </a:rPr>
              <a:t>Rappeler : Class 18</a:t>
            </a:r>
          </a:p>
          <a:p/>
          <a:p>
            <a:r>
              <a:rPr sz="1000">
                <a:latin typeface="Arial"/>
              </a:rPr>
              <a:t>TERMINER sur une note positive.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804672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3D1F5C"/>
                </a:solidFill>
                <a:latin typeface="Arial"/>
              </a:rPr>
              <a:t>YOU MUST BE TIRED!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8046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Ingrid - English - Class 17</a:t>
            </a:r>
          </a:p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Profesor: Jean Thomas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Welcome!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OVERVIEW — Today's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08760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Express deduction with must, might, could, can't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21992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221992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Express obligation with must, have to, should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35224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935224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Express advice with should, ought to, had better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48456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648456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Express prohibition with mustn't, can't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61688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361688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Distinguish mustn't and don't have 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74920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074920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Give advice in 90-120 sec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GOAL: Speak with confidence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Answer orally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What must you do every day?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50591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50591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What should you do to be healthy?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46703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346703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What mustn't you do in class?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42816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42816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What do you have to do this week?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138927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138927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What should you do if you're tired?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without looking at your notes.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VOCABULARY — Health &amp; Advice (1/2)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descansar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rest for an hour  + need to 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"You should rest if you're tired."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'make a rest'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take a break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tomar un descanso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take a short break  + take a break from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"You should take a break every hour."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'make a break'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1655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see a doctor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41655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ver a un médico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41655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41655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80060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see a doctor soon  + go see a doctor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09320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"You should see a doctor if you feel sick."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534924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'see to a doctor'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Read aloud. Practice collocations.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VOCABULARY — Health &amp; Advice (2/2)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drink water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beber agua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drink water every day  + drink more water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"You should drink water more often."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'drink of water' (as verb)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exercise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hacer ejercicio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exercise every day  + exercise at the gym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"You should exercise at least 30 minutes a day."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'make exercise'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1655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apologize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41655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disculparse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41655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41655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IMPORTANT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80060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apologize to someone  + apologize for something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09320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"If I were you, I would apologize to her."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534924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'apologize someone' (needs 'to')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Read aloud. Practice collocations.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⚠️  COMMON MISTAKES — Avoid these!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I must to study.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9280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I must study.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Después de 'must' va el verbo base, sin 'to'.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You mustn't come if you don't want.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9008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You don't have to come if you don't want.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2841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'Mustn't' = prohibido. 'Don't have to' = no es necesario.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0332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49039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He mustn't be at home, I saw him at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8736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He can't be at home, I saw him at work.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2569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Deducción negativa (imposible) → 'can't', no 'mustn't'.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0060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If I would be you, I would rest.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8464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If I were you, I would rest.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2297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Estructura fija: 'If I were you'.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Repeat after me. Don't make these mistakes!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EXPRESSIONS &amp; YOUR TURN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EXPRESSIONS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You should rest more.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13432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You must study for the exam.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60903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You mustn't smoke 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008375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You don't have to come if you don't want 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55847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If I were you, I would apologize.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8046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05072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🎯  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389120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1.  You should    -&gt; ________________________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70915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2.  You must      -&gt; ________________________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02919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3.  You mustn't   -&gt; ________________________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534923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4.  You don't have to ____.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566927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5.  If I were you, I would ____.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Write your own sentences.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Deduction &amp; Obligation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DEDUCTION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must = very sure (positive)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might = possible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could = possible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can't = very sure (negative)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You've been working all day. You must be tired.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He can't be at home. I saw him at the office.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MUST = strong obligation. MIGHT = possibility.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Deduction &amp; Obligation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OBLIGATION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must = strong (personal)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have to = strong (external)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should = medium (advice)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 must study for the exam. (personal)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 have to wear a uniform. (external)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MUST = strong obligation. MIGHT = possibility.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Prohibition &amp; Advice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PROHIBITION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mustn't = strong prohibition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can't = prohibition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don't have to = not obliged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You mustn't smoke here.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You don't have to come. (not necessary)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MUSTN'T = forbidden. DON'T HAVE TO = not necessary.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Prohibition &amp; Advice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ADVICE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should + base verb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shouldn't + base verb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ought to + base verb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had better + base verb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You should rest.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You had better hurry.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If I were you, I would apologize.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MUSTN'T = forbidden. DON'T HAVE TO = not necessary.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SOUND — Connected Speech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691640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What do you want? -&gt; Whaddaya want?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50008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50008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am going to -&gt; I'm gonna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08376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008376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Let me -&gt; Lemme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66744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666744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Give me -&gt; Gimme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Native speakers connect words.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PRONUNCIATION — Practice Connected Speech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do you want to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Whaddaya wanna do?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I am going to study.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I'm gonna study.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290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Let me help you.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Lemme help you.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3434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Give me a break.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Gimme a break.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Record yourself and compare.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PRACTICE — Complete (1/3)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1. She's not answering. She ___ be busy. (must/might)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2. He's been working all day. He ___ be tired.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3. He ___ be at home. I saw him at the office.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891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4. I ___ study for the exam. (obligation personal)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orally first.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PRACTICE — Complete (2/3)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5. I ___ wear a uniform. (external)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6. You ___ eat more vegetables. (advice)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7. You ___ smoke here. (prohibition)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891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8. You ___ come if you don't want to. (not obliged)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orally first.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PRACTICE — Complete (3/3)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9. You ___ touch that; it's dangerous.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orally first.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Conversation (1/2)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You've been working all day. What must you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 must ____.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39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79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should you do to be healthy?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8999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 should ____.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mustn't you do in class?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 mustn't ____.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naturally.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Conversation (2/2)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do you have to do this week?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 have to ____.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39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79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should you do if you're tired?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8999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 should ____.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Advice for a stressed friend?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 would tell them to ____.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naturally.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LISTENING — Advice for Laura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57400"/>
            <a:ext cx="749808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My friend Laura is always tired. She works too much and doesn't sleep enough. She should take a break and rest more. She mustn't work so many hours. She might be stressed. If I were you, I would talk to her. She had better see a doctor. She doesn't have to work on weekends, but she does. She must learn to relax. You should always take care of your health.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Listen carefully to the text.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LISTENING — Answer the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1. Why is Laura always tired?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2. What should Laura do?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9544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3. What mustn't Laura do?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14215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4. What might be the problem?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18888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5. Does Laura have to work on weekends?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in complete sentences.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CHALLENGE — Giving Advice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3 should sentences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2 must sentences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15468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5468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1 mustn't sentence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93192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1 don't have to sentence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709159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709159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1 If I were you...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1-2 minutes. No memorization.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WRITING — 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3931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6B35"/>
                </a:solidFill>
                <a:latin typeface="Arial"/>
              </a:rPr>
              <a:t>120-150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TIME: 30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508760"/>
            <a:ext cx="3931920" cy="100584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55448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6B35"/>
                </a:solidFill>
                <a:latin typeface="Arial"/>
              </a:rPr>
              <a:t>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92024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Arial"/>
              </a:rPr>
              <a:t>Modals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80467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200400"/>
            <a:ext cx="75895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- 3 should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- 2 must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- 1 mustn't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- 1 don't have to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- 1 had better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- 1 If I were you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Follow the requirements.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WRITING — Template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8046720" cy="4343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7406640" cy="39776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ADVICE FOR A FRIEND   —   By: ____________</a:t>
            </a:r>
          </a:p>
          <a:p>
            <a:pPr algn="l">
              <a:lnSpc>
                <a:spcPct val="105000"/>
              </a:lnSpc>
            </a:pP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Dear ____________,</a:t>
            </a:r>
          </a:p>
          <a:p>
            <a:pPr algn="l">
              <a:lnSpc>
                <a:spcPct val="105000"/>
              </a:lnSpc>
            </a:pP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If you want to ____________, you should ____________.</a:t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You should also ____________.</a:t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You should ____________.</a:t>
            </a:r>
          </a:p>
          <a:p>
            <a:pPr algn="l">
              <a:lnSpc>
                <a:spcPct val="105000"/>
              </a:lnSpc>
            </a:pP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You must ____________.</a:t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You must ____________.</a:t>
            </a:r>
          </a:p>
          <a:p>
            <a:pPr algn="l">
              <a:lnSpc>
                <a:spcPct val="105000"/>
              </a:lnSpc>
            </a:pP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You mustn't ____________.</a:t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You don't have to ____________.</a:t>
            </a:r>
          </a:p>
          <a:p>
            <a:pPr algn="l">
              <a:lnSpc>
                <a:spcPct val="105000"/>
              </a:lnSpc>
            </a:pP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You had better ____________.</a:t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If I were you, I would ____________.</a:t>
            </a:r>
          </a:p>
          <a:p>
            <a:pPr algn="l">
              <a:lnSpc>
                <a:spcPct val="105000"/>
              </a:lnSpc>
            </a:pP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Take care,</a:t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____________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Use this template to write.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CHECKPOINT — Rate your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express deduction with must/might/can't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express obligation with must/have to/should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9544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express prohibition with mustn't/can't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14215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distinguish mustn't and don't have 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18888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give advice with should, had better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Be honest with yourself.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SELF-EVALUATION — Rate (1-4)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Vocabulary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04872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Deduction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09544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Obligation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14215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Prohibition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818888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Advice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Reflect on your learning.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RESOURCES — Keep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PODCASTS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1168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All Ears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7744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British English Podcast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VIDEOS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3756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English with Lucy — Modal Verbs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9476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APPS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29768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Duolingo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66344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Quizlet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Practice every day.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HOMEWORK — Your tasks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WRITING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14884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Write 10-12 sentences giving advice.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20040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Record yourself giving advice (90-120 sec).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PRONUNCIATION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25196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Practice connected speech.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5488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30352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Practice Modals.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Deadline: ____________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6400800" cy="1645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64008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Arial"/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8046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3D1F5C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1">
                <a:solidFill>
                  <a:srgbClr val="000000"/>
                </a:solidFill>
                <a:latin typeface="Arial"/>
              </a:rPr>
              <a:t>You've completed this class!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029200"/>
            <a:ext cx="6400800" cy="7315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6400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NEXT: CLASS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Congratulations!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