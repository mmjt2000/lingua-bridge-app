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COVER (Class 06)</a:t>
            </a:r>
          </a:p>
          <a:p/>
          <a:p>
            <a:r>
              <a:rPr sz="1000">
                <a:latin typeface="Arial"/>
              </a:rPr>
              <a:t>ROLE : Ouverture.</a:t>
            </a:r>
          </a:p>
          <a:p>
            <a:r>
              <a:rPr sz="1000">
                <a:latin typeface="Arial"/>
              </a:rPr>
              <a:t>DUREE : 2 min</a:t>
            </a:r>
          </a:p>
          <a:p/>
          <a:p>
            <a:r>
              <a:rPr sz="1000">
                <a:latin typeface="Arial"/>
              </a:rPr>
              <a:t>SCRIPT :</a:t>
            </a:r>
          </a:p>
          <a:p>
            <a:r>
              <a:rPr sz="1000">
                <a:latin typeface="Arial"/>
              </a:rPr>
              <a:t>"Hello Ingrid! Welcome to Class 06.</a:t>
            </a:r>
          </a:p>
          <a:p>
            <a:r>
              <a:rPr sz="1000">
                <a:latin typeface="Arial"/>
              </a:rPr>
              <a:t>Today: Present Perfect. Ready?"</a:t>
            </a:r>
          </a:p>
          <a:p/>
          <a:p>
            <a:r>
              <a:rPr sz="1000">
                <a:latin typeface="Arial"/>
              </a:rPr>
              <a:t>ACTIONS :</a:t>
            </a:r>
          </a:p>
          <a:p>
            <a:r>
              <a:rPr sz="1000">
                <a:latin typeface="Arial"/>
              </a:rPr>
              <a:t>- Verifier Teams</a:t>
            </a:r>
          </a:p>
          <a:p>
            <a:r>
              <a:rPr sz="1000">
                <a:latin typeface="Arial"/>
              </a:rPr>
              <a:t>- Small talk 30 sec</a:t>
            </a:r>
          </a:p>
          <a:p>
            <a:r>
              <a:rPr sz="1000">
                <a:latin typeface="Arial"/>
              </a:rPr>
              <a:t>- Annoncer 90 min</a:t>
            </a:r>
          </a:p>
          <a:p/>
          <a:p>
            <a:r>
              <a:rPr sz="1000">
                <a:latin typeface="Arial"/>
              </a:rPr>
              <a:t>TRANSITION : "Let's start with the objectives."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OVERVIEW</a:t>
            </a:r>
          </a:p>
          <a:p/>
          <a:p>
            <a:r>
              <a:rPr sz="1000">
                <a:latin typeface="Arial"/>
              </a:rPr>
              <a:t>ROLE : Annoncer objectifs.</a:t>
            </a:r>
          </a:p>
          <a:p>
            <a:r>
              <a:rPr sz="1000">
                <a:latin typeface="Arial"/>
              </a:rPr>
              <a:t>DUREE : 3 min</a:t>
            </a:r>
          </a:p>
          <a:p/>
          <a:p>
            <a:r>
              <a:rPr sz="1000">
                <a:latin typeface="Arial"/>
              </a:rPr>
              <a:t>Lire chaque objectif a voix haute.</a:t>
            </a:r>
          </a:p>
          <a:p>
            <a:r>
              <a:rPr sz="1000">
                <a:latin typeface="Arial"/>
              </a:rPr>
              <a:t>Ne pas expliquer.</a:t>
            </a:r>
          </a:p>
          <a:p/>
          <a:p>
            <a:r>
              <a:rPr sz="1000">
                <a:latin typeface="Arial"/>
              </a:rPr>
              <a:t>DIRE : "By the end of today, you will be able to do all of this."</a:t>
            </a:r>
          </a:p>
          <a:p/>
          <a:p>
            <a:r>
              <a:rPr sz="1000">
                <a:latin typeface="Arial"/>
              </a:rPr>
              <a:t>TRANSITION : "Let's start with a warm-up."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WARM-UP</a:t>
            </a:r>
          </a:p>
          <a:p/>
          <a:p>
            <a:r>
              <a:rPr sz="1000">
                <a:latin typeface="Arial"/>
              </a:rPr>
              <a:t>ROLE : Activer connaissances.</a:t>
            </a:r>
          </a:p>
          <a:p>
            <a:r>
              <a:rPr sz="1000">
                <a:latin typeface="Arial"/>
              </a:rPr>
              <a:t>DUREE : 10 min</a:t>
            </a:r>
          </a:p>
          <a:p/>
          <a:p>
            <a:r>
              <a:rPr sz="1000">
                <a:latin typeface="Arial"/>
              </a:rPr>
              <a:t>Ingrid repond ORALEMENT sans notes.</a:t>
            </a:r>
          </a:p>
          <a:p>
            <a:r>
              <a:rPr sz="1000">
                <a:latin typeface="Arial"/>
              </a:rPr>
              <a:t>Ne pas interrompre.</a:t>
            </a:r>
          </a:p>
          <a:p>
            <a:r>
              <a:rPr sz="1000">
                <a:latin typeface="Arial"/>
              </a:rPr>
              <a:t>Max 2-3 corrections apres.</a:t>
            </a:r>
          </a:p>
          <a:p/>
          <a:p>
            <a:r>
              <a:rPr sz="1000">
                <a:latin typeface="Arial"/>
              </a:rPr>
              <a:t>TRANSITION : "Now let's look at new vocabulary."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VOCABULARY (1)</a:t>
            </a:r>
          </a:p>
          <a:p/>
          <a:p>
            <a:r>
              <a:rPr sz="1000">
                <a:latin typeface="Arial"/>
              </a:rPr>
              <a:t>ROLE : Introduire vocabulaire.</a:t>
            </a:r>
          </a:p>
          <a:p>
            <a:r>
              <a:rPr sz="1000">
                <a:latin typeface="Arial"/>
              </a:rPr>
              <a:t>DUREE : 8-10 min</a:t>
            </a:r>
          </a:p>
          <a:p/>
          <a:p>
            <a:r>
              <a:rPr sz="1000">
                <a:latin typeface="Arial"/>
              </a:rPr>
              <a:t>METHODE 3 ETAPES :</a:t>
            </a:r>
          </a:p>
          <a:p>
            <a:r>
              <a:rPr sz="1000">
                <a:latin typeface="Arial"/>
              </a:rPr>
              <a:t>1. Prof dit -&gt; Ingrid repete</a:t>
            </a:r>
          </a:p>
          <a:p>
            <a:r>
              <a:rPr sz="1000">
                <a:latin typeface="Arial"/>
              </a:rPr>
              <a:t>2. Prof traduit</a:t>
            </a:r>
          </a:p>
          <a:p>
            <a:r>
              <a:rPr sz="1000">
                <a:latin typeface="Arial"/>
              </a:rPr>
              <a:t>3. Ingrid fait une phrase</a:t>
            </a:r>
          </a:p>
          <a:p/>
          <a:p>
            <a:r>
              <a:rPr sz="1000">
                <a:latin typeface="Arial"/>
              </a:rPr>
              <a:t>NE PAS lire simplement.</a:t>
            </a:r>
          </a:p>
          <a:p>
            <a:r>
              <a:rPr sz="1000">
                <a:latin typeface="Arial"/>
              </a:rPr>
              <a:t>TOUJOURS prononcer + utiliser.</a:t>
            </a:r>
          </a:p>
          <a:p/>
          <a:p>
            <a:r>
              <a:rPr sz="1000">
                <a:latin typeface="Arial"/>
              </a:rPr>
              <a:t>TRANSITION : "Now let's look at common mistakes."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VOCABULARY (2)</a:t>
            </a:r>
          </a:p>
          <a:p/>
          <a:p>
            <a:r>
              <a:rPr sz="1000">
                <a:latin typeface="Arial"/>
              </a:rPr>
              <a:t>ROLE : Introduire vocabulaire.</a:t>
            </a:r>
          </a:p>
          <a:p>
            <a:r>
              <a:rPr sz="1000">
                <a:latin typeface="Arial"/>
              </a:rPr>
              <a:t>DUREE : 8-10 min</a:t>
            </a:r>
          </a:p>
          <a:p/>
          <a:p>
            <a:r>
              <a:rPr sz="1000">
                <a:latin typeface="Arial"/>
              </a:rPr>
              <a:t>METHODE 3 ETAPES :</a:t>
            </a:r>
          </a:p>
          <a:p>
            <a:r>
              <a:rPr sz="1000">
                <a:latin typeface="Arial"/>
              </a:rPr>
              <a:t>1. Prof dit -&gt; Ingrid repete</a:t>
            </a:r>
          </a:p>
          <a:p>
            <a:r>
              <a:rPr sz="1000">
                <a:latin typeface="Arial"/>
              </a:rPr>
              <a:t>2. Prof traduit</a:t>
            </a:r>
          </a:p>
          <a:p>
            <a:r>
              <a:rPr sz="1000">
                <a:latin typeface="Arial"/>
              </a:rPr>
              <a:t>3. Ingrid fait une phrase</a:t>
            </a:r>
          </a:p>
          <a:p/>
          <a:p>
            <a:r>
              <a:rPr sz="1000">
                <a:latin typeface="Arial"/>
              </a:rPr>
              <a:t>NE PAS lire simplement.</a:t>
            </a:r>
          </a:p>
          <a:p>
            <a:r>
              <a:rPr sz="1000">
                <a:latin typeface="Arial"/>
              </a:rPr>
              <a:t>TOUJOURS prononcer + utiliser.</a:t>
            </a:r>
          </a:p>
          <a:p/>
          <a:p>
            <a:r>
              <a:rPr sz="1000">
                <a:latin typeface="Arial"/>
              </a:rPr>
              <a:t>TRANSITION : "Now let's look at common mistakes."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VOCABULARY (3)</a:t>
            </a:r>
          </a:p>
          <a:p/>
          <a:p>
            <a:r>
              <a:rPr sz="1000">
                <a:latin typeface="Arial"/>
              </a:rPr>
              <a:t>ROLE : Introduire vocabulaire.</a:t>
            </a:r>
          </a:p>
          <a:p>
            <a:r>
              <a:rPr sz="1000">
                <a:latin typeface="Arial"/>
              </a:rPr>
              <a:t>DUREE : 8-10 min</a:t>
            </a:r>
          </a:p>
          <a:p/>
          <a:p>
            <a:r>
              <a:rPr sz="1000">
                <a:latin typeface="Arial"/>
              </a:rPr>
              <a:t>METHODE 3 ETAPES :</a:t>
            </a:r>
          </a:p>
          <a:p>
            <a:r>
              <a:rPr sz="1000">
                <a:latin typeface="Arial"/>
              </a:rPr>
              <a:t>1. Prof dit -&gt; Ingrid repete</a:t>
            </a:r>
          </a:p>
          <a:p>
            <a:r>
              <a:rPr sz="1000">
                <a:latin typeface="Arial"/>
              </a:rPr>
              <a:t>2. Prof traduit</a:t>
            </a:r>
          </a:p>
          <a:p>
            <a:r>
              <a:rPr sz="1000">
                <a:latin typeface="Arial"/>
              </a:rPr>
              <a:t>3. Ingrid fait une phrase</a:t>
            </a:r>
          </a:p>
          <a:p/>
          <a:p>
            <a:r>
              <a:rPr sz="1000">
                <a:latin typeface="Arial"/>
              </a:rPr>
              <a:t>NE PAS lire simplement.</a:t>
            </a:r>
          </a:p>
          <a:p>
            <a:r>
              <a:rPr sz="1000">
                <a:latin typeface="Arial"/>
              </a:rPr>
              <a:t>TOUJOURS prononcer + utiliser.</a:t>
            </a:r>
          </a:p>
          <a:p/>
          <a:p>
            <a:r>
              <a:rPr sz="1000">
                <a:latin typeface="Arial"/>
              </a:rPr>
              <a:t>TRANSITION : "Now let's look at common mistakes."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COMMON MISTAKES (Trampas)</a:t>
            </a:r>
          </a:p>
          <a:p/>
          <a:p>
            <a:r>
              <a:rPr sz="1000">
                <a:latin typeface="Arial"/>
              </a:rPr>
              <a:t>ROLE : Erreurs frequentes hispanophones.</a:t>
            </a:r>
          </a:p>
          <a:p>
            <a:r>
              <a:rPr sz="1000">
                <a:latin typeface="Arial"/>
              </a:rPr>
              <a:t>DUREE : 5 min</a:t>
            </a:r>
          </a:p>
          <a:p/>
          <a:p>
            <a:r>
              <a:rPr sz="1000">
                <a:latin typeface="Arial"/>
              </a:rPr>
              <a:t>METHODE :</a:t>
            </a:r>
          </a:p>
          <a:p>
            <a:r>
              <a:rPr sz="1000">
                <a:latin typeface="Arial"/>
              </a:rPr>
              <a:t>1. Montrer l'erreur (X)</a:t>
            </a:r>
          </a:p>
          <a:p>
            <a:r>
              <a:rPr sz="1000">
                <a:latin typeface="Arial"/>
              </a:rPr>
              <a:t>2. Demander : "Esta correcto?"</a:t>
            </a:r>
          </a:p>
          <a:p>
            <a:r>
              <a:rPr sz="1000">
                <a:latin typeface="Arial"/>
              </a:rPr>
              <a:t>3. Ingrid corrige</a:t>
            </a:r>
          </a:p>
          <a:p>
            <a:r>
              <a:rPr sz="1000">
                <a:latin typeface="Arial"/>
              </a:rPr>
              <a:t>4. Montrer la correction (OK)</a:t>
            </a:r>
          </a:p>
          <a:p>
            <a:r>
              <a:rPr sz="1000">
                <a:latin typeface="Arial"/>
              </a:rPr>
              <a:t>5. Lire l'explication en espagnol</a:t>
            </a:r>
          </a:p>
          <a:p>
            <a:r>
              <a:rPr sz="1000">
                <a:latin typeface="Arial"/>
              </a:rPr>
              <a:t>6. Repetir 3x la forme correcte</a:t>
            </a:r>
          </a:p>
          <a:p/>
          <a:p>
            <a:r>
              <a:rPr sz="1000">
                <a:latin typeface="Arial"/>
              </a:rPr>
              <a:t>FRASES UTILES :</a:t>
            </a:r>
          </a:p>
          <a:p>
            <a:r>
              <a:rPr sz="1000">
                <a:latin typeface="Arial"/>
              </a:rPr>
              <a:t>- "Esta es una trampa muy comun."</a:t>
            </a:r>
          </a:p>
          <a:p>
            <a:r>
              <a:rPr sz="1000">
                <a:latin typeface="Arial"/>
              </a:rPr>
              <a:t>- "Cuidado con esta palabra."</a:t>
            </a:r>
          </a:p>
          <a:p>
            <a:r>
              <a:rPr sz="1000">
                <a:latin typeface="Arial"/>
              </a:rPr>
              <a:t>- "Repite conmigo 3 veces."</a:t>
            </a:r>
          </a:p>
          <a:p/>
          <a:p>
            <a:r>
              <a:rPr sz="1000">
                <a:latin typeface="Arial"/>
              </a:rPr>
              <a:t>NE PAS juger les erreurs.</a:t>
            </a:r>
          </a:p>
          <a:p>
            <a:r>
              <a:rPr sz="1000">
                <a:latin typeface="Arial"/>
              </a:rPr>
              <a:t>ENCOURAGER : "Es normal, todos lo hacemos."</a:t>
            </a:r>
          </a:p>
          <a:p/>
          <a:p>
            <a:r>
              <a:rPr sz="1000">
                <a:latin typeface="Arial"/>
              </a:rPr>
              <a:t>TRANSITION : "Ahora veamos expresiones completas."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EXPRESSIONS &amp; YOUR TURN</a:t>
            </a:r>
          </a:p>
          <a:p/>
          <a:p>
            <a:r>
              <a:rPr sz="1000">
                <a:latin typeface="Arial"/>
              </a:rPr>
              <a:t>ROLE : Blocs lexicaux + production.</a:t>
            </a:r>
          </a:p>
          <a:p>
            <a:r>
              <a:rPr sz="1000">
                <a:latin typeface="Arial"/>
              </a:rPr>
              <a:t>DUREE : 8 min</a:t>
            </a:r>
          </a:p>
          <a:p/>
          <a:p>
            <a:r>
              <a:rPr sz="1000">
                <a:latin typeface="Arial"/>
              </a:rPr>
              <a:t>PARTIE 1 - EXPRESSIONS (4 min) :</a:t>
            </a:r>
          </a:p>
          <a:p>
            <a:r>
              <a:rPr sz="1000">
                <a:latin typeface="Arial"/>
              </a:rPr>
              <a:t>1. Lire chaque expression</a:t>
            </a:r>
          </a:p>
          <a:p>
            <a:r>
              <a:rPr sz="1000">
                <a:latin typeface="Arial"/>
              </a:rPr>
              <a:t>2. Ingrid repete</a:t>
            </a:r>
          </a:p>
          <a:p>
            <a:r>
              <a:rPr sz="1000">
                <a:latin typeface="Arial"/>
              </a:rPr>
              <a:t>3. Demander : "When do you use this?"</a:t>
            </a:r>
          </a:p>
          <a:p/>
          <a:p>
            <a:r>
              <a:rPr sz="1000">
                <a:latin typeface="Arial"/>
              </a:rPr>
              <a:t>PARTIE 2 - YOUR TURN (4 min) :</a:t>
            </a:r>
          </a:p>
          <a:p>
            <a:r>
              <a:rPr sz="1000">
                <a:latin typeface="Arial"/>
              </a:rPr>
              <a:t>1. Lire la consigne</a:t>
            </a:r>
          </a:p>
          <a:p>
            <a:r>
              <a:rPr sz="1000">
                <a:latin typeface="Arial"/>
              </a:rPr>
              <a:t>2. Ingrid ecrit 1 phrase par mot</a:t>
            </a:r>
          </a:p>
          <a:p>
            <a:r>
              <a:rPr sz="1000">
                <a:latin typeface="Arial"/>
              </a:rPr>
              <a:t>3. Verifier oralement</a:t>
            </a:r>
          </a:p>
          <a:p/>
          <a:p>
            <a:r>
              <a:rPr sz="1000">
                <a:latin typeface="Arial"/>
              </a:rPr>
              <a:t>NE PAS ecrire a sa place.</a:t>
            </a:r>
          </a:p>
          <a:p>
            <a:r>
              <a:rPr sz="1000">
                <a:latin typeface="Arial"/>
              </a:rPr>
              <a:t>CORRIGER 2-3 erreurs max.</a:t>
            </a:r>
          </a:p>
          <a:p/>
          <a:p>
            <a:r>
              <a:rPr sz="1000">
                <a:latin typeface="Arial"/>
              </a:rPr>
              <a:t>TRANSITION : "Now let's look at the grammar."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GRAMMAR 1.1 : Present Perfect</a:t>
            </a:r>
          </a:p>
          <a:p/>
          <a:p>
            <a:r>
              <a:rPr sz="1000">
                <a:latin typeface="Arial"/>
              </a:rPr>
              <a:t>ROLE : Presenter structure.</a:t>
            </a:r>
          </a:p>
          <a:p>
            <a:r>
              <a:rPr sz="1000">
                <a:latin typeface="Arial"/>
              </a:rPr>
              <a:t>DUREE : 10-15 min</a:t>
            </a:r>
          </a:p>
          <a:p/>
          <a:p>
            <a:r>
              <a:rPr sz="1000">
                <a:latin typeface="Arial"/>
              </a:rPr>
              <a:t>APPROCHE DECOUVERTE :</a:t>
            </a:r>
          </a:p>
          <a:p>
            <a:r>
              <a:rPr sz="1000">
                <a:latin typeface="Arial"/>
              </a:rPr>
              <a:t>1. Montrer exemples</a:t>
            </a:r>
          </a:p>
          <a:p>
            <a:r>
              <a:rPr sz="1000">
                <a:latin typeface="Arial"/>
              </a:rPr>
              <a:t>2. Demander : "What pattern?"</a:t>
            </a:r>
          </a:p>
          <a:p>
            <a:r>
              <a:rPr sz="1000">
                <a:latin typeface="Arial"/>
              </a:rPr>
              <a:t>3. Laisser deviner</a:t>
            </a:r>
          </a:p>
          <a:p>
            <a:r>
              <a:rPr sz="1000">
                <a:latin typeface="Arial"/>
              </a:rPr>
              <a:t>4. Confirmer</a:t>
            </a:r>
          </a:p>
          <a:p>
            <a:r>
              <a:rPr sz="1000">
                <a:latin typeface="Arial"/>
              </a:rPr>
              <a:t>5. Exemples personnels</a:t>
            </a:r>
          </a:p>
          <a:p/>
          <a:p>
            <a:r>
              <a:rPr sz="1000">
                <a:latin typeface="Arial"/>
              </a:rPr>
              <a:t>POINT : have/has + participio pasado.</a:t>
            </a:r>
          </a:p>
          <a:p/>
          <a:p>
            <a:r>
              <a:rPr sz="1000">
                <a:latin typeface="Arial"/>
              </a:rPr>
              <a:t>MAX 2-3 corrections.</a:t>
            </a:r>
          </a:p>
          <a:p/>
          <a:p>
            <a:r>
              <a:rPr sz="1000">
                <a:latin typeface="Arial"/>
              </a:rPr>
              <a:t>TRANSITION : "Now let's practice."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GRAMMAR 1.1 : Present Perfect</a:t>
            </a:r>
          </a:p>
          <a:p/>
          <a:p>
            <a:r>
              <a:rPr sz="1000">
                <a:latin typeface="Arial"/>
              </a:rPr>
              <a:t>ROLE : Presenter structure.</a:t>
            </a:r>
          </a:p>
          <a:p>
            <a:r>
              <a:rPr sz="1000">
                <a:latin typeface="Arial"/>
              </a:rPr>
              <a:t>DUREE : 10-15 min</a:t>
            </a:r>
          </a:p>
          <a:p/>
          <a:p>
            <a:r>
              <a:rPr sz="1000">
                <a:latin typeface="Arial"/>
              </a:rPr>
              <a:t>APPROCHE DECOUVERTE :</a:t>
            </a:r>
          </a:p>
          <a:p>
            <a:r>
              <a:rPr sz="1000">
                <a:latin typeface="Arial"/>
              </a:rPr>
              <a:t>1. Montrer exemples</a:t>
            </a:r>
          </a:p>
          <a:p>
            <a:r>
              <a:rPr sz="1000">
                <a:latin typeface="Arial"/>
              </a:rPr>
              <a:t>2. Demander : "What pattern?"</a:t>
            </a:r>
          </a:p>
          <a:p>
            <a:r>
              <a:rPr sz="1000">
                <a:latin typeface="Arial"/>
              </a:rPr>
              <a:t>3. Laisser deviner</a:t>
            </a:r>
          </a:p>
          <a:p>
            <a:r>
              <a:rPr sz="1000">
                <a:latin typeface="Arial"/>
              </a:rPr>
              <a:t>4. Confirmer</a:t>
            </a:r>
          </a:p>
          <a:p>
            <a:r>
              <a:rPr sz="1000">
                <a:latin typeface="Arial"/>
              </a:rPr>
              <a:t>5. Exemples personnels</a:t>
            </a:r>
          </a:p>
          <a:p/>
          <a:p>
            <a:r>
              <a:rPr sz="1000">
                <a:latin typeface="Arial"/>
              </a:rPr>
              <a:t>POINT : have/has + participio pasado.</a:t>
            </a:r>
          </a:p>
          <a:p/>
          <a:p>
            <a:r>
              <a:rPr sz="1000">
                <a:latin typeface="Arial"/>
              </a:rPr>
              <a:t>MAX 2-3 corrections.</a:t>
            </a:r>
          </a:p>
          <a:p/>
          <a:p>
            <a:r>
              <a:rPr sz="1000">
                <a:latin typeface="Arial"/>
              </a:rPr>
              <a:t>TRANSITION : "Now let's practice."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GRAMMAR 1.1 : Present Perfect</a:t>
            </a:r>
          </a:p>
          <a:p/>
          <a:p>
            <a:r>
              <a:rPr sz="1000">
                <a:latin typeface="Arial"/>
              </a:rPr>
              <a:t>ROLE : Presenter structure.</a:t>
            </a:r>
          </a:p>
          <a:p>
            <a:r>
              <a:rPr sz="1000">
                <a:latin typeface="Arial"/>
              </a:rPr>
              <a:t>DUREE : 10-15 min</a:t>
            </a:r>
          </a:p>
          <a:p/>
          <a:p>
            <a:r>
              <a:rPr sz="1000">
                <a:latin typeface="Arial"/>
              </a:rPr>
              <a:t>APPROCHE DECOUVERTE :</a:t>
            </a:r>
          </a:p>
          <a:p>
            <a:r>
              <a:rPr sz="1000">
                <a:latin typeface="Arial"/>
              </a:rPr>
              <a:t>1. Montrer exemples</a:t>
            </a:r>
          </a:p>
          <a:p>
            <a:r>
              <a:rPr sz="1000">
                <a:latin typeface="Arial"/>
              </a:rPr>
              <a:t>2. Demander : "What pattern?"</a:t>
            </a:r>
          </a:p>
          <a:p>
            <a:r>
              <a:rPr sz="1000">
                <a:latin typeface="Arial"/>
              </a:rPr>
              <a:t>3. Laisser deviner</a:t>
            </a:r>
          </a:p>
          <a:p>
            <a:r>
              <a:rPr sz="1000">
                <a:latin typeface="Arial"/>
              </a:rPr>
              <a:t>4. Confirmer</a:t>
            </a:r>
          </a:p>
          <a:p>
            <a:r>
              <a:rPr sz="1000">
                <a:latin typeface="Arial"/>
              </a:rPr>
              <a:t>5. Exemples personnels</a:t>
            </a:r>
          </a:p>
          <a:p/>
          <a:p>
            <a:r>
              <a:rPr sz="1000">
                <a:latin typeface="Arial"/>
              </a:rPr>
              <a:t>POINT : have/has + participio pasado.</a:t>
            </a:r>
          </a:p>
          <a:p/>
          <a:p>
            <a:r>
              <a:rPr sz="1000">
                <a:latin typeface="Arial"/>
              </a:rPr>
              <a:t>MAX 2-3 corrections.</a:t>
            </a:r>
          </a:p>
          <a:p/>
          <a:p>
            <a:r>
              <a:rPr sz="1000">
                <a:latin typeface="Arial"/>
              </a:rPr>
              <a:t>TRANSITION : "Now let's practice."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GRAMMAR 1.1 : Present Perfect</a:t>
            </a:r>
          </a:p>
          <a:p/>
          <a:p>
            <a:r>
              <a:rPr sz="1000">
                <a:latin typeface="Arial"/>
              </a:rPr>
              <a:t>ROLE : Presenter structure.</a:t>
            </a:r>
          </a:p>
          <a:p>
            <a:r>
              <a:rPr sz="1000">
                <a:latin typeface="Arial"/>
              </a:rPr>
              <a:t>DUREE : 10-15 min</a:t>
            </a:r>
          </a:p>
          <a:p/>
          <a:p>
            <a:r>
              <a:rPr sz="1000">
                <a:latin typeface="Arial"/>
              </a:rPr>
              <a:t>APPROCHE DECOUVERTE :</a:t>
            </a:r>
          </a:p>
          <a:p>
            <a:r>
              <a:rPr sz="1000">
                <a:latin typeface="Arial"/>
              </a:rPr>
              <a:t>1. Montrer exemples</a:t>
            </a:r>
          </a:p>
          <a:p>
            <a:r>
              <a:rPr sz="1000">
                <a:latin typeface="Arial"/>
              </a:rPr>
              <a:t>2. Demander : "What pattern?"</a:t>
            </a:r>
          </a:p>
          <a:p>
            <a:r>
              <a:rPr sz="1000">
                <a:latin typeface="Arial"/>
              </a:rPr>
              <a:t>3. Laisser deviner</a:t>
            </a:r>
          </a:p>
          <a:p>
            <a:r>
              <a:rPr sz="1000">
                <a:latin typeface="Arial"/>
              </a:rPr>
              <a:t>4. Confirmer</a:t>
            </a:r>
          </a:p>
          <a:p>
            <a:r>
              <a:rPr sz="1000">
                <a:latin typeface="Arial"/>
              </a:rPr>
              <a:t>5. Exemples personnels</a:t>
            </a:r>
          </a:p>
          <a:p/>
          <a:p>
            <a:r>
              <a:rPr sz="1000">
                <a:latin typeface="Arial"/>
              </a:rPr>
              <a:t>POINT : have/has + participio pasado.</a:t>
            </a:r>
          </a:p>
          <a:p/>
          <a:p>
            <a:r>
              <a:rPr sz="1000">
                <a:latin typeface="Arial"/>
              </a:rPr>
              <a:t>MAX 2-3 corrections.</a:t>
            </a:r>
          </a:p>
          <a:p/>
          <a:p>
            <a:r>
              <a:rPr sz="1000">
                <a:latin typeface="Arial"/>
              </a:rPr>
              <a:t>TRANSITION : "Now let's practice."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GRAMMAR 1.1 : Present Perfect</a:t>
            </a:r>
          </a:p>
          <a:p/>
          <a:p>
            <a:r>
              <a:rPr sz="1000">
                <a:latin typeface="Arial"/>
              </a:rPr>
              <a:t>ROLE : Presenter structure.</a:t>
            </a:r>
          </a:p>
          <a:p>
            <a:r>
              <a:rPr sz="1000">
                <a:latin typeface="Arial"/>
              </a:rPr>
              <a:t>DUREE : 10-15 min</a:t>
            </a:r>
          </a:p>
          <a:p/>
          <a:p>
            <a:r>
              <a:rPr sz="1000">
                <a:latin typeface="Arial"/>
              </a:rPr>
              <a:t>APPROCHE DECOUVERTE :</a:t>
            </a:r>
          </a:p>
          <a:p>
            <a:r>
              <a:rPr sz="1000">
                <a:latin typeface="Arial"/>
              </a:rPr>
              <a:t>1. Montrer exemples</a:t>
            </a:r>
          </a:p>
          <a:p>
            <a:r>
              <a:rPr sz="1000">
                <a:latin typeface="Arial"/>
              </a:rPr>
              <a:t>2. Demander : "What pattern?"</a:t>
            </a:r>
          </a:p>
          <a:p>
            <a:r>
              <a:rPr sz="1000">
                <a:latin typeface="Arial"/>
              </a:rPr>
              <a:t>3. Laisser deviner</a:t>
            </a:r>
          </a:p>
          <a:p>
            <a:r>
              <a:rPr sz="1000">
                <a:latin typeface="Arial"/>
              </a:rPr>
              <a:t>4. Confirmer</a:t>
            </a:r>
          </a:p>
          <a:p>
            <a:r>
              <a:rPr sz="1000">
                <a:latin typeface="Arial"/>
              </a:rPr>
              <a:t>5. Exemples personnels</a:t>
            </a:r>
          </a:p>
          <a:p/>
          <a:p>
            <a:r>
              <a:rPr sz="1000">
                <a:latin typeface="Arial"/>
              </a:rPr>
              <a:t>POINT : have/has + participio pasado.</a:t>
            </a:r>
          </a:p>
          <a:p/>
          <a:p>
            <a:r>
              <a:rPr sz="1000">
                <a:latin typeface="Arial"/>
              </a:rPr>
              <a:t>MAX 2-3 corrections.</a:t>
            </a:r>
          </a:p>
          <a:p/>
          <a:p>
            <a:r>
              <a:rPr sz="1000">
                <a:latin typeface="Arial"/>
              </a:rPr>
              <a:t>TRANSITION : "Now let's practice."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GRAMMAR 1.1 : Present Perfect</a:t>
            </a:r>
          </a:p>
          <a:p/>
          <a:p>
            <a:r>
              <a:rPr sz="1000">
                <a:latin typeface="Arial"/>
              </a:rPr>
              <a:t>ROLE : Presenter structure.</a:t>
            </a:r>
          </a:p>
          <a:p>
            <a:r>
              <a:rPr sz="1000">
                <a:latin typeface="Arial"/>
              </a:rPr>
              <a:t>DUREE : 10-15 min</a:t>
            </a:r>
          </a:p>
          <a:p/>
          <a:p>
            <a:r>
              <a:rPr sz="1000">
                <a:latin typeface="Arial"/>
              </a:rPr>
              <a:t>APPROCHE DECOUVERTE :</a:t>
            </a:r>
          </a:p>
          <a:p>
            <a:r>
              <a:rPr sz="1000">
                <a:latin typeface="Arial"/>
              </a:rPr>
              <a:t>1. Montrer exemples</a:t>
            </a:r>
          </a:p>
          <a:p>
            <a:r>
              <a:rPr sz="1000">
                <a:latin typeface="Arial"/>
              </a:rPr>
              <a:t>2. Demander : "What pattern?"</a:t>
            </a:r>
          </a:p>
          <a:p>
            <a:r>
              <a:rPr sz="1000">
                <a:latin typeface="Arial"/>
              </a:rPr>
              <a:t>3. Laisser deviner</a:t>
            </a:r>
          </a:p>
          <a:p>
            <a:r>
              <a:rPr sz="1000">
                <a:latin typeface="Arial"/>
              </a:rPr>
              <a:t>4. Confirmer</a:t>
            </a:r>
          </a:p>
          <a:p>
            <a:r>
              <a:rPr sz="1000">
                <a:latin typeface="Arial"/>
              </a:rPr>
              <a:t>5. Exemples personnels</a:t>
            </a:r>
          </a:p>
          <a:p/>
          <a:p>
            <a:r>
              <a:rPr sz="1000">
                <a:latin typeface="Arial"/>
              </a:rPr>
              <a:t>POINT : have/has + participio pasado.</a:t>
            </a:r>
          </a:p>
          <a:p/>
          <a:p>
            <a:r>
              <a:rPr sz="1000">
                <a:latin typeface="Arial"/>
              </a:rPr>
              <a:t>MAX 2-3 corrections.</a:t>
            </a:r>
          </a:p>
          <a:p/>
          <a:p>
            <a:r>
              <a:rPr sz="1000">
                <a:latin typeface="Arial"/>
              </a:rPr>
              <a:t>TRANSITION : "Now let's practice."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SOUND : /v/ vs /b/</a:t>
            </a:r>
          </a:p>
          <a:p/>
          <a:p>
            <a:r>
              <a:rPr sz="1000">
                <a:latin typeface="Arial"/>
              </a:rPr>
              <a:t>ROLE : Focus phonetique.</a:t>
            </a:r>
          </a:p>
          <a:p>
            <a:r>
              <a:rPr sz="1000">
                <a:latin typeface="Arial"/>
              </a:rPr>
              <a:t>DUREE : 5 min</a:t>
            </a:r>
          </a:p>
          <a:p/>
          <a:p>
            <a:r>
              <a:rPr sz="1000">
                <a:latin typeface="Arial"/>
              </a:rPr>
              <a:t>METHODE :</a:t>
            </a:r>
          </a:p>
          <a:p>
            <a:r>
              <a:rPr sz="1000">
                <a:latin typeface="Arial"/>
              </a:rPr>
              <a:t>1. ECOUTER : prof prononce</a:t>
            </a:r>
          </a:p>
          <a:p>
            <a:r>
              <a:rPr sz="1000">
                <a:latin typeface="Arial"/>
              </a:rPr>
              <a:t>2. DISTINGUER : Ingrid identifie</a:t>
            </a:r>
          </a:p>
          <a:p>
            <a:r>
              <a:rPr sz="1000">
                <a:latin typeface="Arial"/>
              </a:rPr>
              <a:t>3. REPETER</a:t>
            </a:r>
          </a:p>
          <a:p/>
          <a:p>
            <a:r>
              <a:rPr sz="1000">
                <a:latin typeface="Arial"/>
              </a:rPr>
              <a:t>NE PAS enseigner theorie.</a:t>
            </a:r>
          </a:p>
          <a:p/>
          <a:p>
            <a:r>
              <a:rPr sz="1000">
                <a:latin typeface="Arial"/>
              </a:rPr>
              <a:t>TRANSITION : "Now let's practice in words."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PRONUNCIATION</a:t>
            </a:r>
          </a:p>
          <a:p/>
          <a:p>
            <a:r>
              <a:rPr sz="1000">
                <a:latin typeface="Arial"/>
              </a:rPr>
              <a:t>ROLE : Pratique active.</a:t>
            </a:r>
          </a:p>
          <a:p>
            <a:r>
              <a:rPr sz="1000">
                <a:latin typeface="Arial"/>
              </a:rPr>
              <a:t>DUREE : 5 min</a:t>
            </a:r>
          </a:p>
          <a:p/>
          <a:p>
            <a:r>
              <a:rPr sz="1000">
                <a:latin typeface="Arial"/>
              </a:rPr>
              <a:t>Chaque mot repete 5 fois.</a:t>
            </a:r>
          </a:p>
          <a:p>
            <a:r>
              <a:rPr sz="1000">
                <a:latin typeface="Arial"/>
              </a:rPr>
              <a:t>Prof corrige en temps reel.</a:t>
            </a:r>
          </a:p>
          <a:p>
            <a:r>
              <a:rPr sz="1000">
                <a:latin typeface="Arial"/>
              </a:rPr>
              <a:t>Enregistrer si possible.</a:t>
            </a:r>
          </a:p>
          <a:p/>
          <a:p>
            <a:r>
              <a:rPr sz="1000">
                <a:latin typeface="Arial"/>
              </a:rPr>
              <a:t>TRANSITION : "Now let's practice with exercises."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WARM-UP</a:t>
            </a:r>
          </a:p>
          <a:p/>
          <a:p>
            <a:r>
              <a:rPr sz="1000">
                <a:latin typeface="Arial"/>
              </a:rPr>
              <a:t>ROLE : Activer connaissances.</a:t>
            </a:r>
          </a:p>
          <a:p>
            <a:r>
              <a:rPr sz="1000">
                <a:latin typeface="Arial"/>
              </a:rPr>
              <a:t>DUREE : 10 min</a:t>
            </a:r>
          </a:p>
          <a:p/>
          <a:p>
            <a:r>
              <a:rPr sz="1000">
                <a:latin typeface="Arial"/>
              </a:rPr>
              <a:t>Ingrid repond ORALEMENT sans notes.</a:t>
            </a:r>
          </a:p>
          <a:p>
            <a:r>
              <a:rPr sz="1000">
                <a:latin typeface="Arial"/>
              </a:rPr>
              <a:t>Ne pas interrompre.</a:t>
            </a:r>
          </a:p>
          <a:p>
            <a:r>
              <a:rPr sz="1000">
                <a:latin typeface="Arial"/>
              </a:rPr>
              <a:t>Max 2-3 corrections apres.</a:t>
            </a:r>
          </a:p>
          <a:p/>
          <a:p>
            <a:r>
              <a:rPr sz="1000">
                <a:latin typeface="Arial"/>
              </a:rPr>
              <a:t>TRANSITION : "Now let's look at new vocabulary."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WARM-UP</a:t>
            </a:r>
          </a:p>
          <a:p/>
          <a:p>
            <a:r>
              <a:rPr sz="1000">
                <a:latin typeface="Arial"/>
              </a:rPr>
              <a:t>ROLE : Activer connaissances.</a:t>
            </a:r>
          </a:p>
          <a:p>
            <a:r>
              <a:rPr sz="1000">
                <a:latin typeface="Arial"/>
              </a:rPr>
              <a:t>DUREE : 10 min</a:t>
            </a:r>
          </a:p>
          <a:p/>
          <a:p>
            <a:r>
              <a:rPr sz="1000">
                <a:latin typeface="Arial"/>
              </a:rPr>
              <a:t>Ingrid repond ORALEMENT sans notes.</a:t>
            </a:r>
          </a:p>
          <a:p>
            <a:r>
              <a:rPr sz="1000">
                <a:latin typeface="Arial"/>
              </a:rPr>
              <a:t>Ne pas interrompre.</a:t>
            </a:r>
          </a:p>
          <a:p>
            <a:r>
              <a:rPr sz="1000">
                <a:latin typeface="Arial"/>
              </a:rPr>
              <a:t>Max 2-3 corrections apres.</a:t>
            </a:r>
          </a:p>
          <a:p/>
          <a:p>
            <a:r>
              <a:rPr sz="1000">
                <a:latin typeface="Arial"/>
              </a:rPr>
              <a:t>TRANSITION : "Now let's look at new vocabulary."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CONVERSATION (1)</a:t>
            </a:r>
          </a:p>
          <a:p/>
          <a:p>
            <a:r>
              <a:rPr sz="1000">
                <a:latin typeface="Arial"/>
              </a:rPr>
              <a:t>ROLE : Pratique orale.</a:t>
            </a:r>
          </a:p>
          <a:p>
            <a:r>
              <a:rPr sz="1000">
                <a:latin typeface="Arial"/>
              </a:rPr>
              <a:t>DUREE : 10-12 min</a:t>
            </a:r>
          </a:p>
          <a:p/>
          <a:p>
            <a:r>
              <a:rPr sz="1000">
                <a:latin typeface="Arial"/>
              </a:rPr>
              <a:t>Prof pose UNE question.</a:t>
            </a:r>
          </a:p>
          <a:p>
            <a:r>
              <a:rPr sz="1000">
                <a:latin typeface="Arial"/>
              </a:rPr>
              <a:t>Ingrid repond librement.</a:t>
            </a:r>
          </a:p>
          <a:p>
            <a:r>
              <a:rPr sz="1000">
                <a:latin typeface="Arial"/>
              </a:rPr>
              <a:t>NE PAS interrompre.</a:t>
            </a:r>
          </a:p>
          <a:p>
            <a:r>
              <a:rPr sz="1000">
                <a:latin typeface="Arial"/>
              </a:rPr>
              <a:t>Corriger 2-3 erreurs APRES.</a:t>
            </a:r>
          </a:p>
          <a:p/>
          <a:p>
            <a:r>
              <a:rPr sz="1000">
                <a:latin typeface="Arial"/>
              </a:rPr>
              <a:t>FOLLOW-UP : "Really? Tell me more."</a:t>
            </a:r>
          </a:p>
          <a:p/>
          <a:p>
            <a:r>
              <a:rPr sz="1000">
                <a:latin typeface="Arial"/>
              </a:rPr>
              <a:t>TRANSITION : "Now let's listen to a short text."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CONVERSATION (2)</a:t>
            </a:r>
          </a:p>
          <a:p/>
          <a:p>
            <a:r>
              <a:rPr sz="1000">
                <a:latin typeface="Arial"/>
              </a:rPr>
              <a:t>ROLE : Pratique orale.</a:t>
            </a:r>
          </a:p>
          <a:p>
            <a:r>
              <a:rPr sz="1000">
                <a:latin typeface="Arial"/>
              </a:rPr>
              <a:t>DUREE : 10-12 min</a:t>
            </a:r>
          </a:p>
          <a:p/>
          <a:p>
            <a:r>
              <a:rPr sz="1000">
                <a:latin typeface="Arial"/>
              </a:rPr>
              <a:t>Prof pose UNE question.</a:t>
            </a:r>
          </a:p>
          <a:p>
            <a:r>
              <a:rPr sz="1000">
                <a:latin typeface="Arial"/>
              </a:rPr>
              <a:t>Ingrid repond librement.</a:t>
            </a:r>
          </a:p>
          <a:p>
            <a:r>
              <a:rPr sz="1000">
                <a:latin typeface="Arial"/>
              </a:rPr>
              <a:t>NE PAS interrompre.</a:t>
            </a:r>
          </a:p>
          <a:p>
            <a:r>
              <a:rPr sz="1000">
                <a:latin typeface="Arial"/>
              </a:rPr>
              <a:t>Corriger 2-3 erreurs APRES.</a:t>
            </a:r>
          </a:p>
          <a:p/>
          <a:p>
            <a:r>
              <a:rPr sz="1000">
                <a:latin typeface="Arial"/>
              </a:rPr>
              <a:t>FOLLOW-UP : "Really? Tell me more."</a:t>
            </a:r>
          </a:p>
          <a:p/>
          <a:p>
            <a:r>
              <a:rPr sz="1000">
                <a:latin typeface="Arial"/>
              </a:rPr>
              <a:t>TRANSITION : "Now let's listen to a short text."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LISTENING TEXT : Text</a:t>
            </a:r>
          </a:p>
          <a:p/>
          <a:p>
            <a:r>
              <a:rPr sz="1000">
                <a:latin typeface="Arial"/>
              </a:rPr>
              <a:t>ROLE : Comprehension.</a:t>
            </a:r>
          </a:p>
          <a:p>
            <a:r>
              <a:rPr sz="1000">
                <a:latin typeface="Arial"/>
              </a:rPr>
              <a:t>DUREE : 4 min</a:t>
            </a:r>
          </a:p>
          <a:p/>
          <a:p>
            <a:r>
              <a:rPr sz="1000">
                <a:latin typeface="Arial"/>
              </a:rPr>
              <a:t>2 LECTURES :</a:t>
            </a:r>
          </a:p>
          <a:p>
            <a:r>
              <a:rPr sz="1000">
                <a:latin typeface="Arial"/>
              </a:rPr>
              <a:t>1ere : GLOBALE (sans ecrire)</a:t>
            </a:r>
          </a:p>
          <a:p>
            <a:r>
              <a:rPr sz="1000">
                <a:latin typeface="Arial"/>
              </a:rPr>
              <a:t>2eme : DETAILLEE</a:t>
            </a:r>
          </a:p>
          <a:p/>
          <a:p>
            <a:r>
              <a:rPr sz="1000">
                <a:latin typeface="Arial"/>
              </a:rPr>
              <a:t>NE PAS montrer le texte.</a:t>
            </a:r>
          </a:p>
          <a:p>
            <a:r>
              <a:rPr sz="1000">
                <a:latin typeface="Arial"/>
              </a:rPr>
              <a:t>LIRE lentement.</a:t>
            </a:r>
          </a:p>
          <a:p/>
          <a:p>
            <a:r>
              <a:rPr sz="1000">
                <a:latin typeface="Arial"/>
              </a:rPr>
              <a:t>TRANSITION : "Now let's answer the questions."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LISTENING QUESTIONS</a:t>
            </a:r>
          </a:p>
          <a:p/>
          <a:p>
            <a:r>
              <a:rPr sz="1000">
                <a:latin typeface="Arial"/>
              </a:rPr>
              <a:t>ROLE : Comprehension detaillee.</a:t>
            </a:r>
          </a:p>
          <a:p>
            <a:r>
              <a:rPr sz="1000">
                <a:latin typeface="Arial"/>
              </a:rPr>
              <a:t>DUREE : 4 min</a:t>
            </a:r>
          </a:p>
          <a:p/>
          <a:p>
            <a:r>
              <a:rPr sz="1000">
                <a:latin typeface="Arial"/>
              </a:rPr>
              <a:t>Ingrid repond en PHRASE COMPLETE.</a:t>
            </a:r>
          </a:p>
          <a:p>
            <a:r>
              <a:rPr sz="1000">
                <a:latin typeface="Arial"/>
              </a:rPr>
              <a:t>Corriger apres.</a:t>
            </a:r>
          </a:p>
          <a:p/>
          <a:p>
            <a:r>
              <a:rPr sz="1000">
                <a:latin typeface="Arial"/>
              </a:rPr>
              <a:t>TRANSITION : "Now it's your turn to speak."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SPEAKING CHALLENGE : Challenge</a:t>
            </a:r>
          </a:p>
          <a:p/>
          <a:p>
            <a:r>
              <a:rPr sz="1000">
                <a:latin typeface="Arial"/>
              </a:rPr>
              <a:t>ROLE : Production orale.</a:t>
            </a:r>
          </a:p>
          <a:p>
            <a:r>
              <a:rPr sz="1000">
                <a:latin typeface="Arial"/>
              </a:rPr>
              <a:t>DUREE : 10 min</a:t>
            </a:r>
          </a:p>
          <a:p/>
          <a:p>
            <a:r>
              <a:rPr sz="1000">
                <a:latin typeface="Arial"/>
              </a:rPr>
              <a:t>TIMING :</a:t>
            </a:r>
          </a:p>
          <a:p>
            <a:r>
              <a:rPr sz="1000">
                <a:latin typeface="Arial"/>
              </a:rPr>
              <a:t>- 0:45 Explication</a:t>
            </a:r>
          </a:p>
          <a:p>
            <a:r>
              <a:rPr sz="1000">
                <a:latin typeface="Arial"/>
              </a:rPr>
              <a:t>- 0:45 Preparation mentale (silence)</a:t>
            </a:r>
          </a:p>
          <a:p>
            <a:r>
              <a:rPr sz="1000">
                <a:latin typeface="Arial"/>
              </a:rPr>
              <a:t>- 2:00 Monologue</a:t>
            </a:r>
          </a:p>
          <a:p>
            <a:r>
              <a:rPr sz="1000">
                <a:latin typeface="Arial"/>
              </a:rPr>
              <a:t>- 2:00 Feedback (2+1)</a:t>
            </a:r>
          </a:p>
          <a:p>
            <a:r>
              <a:rPr sz="1000">
                <a:latin typeface="Arial"/>
              </a:rPr>
              <a:t>- 0:30 Re-record</a:t>
            </a:r>
          </a:p>
          <a:p/>
          <a:p>
            <a:r>
              <a:rPr sz="1000">
                <a:latin typeface="Arial"/>
              </a:rPr>
              <a:t>SCRIPT :</a:t>
            </a:r>
          </a:p>
          <a:p>
            <a:r>
              <a:rPr sz="1000">
                <a:latin typeface="Arial"/>
              </a:rPr>
              <a:t>"Okay Ingrid, YOUR turn.</a:t>
            </a:r>
          </a:p>
          <a:p>
            <a:r>
              <a:rPr sz="1000">
                <a:latin typeface="Arial"/>
              </a:rPr>
              <a:t>Talk for 1 minutes.</a:t>
            </a:r>
          </a:p>
          <a:p>
            <a:r>
              <a:rPr sz="1000">
                <a:latin typeface="Arial"/>
              </a:rPr>
              <a:t>Use: Present Perfect and Ever/Never.</a:t>
            </a:r>
          </a:p>
          <a:p>
            <a:r>
              <a:rPr sz="1000">
                <a:latin typeface="Arial"/>
              </a:rPr>
              <a:t>Take 45 sec to think. Ready?"</a:t>
            </a:r>
          </a:p>
          <a:p/>
          <a:p>
            <a:r>
              <a:rPr sz="1000">
                <a:latin typeface="Arial"/>
              </a:rPr>
              <a:t>OBSERVER :</a:t>
            </a:r>
          </a:p>
          <a:p>
            <a:r>
              <a:rPr sz="1000">
                <a:latin typeface="Arial"/>
              </a:rPr>
              <a:t>- Present Perfect min 3 fois</a:t>
            </a:r>
          </a:p>
          <a:p>
            <a:r>
              <a:rPr sz="1000">
                <a:latin typeface="Arial"/>
              </a:rPr>
              <a:t>- Ever/Never min 3 fois</a:t>
            </a:r>
          </a:p>
          <a:p>
            <a:r>
              <a:rPr sz="1000">
                <a:latin typeface="Arial"/>
              </a:rPr>
              <a:t>- Duree 60-90 sec</a:t>
            </a:r>
          </a:p>
          <a:p>
            <a:r>
              <a:rPr sz="1000">
                <a:latin typeface="Arial"/>
              </a:rPr>
              <a:t>- Pauses &lt; 5 sec</a:t>
            </a:r>
          </a:p>
          <a:p/>
          <a:p>
            <a:r>
              <a:rPr sz="1000">
                <a:latin typeface="Arial"/>
              </a:rPr>
              <a:t>FEEDBACK (2+1) :</a:t>
            </a:r>
          </a:p>
          <a:p>
            <a:r>
              <a:rPr sz="1000">
                <a:latin typeface="Arial"/>
              </a:rPr>
              <a:t>1. Compliment CONCRET</a:t>
            </a:r>
          </a:p>
          <a:p>
            <a:r>
              <a:rPr sz="1000">
                <a:latin typeface="Arial"/>
              </a:rPr>
              <a:t>2. Compliment CONCRET</a:t>
            </a:r>
          </a:p>
          <a:p>
            <a:r>
              <a:rPr sz="1000">
                <a:latin typeface="Arial"/>
              </a:rPr>
              <a:t>3. UNE correction -&gt; repeter 2 fois</a:t>
            </a:r>
          </a:p>
          <a:p/>
          <a:p>
            <a:r>
              <a:rPr sz="1000">
                <a:latin typeface="Arial"/>
              </a:rPr>
              <a:t>NE PAS interrompre.</a:t>
            </a:r>
          </a:p>
          <a:p/>
          <a:p>
            <a:r>
              <a:rPr sz="1000">
                <a:latin typeface="Arial"/>
              </a:rPr>
              <a:t>TRANSITION : "Now let's write about this."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WRITING REQUIREMENTS</a:t>
            </a:r>
          </a:p>
          <a:p/>
          <a:p>
            <a:r>
              <a:rPr sz="1000">
                <a:latin typeface="Arial"/>
              </a:rPr>
              <a:t>ROLE : Preparer ecrit.</a:t>
            </a:r>
          </a:p>
          <a:p>
            <a:r>
              <a:rPr sz="1000">
                <a:latin typeface="Arial"/>
              </a:rPr>
              <a:t>DUREE : 3 min</a:t>
            </a:r>
          </a:p>
          <a:p/>
          <a:p>
            <a:r>
              <a:rPr sz="1000">
                <a:latin typeface="Arial"/>
              </a:rPr>
              <a:t>5 ETAPES :</a:t>
            </a:r>
          </a:p>
          <a:p>
            <a:r>
              <a:rPr sz="1000">
                <a:latin typeface="Arial"/>
              </a:rPr>
              <a:t>1. Brainstorming (3 min)</a:t>
            </a:r>
          </a:p>
          <a:p>
            <a:r>
              <a:rPr sz="1000">
                <a:latin typeface="Arial"/>
              </a:rPr>
              <a:t>2. Borrador (10 min)</a:t>
            </a:r>
          </a:p>
          <a:p>
            <a:r>
              <a:rPr sz="1000">
                <a:latin typeface="Arial"/>
              </a:rPr>
              <a:t>3. Revision (5 min)</a:t>
            </a:r>
          </a:p>
          <a:p>
            <a:r>
              <a:rPr sz="1000">
                <a:latin typeface="Arial"/>
              </a:rPr>
              <a:t>4. Edicion (5 min)</a:t>
            </a:r>
          </a:p>
          <a:p>
            <a:r>
              <a:rPr sz="1000">
                <a:latin typeface="Arial"/>
              </a:rPr>
              <a:t>5. Publicacion (5 min)</a:t>
            </a:r>
          </a:p>
          <a:p/>
          <a:p>
            <a:r>
              <a:rPr sz="1000">
                <a:latin typeface="Arial"/>
              </a:rPr>
              <a:t>FOCUS : Present Perfect + Ever/Never</a:t>
            </a:r>
          </a:p>
          <a:p/>
          <a:p>
            <a:r>
              <a:rPr sz="1000">
                <a:latin typeface="Arial"/>
              </a:rPr>
              <a:t>NE PAS ecrire a sa place.</a:t>
            </a:r>
          </a:p>
          <a:p/>
          <a:p>
            <a:r>
              <a:rPr sz="1000">
                <a:latin typeface="Arial"/>
              </a:rPr>
              <a:t>TRANSITION : "Now let's look at the template."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WRITING TEMPLATE</a:t>
            </a:r>
          </a:p>
          <a:p/>
          <a:p>
            <a:r>
              <a:rPr sz="1000">
                <a:latin typeface="Arial"/>
              </a:rPr>
              <a:t>ROLE : Guide structurel.</a:t>
            </a:r>
          </a:p>
          <a:p>
            <a:r>
              <a:rPr sz="1000">
                <a:latin typeface="Arial"/>
              </a:rPr>
              <a:t>DUREE : 2 min</a:t>
            </a:r>
          </a:p>
          <a:p/>
          <a:p>
            <a:r>
              <a:rPr sz="1000">
                <a:latin typeface="Arial"/>
              </a:rPr>
              <a:t>Ingrid ecrit sur papier.</a:t>
            </a:r>
          </a:p>
          <a:p>
            <a:r>
              <a:rPr sz="1000">
                <a:latin typeface="Arial"/>
              </a:rPr>
              <a:t>Suit le template.</a:t>
            </a:r>
          </a:p>
          <a:p>
            <a:r>
              <a:rPr sz="1000">
                <a:latin typeface="Arial"/>
              </a:rPr>
              <a:t>Complete les blancs.</a:t>
            </a:r>
          </a:p>
          <a:p/>
          <a:p>
            <a:r>
              <a:rPr sz="1000">
                <a:latin typeface="Arial"/>
              </a:rPr>
              <a:t>VERIFIER a la fin.</a:t>
            </a:r>
          </a:p>
          <a:p/>
          <a:p>
            <a:r>
              <a:rPr sz="1000">
                <a:latin typeface="Arial"/>
              </a:rPr>
              <a:t>TRANSITION : "Now let's check your progress."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CHECKPOINT</a:t>
            </a:r>
          </a:p>
          <a:p/>
          <a:p>
            <a:r>
              <a:rPr sz="1000">
                <a:latin typeface="Arial"/>
              </a:rPr>
              <a:t>ROLE : Auto-evaluation.</a:t>
            </a:r>
          </a:p>
          <a:p>
            <a:r>
              <a:rPr sz="1000">
                <a:latin typeface="Arial"/>
              </a:rPr>
              <a:t>DUREE : 5 min</a:t>
            </a:r>
          </a:p>
          <a:p/>
          <a:p>
            <a:r>
              <a:rPr sz="1000">
                <a:latin typeface="Arial"/>
              </a:rPr>
              <a:t>Lire chaque critere.</a:t>
            </a:r>
          </a:p>
          <a:p>
            <a:r>
              <a:rPr sz="1000">
                <a:latin typeface="Arial"/>
              </a:rPr>
              <a:t>Ingrid repond honnetement.</a:t>
            </a:r>
          </a:p>
          <a:p/>
          <a:p>
            <a:r>
              <a:rPr sz="1000">
                <a:latin typeface="Arial"/>
              </a:rPr>
              <a:t>NE PAS juger.</a:t>
            </a:r>
          </a:p>
          <a:p/>
          <a:p>
            <a:r>
              <a:rPr sz="1000">
                <a:latin typeface="Arial"/>
              </a:rPr>
              <a:t>TRANSITION : "Now let's reflect."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VOCABULARY (1)</a:t>
            </a:r>
          </a:p>
          <a:p/>
          <a:p>
            <a:r>
              <a:rPr sz="1000">
                <a:latin typeface="Arial"/>
              </a:rPr>
              <a:t>ROLE : Introduire vocabulaire.</a:t>
            </a:r>
          </a:p>
          <a:p>
            <a:r>
              <a:rPr sz="1000">
                <a:latin typeface="Arial"/>
              </a:rPr>
              <a:t>DUREE : 8-10 min</a:t>
            </a:r>
          </a:p>
          <a:p/>
          <a:p>
            <a:r>
              <a:rPr sz="1000">
                <a:latin typeface="Arial"/>
              </a:rPr>
              <a:t>METHODE 3 ETAPES :</a:t>
            </a:r>
          </a:p>
          <a:p>
            <a:r>
              <a:rPr sz="1000">
                <a:latin typeface="Arial"/>
              </a:rPr>
              <a:t>1. Prof dit -&gt; Ingrid repete</a:t>
            </a:r>
          </a:p>
          <a:p>
            <a:r>
              <a:rPr sz="1000">
                <a:latin typeface="Arial"/>
              </a:rPr>
              <a:t>2. Prof traduit</a:t>
            </a:r>
          </a:p>
          <a:p>
            <a:r>
              <a:rPr sz="1000">
                <a:latin typeface="Arial"/>
              </a:rPr>
              <a:t>3. Ingrid fait une phrase</a:t>
            </a:r>
          </a:p>
          <a:p/>
          <a:p>
            <a:r>
              <a:rPr sz="1000">
                <a:latin typeface="Arial"/>
              </a:rPr>
              <a:t>NE PAS lire simplement.</a:t>
            </a:r>
          </a:p>
          <a:p>
            <a:r>
              <a:rPr sz="1000">
                <a:latin typeface="Arial"/>
              </a:rPr>
              <a:t>TOUJOURS prononcer + utiliser.</a:t>
            </a:r>
          </a:p>
          <a:p/>
          <a:p>
            <a:r>
              <a:rPr sz="1000">
                <a:latin typeface="Arial"/>
              </a:rPr>
              <a:t>TRANSITION : "Now let's look at common mistakes."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PRACTICE (1)</a:t>
            </a:r>
          </a:p>
          <a:p/>
          <a:p>
            <a:r>
              <a:rPr sz="1000">
                <a:latin typeface="Arial"/>
              </a:rPr>
              <a:t>ROLE : Pratique controlee.</a:t>
            </a:r>
          </a:p>
          <a:p>
            <a:r>
              <a:rPr sz="1000">
                <a:latin typeface="Arial"/>
              </a:rPr>
              <a:t>DUREE : 8-10 min</a:t>
            </a:r>
          </a:p>
          <a:p/>
          <a:p>
            <a:r>
              <a:rPr sz="1000">
                <a:latin typeface="Arial"/>
              </a:rPr>
              <a:t>1. ORAL d'abord</a:t>
            </a:r>
          </a:p>
          <a:p>
            <a:r>
              <a:rPr sz="1000">
                <a:latin typeface="Arial"/>
              </a:rPr>
              <a:t>2. ECRIT ensuite</a:t>
            </a:r>
          </a:p>
          <a:p>
            <a:r>
              <a:rPr sz="1000">
                <a:latin typeface="Arial"/>
              </a:rPr>
              <a:t>3. CORRECTION en temps reel</a:t>
            </a:r>
          </a:p>
          <a:p/>
          <a:p>
            <a:r>
              <a:rPr sz="1000">
                <a:latin typeface="Arial"/>
              </a:rPr>
              <a:t>Ne pas donner la reponse.</a:t>
            </a:r>
          </a:p>
          <a:p>
            <a:r>
              <a:rPr sz="1000">
                <a:latin typeface="Arial"/>
              </a:rPr>
              <a:t>Laisser 5-10 secondes.</a:t>
            </a:r>
          </a:p>
          <a:p>
            <a:r>
              <a:rPr sz="1000">
                <a:latin typeface="Arial"/>
              </a:rPr>
              <a:t>MAX 3 corrections.</a:t>
            </a:r>
          </a:p>
          <a:p/>
          <a:p>
            <a:r>
              <a:rPr sz="1000">
                <a:latin typeface="Arial"/>
              </a:rPr>
              <a:t>TRANSITION : "Now let's use these in conversation."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PRONUNCIATION</a:t>
            </a:r>
          </a:p>
          <a:p/>
          <a:p>
            <a:r>
              <a:rPr sz="1000">
                <a:latin typeface="Arial"/>
              </a:rPr>
              <a:t>ROLE : Pratique active.</a:t>
            </a:r>
          </a:p>
          <a:p>
            <a:r>
              <a:rPr sz="1000">
                <a:latin typeface="Arial"/>
              </a:rPr>
              <a:t>DUREE : 5 min</a:t>
            </a:r>
          </a:p>
          <a:p/>
          <a:p>
            <a:r>
              <a:rPr sz="1000">
                <a:latin typeface="Arial"/>
              </a:rPr>
              <a:t>Chaque mot repete 5 fois.</a:t>
            </a:r>
          </a:p>
          <a:p>
            <a:r>
              <a:rPr sz="1000">
                <a:latin typeface="Arial"/>
              </a:rPr>
              <a:t>Prof corrige en temps reel.</a:t>
            </a:r>
          </a:p>
          <a:p>
            <a:r>
              <a:rPr sz="1000">
                <a:latin typeface="Arial"/>
              </a:rPr>
              <a:t>Enregistrer si possible.</a:t>
            </a:r>
          </a:p>
          <a:p/>
          <a:p>
            <a:r>
              <a:rPr sz="1000">
                <a:latin typeface="Arial"/>
              </a:rPr>
              <a:t>TRANSITION : "Now let's practice with exercises."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THANKS</a:t>
            </a:r>
          </a:p>
          <a:p/>
          <a:p>
            <a:r>
              <a:rPr sz="1000">
                <a:latin typeface="Arial"/>
              </a:rPr>
              <a:t>ROLE : Cloture.</a:t>
            </a:r>
          </a:p>
          <a:p>
            <a:r>
              <a:rPr sz="1000">
                <a:latin typeface="Arial"/>
              </a:rPr>
              <a:t>DUREE : 2 min</a:t>
            </a:r>
          </a:p>
          <a:p/>
          <a:p>
            <a:r>
              <a:rPr sz="1000">
                <a:latin typeface="Arial"/>
              </a:rPr>
              <a:t>SCRIPT :</a:t>
            </a:r>
          </a:p>
          <a:p>
            <a:r>
              <a:rPr sz="1000">
                <a:latin typeface="Arial"/>
              </a:rPr>
              <a:t>"Excellent work today, Ingrid!</a:t>
            </a:r>
          </a:p>
          <a:p>
            <a:r>
              <a:rPr sz="1000">
                <a:latin typeface="Arial"/>
              </a:rPr>
              <a:t>You've completed Class 06.</a:t>
            </a:r>
          </a:p>
          <a:p>
            <a:r>
              <a:rPr sz="1000">
                <a:latin typeface="Arial"/>
              </a:rPr>
              <a:t>See you next time."</a:t>
            </a:r>
          </a:p>
          <a:p/>
          <a:p>
            <a:r>
              <a:rPr sz="1000">
                <a:latin typeface="Arial"/>
              </a:rPr>
              <a:t>Rappeler : Class 07</a:t>
            </a:r>
          </a:p>
          <a:p/>
          <a:p>
            <a:r>
              <a:rPr sz="1000">
                <a:latin typeface="Arial"/>
              </a:rPr>
              <a:t>TERMINER sur une note positive.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011680"/>
            <a:ext cx="804672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4800" b="1" i="0">
                <a:solidFill>
                  <a:srgbClr val="3D1F5C"/>
                </a:solidFill>
                <a:latin typeface="Arial"/>
              </a:rPr>
              <a:t>MY LIFE EXPERIENCES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0"/>
            <a:ext cx="804672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Ingrid - English - Class 06</a:t>
            </a:r>
          </a:p>
          <a:p>
            <a:pPr algn="ctr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Profesor: Jean Thomas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Welcome!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OVERVIEW — Today's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08760"/>
            <a:ext cx="8229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6B35"/>
                </a:solidFill>
                <a:latin typeface="Arial"/>
              </a:rPr>
              <a:t>01.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508760"/>
            <a:ext cx="71323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Understand Present Perfect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21992"/>
            <a:ext cx="8229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6B35"/>
                </a:solidFill>
                <a:latin typeface="Arial"/>
              </a:rPr>
              <a:t>02.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221992"/>
            <a:ext cx="71323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Use have/has + past participle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935224"/>
            <a:ext cx="8229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6B35"/>
                </a:solidFill>
                <a:latin typeface="Arial"/>
              </a:rPr>
              <a:t>03.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935224"/>
            <a:ext cx="71323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Talk about life experiences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648456"/>
            <a:ext cx="8229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6B35"/>
                </a:solidFill>
                <a:latin typeface="Arial"/>
              </a:rPr>
              <a:t>04.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648456"/>
            <a:ext cx="71323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Use ever, never, already, yet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361688"/>
            <a:ext cx="8229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6B35"/>
                </a:solidFill>
                <a:latin typeface="Arial"/>
              </a:rPr>
              <a:t>05.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4361688"/>
            <a:ext cx="71323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Ask Have you ever...?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074920"/>
            <a:ext cx="8229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6B35"/>
                </a:solidFill>
                <a:latin typeface="Arial"/>
              </a:rPr>
              <a:t>06.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5074920"/>
            <a:ext cx="71323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Distinguish PP and Past Simple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GOAL: Speak with confidence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SPEAKING — Answer orally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7680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-  Have you ever visited another country?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450591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450591"/>
            <a:ext cx="7680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-  Have you ever tried Mexican food?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346703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346703"/>
            <a:ext cx="7680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-  Have you ever learned another language?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242816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242816"/>
            <a:ext cx="7680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-  Have you ever worked in another city?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138927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5138927"/>
            <a:ext cx="7680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-  Have you ever watched an English movie?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Speak without looking at your notes.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VOCABULARY — Past Participles (1/3)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08760"/>
            <a:ext cx="8046720" cy="13258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81912"/>
            <a:ext cx="3657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go -&gt; gone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1581912"/>
            <a:ext cx="2743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9B9B"/>
                </a:solidFill>
                <a:latin typeface="Arial"/>
              </a:rPr>
              <a:t>— ido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0" y="1581912"/>
            <a:ext cx="1554480" cy="36576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0" y="1581912"/>
            <a:ext cx="1554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Arial"/>
              </a:rPr>
              <a:t>ESSENTIAL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1965960"/>
            <a:ext cx="7589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66666"/>
                </a:solidFill>
                <a:latin typeface="Arial"/>
              </a:rPr>
              <a:t>+ have gone to  + has gone abroad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258568"/>
            <a:ext cx="7589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000000"/>
                </a:solidFill>
                <a:latin typeface="Arial"/>
              </a:rPr>
              <a:t>  "I have gone to Mexico twice."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514600"/>
            <a:ext cx="75895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62828"/>
                </a:solidFill>
                <a:latin typeface="Arial"/>
              </a:rPr>
              <a:t>  NOT 'have gone to Mexico in 2020' (use Past Simple)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926080"/>
            <a:ext cx="8046720" cy="13258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999232"/>
            <a:ext cx="3657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eat -&gt; eaten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999232"/>
            <a:ext cx="2743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9B9B"/>
                </a:solidFill>
                <a:latin typeface="Arial"/>
              </a:rPr>
              <a:t>— comido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0" y="2999232"/>
            <a:ext cx="1554480" cy="36576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0" y="2999232"/>
            <a:ext cx="1554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Arial"/>
              </a:rPr>
              <a:t>ESSENTIAL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59" y="3383280"/>
            <a:ext cx="7589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66666"/>
                </a:solidFill>
                <a:latin typeface="Arial"/>
              </a:rPr>
              <a:t>+ have eaten sushi  + has eaten there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59" y="3675888"/>
            <a:ext cx="7589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000000"/>
                </a:solidFill>
                <a:latin typeface="Arial"/>
              </a:rPr>
              <a:t>  "I have never eaten sushi."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59" y="3931920"/>
            <a:ext cx="75895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62828"/>
                </a:solidFill>
                <a:latin typeface="Arial"/>
              </a:rPr>
              <a:t>  NOT 'have eaten sushi yesterday'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343400"/>
            <a:ext cx="8046720" cy="13258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416552"/>
            <a:ext cx="3657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see -&gt; seen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4416552"/>
            <a:ext cx="2743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9B9B"/>
                </a:solidFill>
                <a:latin typeface="Arial"/>
              </a:rPr>
              <a:t>— visto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0" y="4416552"/>
            <a:ext cx="1554480" cy="36576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0" y="4416552"/>
            <a:ext cx="1554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Arial"/>
              </a:rPr>
              <a:t>ESSENTIAL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59" y="4800600"/>
            <a:ext cx="7589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66666"/>
                </a:solidFill>
                <a:latin typeface="Arial"/>
              </a:rPr>
              <a:t>+ have seen a movie  + have seen that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59" y="5093208"/>
            <a:ext cx="7589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000000"/>
                </a:solidFill>
                <a:latin typeface="Arial"/>
              </a:rPr>
              <a:t>  "I have seen that movie three times."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59" y="5349240"/>
            <a:ext cx="75895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62828"/>
                </a:solidFill>
                <a:latin typeface="Arial"/>
              </a:rPr>
              <a:t>  NOT 'have seen it last week'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Read aloud. Practice collocations.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VOCABULARY — Past Participles (2/3)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08760"/>
            <a:ext cx="8046720" cy="13258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81912"/>
            <a:ext cx="3657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do -&gt; done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1581912"/>
            <a:ext cx="2743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9B9B"/>
                </a:solidFill>
                <a:latin typeface="Arial"/>
              </a:rPr>
              <a:t>— hecho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0" y="1581912"/>
            <a:ext cx="1554480" cy="36576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0" y="1581912"/>
            <a:ext cx="1554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Arial"/>
              </a:rPr>
              <a:t>ESSENTIAL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1965960"/>
            <a:ext cx="7589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66666"/>
                </a:solidFill>
                <a:latin typeface="Arial"/>
              </a:rPr>
              <a:t>+ have done homework  + have done that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258568"/>
            <a:ext cx="7589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000000"/>
                </a:solidFill>
                <a:latin typeface="Arial"/>
              </a:rPr>
              <a:t>  "I have already done my homework."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514600"/>
            <a:ext cx="75895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62828"/>
                </a:solidFill>
                <a:latin typeface="Arial"/>
              </a:rPr>
              <a:t>  NOT 'have done it yesterday'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926080"/>
            <a:ext cx="8046720" cy="13258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999232"/>
            <a:ext cx="3657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visit -&gt; visited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999232"/>
            <a:ext cx="2743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9B9B"/>
                </a:solidFill>
                <a:latin typeface="Arial"/>
              </a:rPr>
              <a:t>— visitado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0" y="2999232"/>
            <a:ext cx="1554480" cy="36576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0" y="2999232"/>
            <a:ext cx="1554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Arial"/>
              </a:rPr>
              <a:t>ESSENTIAL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59" y="3383280"/>
            <a:ext cx="7589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66666"/>
                </a:solidFill>
                <a:latin typeface="Arial"/>
              </a:rPr>
              <a:t>+ have visited Paris  + has visited family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59" y="3675888"/>
            <a:ext cx="7589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000000"/>
                </a:solidFill>
                <a:latin typeface="Arial"/>
              </a:rPr>
              <a:t>  "I have visited Paris twice."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59" y="3931920"/>
            <a:ext cx="75895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62828"/>
                </a:solidFill>
                <a:latin typeface="Arial"/>
              </a:rPr>
              <a:t>  NOT 'have visited in 2022'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343400"/>
            <a:ext cx="8046720" cy="13258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416552"/>
            <a:ext cx="3657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work -&gt; worked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4416552"/>
            <a:ext cx="2743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9B9B"/>
                </a:solidFill>
                <a:latin typeface="Arial"/>
              </a:rPr>
              <a:t>— trabajado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0" y="4416552"/>
            <a:ext cx="1554480" cy="36576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0" y="4416552"/>
            <a:ext cx="1554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Arial"/>
              </a:rPr>
              <a:t>ESSENTIAL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59" y="4800600"/>
            <a:ext cx="7589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66666"/>
                </a:solidFill>
                <a:latin typeface="Arial"/>
              </a:rPr>
              <a:t>+ have worked there  + has worked abroad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59" y="5093208"/>
            <a:ext cx="7589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000000"/>
                </a:solidFill>
                <a:latin typeface="Arial"/>
              </a:rPr>
              <a:t>  "I have worked in three countries."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59" y="5349240"/>
            <a:ext cx="75895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62828"/>
                </a:solidFill>
                <a:latin typeface="Arial"/>
              </a:rPr>
              <a:t>  NOT 'have worked there last year'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Read aloud. Practice collocations.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VOCABULARY — Past Participles (3/3)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08760"/>
            <a:ext cx="8046720" cy="13258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81912"/>
            <a:ext cx="3657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try -&gt; tried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1581912"/>
            <a:ext cx="2743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9B9B"/>
                </a:solidFill>
                <a:latin typeface="Arial"/>
              </a:rPr>
              <a:t>— probado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0" y="1581912"/>
            <a:ext cx="1554480" cy="365760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0" y="1581912"/>
            <a:ext cx="1554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Arial"/>
              </a:rPr>
              <a:t>IMPORTANT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1965960"/>
            <a:ext cx="7589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66666"/>
                </a:solidFill>
                <a:latin typeface="Arial"/>
              </a:rPr>
              <a:t>+ have tried sushi  + have never tried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258568"/>
            <a:ext cx="7589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000000"/>
                </a:solidFill>
                <a:latin typeface="Arial"/>
              </a:rPr>
              <a:t>  "I have tried many new foods."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514600"/>
            <a:ext cx="75895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62828"/>
                </a:solidFill>
                <a:latin typeface="Arial"/>
              </a:rPr>
              <a:t>  NOT 'have tried it yesterday'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926080"/>
            <a:ext cx="8046720" cy="13258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999232"/>
            <a:ext cx="3657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travel -&gt; travelled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999232"/>
            <a:ext cx="2743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9B9B"/>
                </a:solidFill>
                <a:latin typeface="Arial"/>
              </a:rPr>
              <a:t>— viajado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0" y="2999232"/>
            <a:ext cx="1554480" cy="365760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0" y="2999232"/>
            <a:ext cx="1554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Arial"/>
              </a:rPr>
              <a:t>IMPORTANT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59" y="3383280"/>
            <a:ext cx="7589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66666"/>
                </a:solidFill>
                <a:latin typeface="Arial"/>
              </a:rPr>
              <a:t>+ have travelled abroad  + have never travelled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59" y="3675888"/>
            <a:ext cx="7589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000000"/>
                </a:solidFill>
                <a:latin typeface="Arial"/>
              </a:rPr>
              <a:t>  "She has travelled to many places."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59" y="3931920"/>
            <a:ext cx="75895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62828"/>
                </a:solidFill>
                <a:latin typeface="Arial"/>
              </a:rPr>
              <a:t>  NOT 'has travelled in 2019'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Read aloud. Practice collocations.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⚠️  COMMON MISTAKES — Avoid these!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08760"/>
            <a:ext cx="8046720" cy="100583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7680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C62828"/>
                </a:solidFill>
                <a:latin typeface="Arial"/>
              </a:rPr>
              <a:t>❌  I have visited Mexico in 2020.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92808"/>
            <a:ext cx="7680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2E7D32"/>
                </a:solidFill>
                <a:latin typeface="Arial"/>
              </a:rPr>
              <a:t>✓   I visited Mexico in 2020.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31136"/>
            <a:ext cx="76809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666666"/>
                </a:solidFill>
                <a:latin typeface="Arial"/>
              </a:rPr>
              <a:t>      Tiempo terminado (2020) → Past Simple.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606040"/>
            <a:ext cx="8046720" cy="100583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651760"/>
            <a:ext cx="7680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C62828"/>
                </a:solidFill>
                <a:latin typeface="Arial"/>
              </a:rPr>
              <a:t>❌  I have went to Paris.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990088"/>
            <a:ext cx="7680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2E7D32"/>
                </a:solidFill>
                <a:latin typeface="Arial"/>
              </a:rPr>
              <a:t>✓   I have gone to Paris.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328416"/>
            <a:ext cx="76809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666666"/>
                </a:solidFill>
                <a:latin typeface="Arial"/>
              </a:rPr>
              <a:t>      El participio de 'go' es 'gone', no 'went'.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703320"/>
            <a:ext cx="8046720" cy="100583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749039"/>
            <a:ext cx="7680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C62828"/>
                </a:solidFill>
                <a:latin typeface="Arial"/>
              </a:rPr>
              <a:t>❌  I haven't never been there.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087368"/>
            <a:ext cx="7680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2E7D32"/>
                </a:solidFill>
                <a:latin typeface="Arial"/>
              </a:rPr>
              <a:t>✓   I have never been there.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425696"/>
            <a:ext cx="76809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666666"/>
                </a:solidFill>
                <a:latin typeface="Arial"/>
              </a:rPr>
              <a:t>      No se usa doble negación en inglés.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800600"/>
            <a:ext cx="8046720" cy="100583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846320"/>
            <a:ext cx="7680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C62828"/>
                </a:solidFill>
                <a:latin typeface="Arial"/>
              </a:rPr>
              <a:t>❌  I haven't finished already.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184648"/>
            <a:ext cx="7680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2E7D32"/>
                </a:solidFill>
                <a:latin typeface="Arial"/>
              </a:rPr>
              <a:t>✓   I haven't finished yet.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522976"/>
            <a:ext cx="76809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666666"/>
                </a:solidFill>
                <a:latin typeface="Arial"/>
              </a:rPr>
              <a:t>      'Yet' en negaciones/preguntas, 'already' en afirmaciones.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Repeat after me. Don't make these mistakes!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EXPRESSIONS &amp; YOUR TURN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08760"/>
            <a:ext cx="8046720" cy="2286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81912"/>
            <a:ext cx="7680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6B35"/>
                </a:solidFill>
                <a:latin typeface="Arial"/>
              </a:rPr>
              <a:t>EXPRESSIONS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1965960"/>
            <a:ext cx="7589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0000"/>
                </a:solidFill>
                <a:latin typeface="Arial"/>
              </a:rPr>
              <a:t>▸  Have you ever...?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313432"/>
            <a:ext cx="7589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0000"/>
                </a:solidFill>
                <a:latin typeface="Arial"/>
              </a:rPr>
              <a:t>▸  I have never...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660903"/>
            <a:ext cx="7589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0000"/>
                </a:solidFill>
                <a:latin typeface="Arial"/>
              </a:rPr>
              <a:t>▸  I have already...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3008375"/>
            <a:ext cx="7589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0000"/>
                </a:solidFill>
                <a:latin typeface="Arial"/>
              </a:rPr>
              <a:t>▸  I haven't finished yet.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355847"/>
            <a:ext cx="7589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0000"/>
                </a:solidFill>
                <a:latin typeface="Arial"/>
              </a:rPr>
              <a:t>▸  I've been to Mexico twice.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931920"/>
            <a:ext cx="8046720" cy="1828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005072"/>
            <a:ext cx="7680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6B35"/>
                </a:solidFill>
                <a:latin typeface="Arial"/>
              </a:rPr>
              <a:t>🎯  YOUR TURN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4389120"/>
            <a:ext cx="758952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000000"/>
                </a:solidFill>
                <a:latin typeface="Arial"/>
              </a:rPr>
              <a:t>1.  I have visited    -&gt; ________________________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" y="4709159"/>
            <a:ext cx="758952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000000"/>
                </a:solidFill>
                <a:latin typeface="Arial"/>
              </a:rPr>
              <a:t>2.  I have never      -&gt; ________________________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" y="5029199"/>
            <a:ext cx="758952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000000"/>
                </a:solidFill>
                <a:latin typeface="Arial"/>
              </a:rPr>
              <a:t>3.  I have already    -&gt; ________________________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" y="5349239"/>
            <a:ext cx="758952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000000"/>
                </a:solidFill>
                <a:latin typeface="Arial"/>
              </a:rPr>
              <a:t>4.  I haven't ____ yet.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59" y="5669279"/>
            <a:ext cx="758952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000000"/>
                </a:solidFill>
                <a:latin typeface="Arial"/>
              </a:rPr>
              <a:t>5.  Have you ever ____?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Write your own sentences.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GRAMMAR — Present Perfect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8046720" cy="502920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7680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Arial"/>
              </a:rPr>
              <a:t>FORMULA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86000"/>
            <a:ext cx="8046720" cy="34747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423160"/>
            <a:ext cx="749808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SUBJECT + have/has + PAST PARTICIPLE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have/has + past participle.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GRAMMAR — Present Perfect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8046720" cy="502920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7680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Arial"/>
              </a:rPr>
              <a:t>EXAMPLES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86000"/>
            <a:ext cx="8046720" cy="34747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423160"/>
            <a:ext cx="749808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I have visited Mexico.</a:t>
            </a:r>
          </a:p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She has visited Mexico.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have/has + past participle.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GRAMMAR — Present Perfect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8046720" cy="502920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7680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Arial"/>
              </a:rPr>
              <a:t>USE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86000"/>
            <a:ext cx="8046720" cy="34747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423160"/>
            <a:ext cx="749808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Life experiences</a:t>
            </a:r>
          </a:p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No specific time</a:t>
            </a:r>
          </a:p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Ever / never / already / yet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have/has + past participle.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GRAMMAR — Neg &amp; Questions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8046720" cy="502920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7680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Arial"/>
              </a:rPr>
              <a:t>NEGATIVE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86000"/>
            <a:ext cx="8046720" cy="34747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423160"/>
            <a:ext cx="749808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I have never visited Canada.</a:t>
            </a:r>
          </a:p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He has never tried sushi.</a:t>
            </a:r>
          </a:p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I haven't finished yet.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Ever in questions, never in negatives.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GRAMMAR — Neg &amp; Questions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8046720" cy="502920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7680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Arial"/>
              </a:rPr>
              <a:t>QUESTIONS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86000"/>
            <a:ext cx="8046720" cy="34747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423160"/>
            <a:ext cx="749808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Have you ever visited Mexico?</a:t>
            </a:r>
          </a:p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Yes, I have. / No, I haven't.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Ever in questions, never in negatives.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GRAMMAR — Neg &amp; Questions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8046720" cy="502920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7680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Arial"/>
              </a:rPr>
              <a:t>EVER/NEVER/YET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86000"/>
            <a:ext cx="8046720" cy="34747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423160"/>
            <a:ext cx="749808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ever = alguna vez</a:t>
            </a:r>
          </a:p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never = nunca</a:t>
            </a:r>
          </a:p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already = ya</a:t>
            </a:r>
          </a:p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yet = todavía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Ever in questions, never in negatives.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SOUND — /v/ vs /b/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91640"/>
            <a:ext cx="8046720" cy="59435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59" y="1691640"/>
            <a:ext cx="7498080" cy="5943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vote - boat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350008"/>
            <a:ext cx="8046720" cy="59435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350008"/>
            <a:ext cx="7498080" cy="5943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very - berry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008376"/>
            <a:ext cx="8046720" cy="59435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3008376"/>
            <a:ext cx="7498080" cy="5943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vest - best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666744"/>
            <a:ext cx="8046720" cy="59435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" y="3666744"/>
            <a:ext cx="7498080" cy="5943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van - ban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325112"/>
            <a:ext cx="8046720" cy="59435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59" y="4325112"/>
            <a:ext cx="7498080" cy="5943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vet - bet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/v/ = lip-teeth, /b/ = lips.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PRONUNCIATION — Practice /v/ vs /b/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7680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vote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7680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1">
                <a:solidFill>
                  <a:srgbClr val="009B9B"/>
                </a:solidFill>
                <a:latin typeface="Arial"/>
              </a:rPr>
              <a:t>/voʊt/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514600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560320"/>
            <a:ext cx="7680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boat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26080"/>
            <a:ext cx="7680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1">
                <a:solidFill>
                  <a:srgbClr val="009B9B"/>
                </a:solidFill>
                <a:latin typeface="Arial"/>
              </a:rPr>
              <a:t>/boʊt/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429000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474720"/>
            <a:ext cx="7680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very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840480"/>
            <a:ext cx="7680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1">
                <a:solidFill>
                  <a:srgbClr val="009B9B"/>
                </a:solidFill>
                <a:latin typeface="Arial"/>
              </a:rPr>
              <a:t>/ˈveri/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343400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389120"/>
            <a:ext cx="7680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berry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754880"/>
            <a:ext cx="7680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1">
                <a:solidFill>
                  <a:srgbClr val="009B9B"/>
                </a:solidFill>
                <a:latin typeface="Arial"/>
              </a:rPr>
              <a:t>/ˈberi/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Record yourself and compare.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PRACTICE — Complete (1/2)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7680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1. I ___ visited Mexico. (have/has)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560320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560320"/>
            <a:ext cx="7680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2. She ___ never tried sushi.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474720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7680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3. ___ you ever eaten Japanese food?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389120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389120"/>
            <a:ext cx="7680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4. I haven't finished my homework ___.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Answer orally first.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PRACTICE — Complete (2/2)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7680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5. I have ___ finished the exercise.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560320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560320"/>
            <a:ext cx="7680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6. He ___ travelled to Canada.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474720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7680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7. I visited Mexico in 2022. (vs have visited)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389120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389120"/>
            <a:ext cx="7680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8. She tried sushi last week. (vs has tried)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Answer orally first.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SPEAKING — Conversation (1/2)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8046720" cy="1143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76809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Have you ever travelled alone?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74980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9B9B"/>
                </a:solidFill>
                <a:latin typeface="Arial"/>
              </a:rPr>
              <a:t>-&gt;  Yes, I have. / No, I haven't.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834639"/>
            <a:ext cx="8046720" cy="1143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926079"/>
            <a:ext cx="76809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Have you ever met a famous person?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428999"/>
            <a:ext cx="74980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9B9B"/>
                </a:solidFill>
                <a:latin typeface="Arial"/>
              </a:rPr>
              <a:t>-&gt;  Yes, I have. / No, I haven't.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114800"/>
            <a:ext cx="8046720" cy="1143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206240"/>
            <a:ext cx="76809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Have you ever tried a new food?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09160"/>
            <a:ext cx="74980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9B9B"/>
                </a:solidFill>
                <a:latin typeface="Arial"/>
              </a:rPr>
              <a:t>-&gt;  Yes, I have. / No, I haven't.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Speak naturally.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SPEAKING — Conversation (2/2)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8046720" cy="1143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76809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Have you ever learned another language?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74980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9B9B"/>
                </a:solidFill>
                <a:latin typeface="Arial"/>
              </a:rPr>
              <a:t>-&gt;  Yes, I have. / No, I haven't.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834639"/>
            <a:ext cx="8046720" cy="1143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926079"/>
            <a:ext cx="76809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Have you ever lived in another city?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428999"/>
            <a:ext cx="74980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9B9B"/>
                </a:solidFill>
                <a:latin typeface="Arial"/>
              </a:rPr>
              <a:t>-&gt;  Yes, I have. / No, I haven't.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114800"/>
            <a:ext cx="8046720" cy="1143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206240"/>
            <a:ext cx="76809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What is the most interesting thing you have ever done?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09160"/>
            <a:ext cx="74980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9B9B"/>
                </a:solidFill>
                <a:latin typeface="Arial"/>
              </a:rPr>
              <a:t>-&gt;  ____.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Speak naturally.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LISTENING — Life Experiences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08760"/>
            <a:ext cx="8046720" cy="4206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7680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6B35"/>
                </a:solidFill>
                <a:latin typeface="Arial"/>
              </a:rPr>
              <a:t>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2057400"/>
            <a:ext cx="749808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000000"/>
                </a:solidFill>
                <a:latin typeface="Arial"/>
              </a:rPr>
              <a:t>I have travelled to several places in my life. I have visited Mexico and Canada, and I have also travelled to the United States. I have tried many different foods, but I have never tried very spicy food. I have met interesting people and learned a lot from travelling. Last year, I visited a new city with a friend.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Listen carefully to the text.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LISTENING — Answer the questions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80467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7680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1. Which countries has the speaker visited?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404872"/>
            <a:ext cx="80467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404872"/>
            <a:ext cx="7680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2. Has the speaker travelled to the US?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209544"/>
            <a:ext cx="80467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209544"/>
            <a:ext cx="7680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3. What food has the speaker never tried?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014215"/>
            <a:ext cx="80467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014215"/>
            <a:ext cx="7680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4. What has the speaker learned?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818888"/>
            <a:ext cx="80467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818888"/>
            <a:ext cx="7680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5. When did the speaker visit a new city?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Answer in complete sentences.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23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SPEAKING CHALLENGE — My Life Experiences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600200"/>
            <a:ext cx="7315200" cy="685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600200"/>
            <a:ext cx="69494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5 Present Perfect sentences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377440"/>
            <a:ext cx="7315200" cy="685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377440"/>
            <a:ext cx="69494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ever/never (2 times)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154680"/>
            <a:ext cx="7315200" cy="685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154680"/>
            <a:ext cx="69494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1 already or yet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931920"/>
            <a:ext cx="7315200" cy="685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931920"/>
            <a:ext cx="69494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1 Past Simple with finished time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709159"/>
            <a:ext cx="7315200" cy="685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709159"/>
            <a:ext cx="69494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60-90 seconds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Speak 1-2 minutes. No memorization.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WRITING — Requirements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08760"/>
            <a:ext cx="3931920" cy="10058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3657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F6B35"/>
                </a:solidFill>
                <a:latin typeface="Arial"/>
              </a:rPr>
              <a:t>100-120 WORDS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3657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0000"/>
                </a:solidFill>
                <a:latin typeface="Arial"/>
              </a:rPr>
              <a:t>TIME: 25 min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1508760"/>
            <a:ext cx="3931920" cy="100584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0" y="1554480"/>
            <a:ext cx="3657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6B35"/>
                </a:solidFill>
                <a:latin typeface="Arial"/>
              </a:rPr>
              <a:t>FOCUS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1920240"/>
            <a:ext cx="3657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 i="0">
                <a:solidFill>
                  <a:srgbClr val="FFFFFF"/>
                </a:solidFill>
                <a:latin typeface="Arial"/>
              </a:rPr>
              <a:t>Present Perfect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697480"/>
            <a:ext cx="8046720" cy="3063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743200"/>
            <a:ext cx="7680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6B35"/>
                </a:solidFill>
                <a:latin typeface="Arial"/>
              </a:rPr>
              <a:t>REQUIREMENTS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3200400"/>
            <a:ext cx="7589520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- 5 PP sentences</a:t>
            </a:r>
          </a:p>
          <a:p>
            <a:pPr algn="l">
              <a:lnSpc>
                <a:spcPct val="13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- ever/never (2 times)</a:t>
            </a:r>
          </a:p>
          <a:p>
            <a:pPr algn="l">
              <a:lnSpc>
                <a:spcPct val="13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- 1 already/yet</a:t>
            </a:r>
          </a:p>
          <a:p>
            <a:pPr algn="l">
              <a:lnSpc>
                <a:spcPct val="13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- 1 Past Simple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Follow the requirements.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WRITING — Template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8046720" cy="4343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45920"/>
            <a:ext cx="7406640" cy="397763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MY LIFE EXPERIENCES   —   By: ____________</a:t>
            </a:r>
          </a:p>
          <a:p>
            <a:pPr algn="l">
              <a:lnSpc>
                <a:spcPct val="120000"/>
              </a:lnSpc>
            </a:pPr>
          </a:p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I have ____________.</a:t>
            </a:r>
          </a:p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I have never ____________.</a:t>
            </a:r>
          </a:p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I have already ____________.</a:t>
            </a:r>
          </a:p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I haven't ____________ yet.</a:t>
            </a:r>
          </a:p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I have ____________ and ____________.</a:t>
            </a:r>
          </a:p>
          <a:p>
            <a:pPr algn="l">
              <a:lnSpc>
                <a:spcPct val="120000"/>
              </a:lnSpc>
            </a:pPr>
          </a:p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In ____________, I ____________.</a:t>
            </a:r>
          </a:p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It was ____________.</a:t>
            </a:r>
          </a:p>
          <a:p>
            <a:pPr algn="l">
              <a:lnSpc>
                <a:spcPct val="120000"/>
              </a:lnSpc>
            </a:pPr>
          </a:p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I have ____________.</a:t>
            </a:r>
          </a:p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It has been a ____________ experience.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Use this template to write.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CHECKPOINT — Rate your progress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80467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7680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I can form have/has + participle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404872"/>
            <a:ext cx="80467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404872"/>
            <a:ext cx="7680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I can ask Have you ever...?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209544"/>
            <a:ext cx="80467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209544"/>
            <a:ext cx="7680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I can use ever, never, already, yet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014215"/>
            <a:ext cx="80467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014215"/>
            <a:ext cx="7680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I can distinguish PP and Past Simple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818888"/>
            <a:ext cx="80467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818888"/>
            <a:ext cx="7680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I can talk about experiences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Be honest with yourself.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27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SELF-EVALUATION — Rate (1-4)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80467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4023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Vocabulary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80" y="1600200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1600200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0" y="1600200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79" y="1600200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404872"/>
            <a:ext cx="80467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404872"/>
            <a:ext cx="4023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Have/has + participle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2404872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2404872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0" y="2404872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79" y="2404872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209544"/>
            <a:ext cx="80467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209544"/>
            <a:ext cx="4023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Ever/never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80" y="3209544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3209544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0" y="3209544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3209544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014215"/>
            <a:ext cx="80467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014215"/>
            <a:ext cx="4023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PP vs PS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12080" y="4014215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0" y="4014215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0" y="4014215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5279" y="4014215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4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4818888"/>
            <a:ext cx="80467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4818888"/>
            <a:ext cx="4023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Fluency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12080" y="4818888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26480" y="4818888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0880" y="4818888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55279" y="4818888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4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Reflect on your learning.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RESOURCES — Keep learning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08760"/>
            <a:ext cx="8046720" cy="45720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76809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PODCASTS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2011680"/>
            <a:ext cx="75895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000000"/>
                </a:solidFill>
                <a:latin typeface="Arial"/>
              </a:rPr>
              <a:t>- Past vs Present Perfect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377440"/>
            <a:ext cx="75895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000000"/>
                </a:solidFill>
                <a:latin typeface="Arial"/>
              </a:rPr>
              <a:t>- All Ears English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834640"/>
            <a:ext cx="8046720" cy="45720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834640"/>
            <a:ext cx="76809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VIDEOS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337560"/>
            <a:ext cx="75895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000000"/>
                </a:solidFill>
                <a:latin typeface="Arial"/>
              </a:rPr>
              <a:t>- English with Lucy — Present Perfect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794760"/>
            <a:ext cx="8046720" cy="45720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794760"/>
            <a:ext cx="76809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APPS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4297680"/>
            <a:ext cx="75895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000000"/>
                </a:solidFill>
                <a:latin typeface="Arial"/>
              </a:rPr>
              <a:t>- Duolingo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" y="4663440"/>
            <a:ext cx="75895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000000"/>
                </a:solidFill>
                <a:latin typeface="Arial"/>
              </a:rPr>
              <a:t>- Quizlet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Practice every day.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29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HOMEWORK — Your tasks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8046720" cy="50292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7680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WRITING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2148840"/>
            <a:ext cx="75895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000000"/>
                </a:solidFill>
                <a:latin typeface="Arial"/>
              </a:rPr>
              <a:t>Write 8-10 sentences about experiences.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651760"/>
            <a:ext cx="8046720" cy="50292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651760"/>
            <a:ext cx="7680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SPEAKING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3200400"/>
            <a:ext cx="75895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000000"/>
                </a:solidFill>
                <a:latin typeface="Arial"/>
              </a:rPr>
              <a:t>Record yourself (60-90 sec).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703320"/>
            <a:ext cx="8046720" cy="50292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703320"/>
            <a:ext cx="7680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PRONUNCIATION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4251960"/>
            <a:ext cx="75895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000000"/>
                </a:solidFill>
                <a:latin typeface="Arial"/>
              </a:rPr>
              <a:t>Practice /v/ vs /b/.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754880"/>
            <a:ext cx="8046720" cy="50292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754880"/>
            <a:ext cx="7680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APP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" y="5303520"/>
            <a:ext cx="75895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000000"/>
                </a:solidFill>
                <a:latin typeface="Arial"/>
              </a:rPr>
              <a:t>Practice Present Perfect.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Deadline: ____________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30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1371600"/>
            <a:ext cx="6400800" cy="164592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371600"/>
            <a:ext cx="640080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5400" b="1" i="0">
                <a:solidFill>
                  <a:srgbClr val="FFFFFF"/>
                </a:solidFill>
                <a:latin typeface="Arial"/>
              </a:rPr>
              <a:t>GRACIAS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91840"/>
            <a:ext cx="80467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3600" b="1" i="0">
                <a:solidFill>
                  <a:srgbClr val="3D1F5C"/>
                </a:solidFill>
                <a:latin typeface="Arial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06240"/>
            <a:ext cx="80467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0" i="1">
                <a:solidFill>
                  <a:srgbClr val="000000"/>
                </a:solidFill>
                <a:latin typeface="Arial"/>
              </a:rPr>
              <a:t>You've completed this class!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5029200"/>
            <a:ext cx="6400800" cy="731520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5029200"/>
            <a:ext cx="6400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Arial"/>
              </a:rPr>
              <a:t>NEXT: CLASS 07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Congratulations!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