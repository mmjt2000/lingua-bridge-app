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COVER (Class 13)</a:t>
            </a:r>
          </a:p>
          <a:p/>
          <a:p>
            <a:r>
              <a:rPr sz="1000">
                <a:latin typeface="Arial"/>
              </a:rPr>
              <a:t>ROLE : Ouverture.</a:t>
            </a:r>
          </a:p>
          <a:p>
            <a:r>
              <a:rPr sz="1000">
                <a:latin typeface="Arial"/>
              </a:rPr>
              <a:t>DUREE : 2 min</a:t>
            </a:r>
          </a:p>
          <a:p/>
          <a:p>
            <a:r>
              <a:rPr sz="1000">
                <a:latin typeface="Arial"/>
              </a:rPr>
              <a:t>SCRIPT :</a:t>
            </a:r>
          </a:p>
          <a:p>
            <a:r>
              <a:rPr sz="1000">
                <a:latin typeface="Arial"/>
              </a:rPr>
              <a:t>"Hello Ingrid! Welcome to Class 13.</a:t>
            </a:r>
          </a:p>
          <a:p>
            <a:r>
              <a:rPr sz="1000">
                <a:latin typeface="Arial"/>
              </a:rPr>
              <a:t>Today: Second Conditional. Ready?"</a:t>
            </a:r>
          </a:p>
          <a:p/>
          <a:p>
            <a:r>
              <a:rPr sz="1000">
                <a:latin typeface="Arial"/>
              </a:rPr>
              <a:t>ACTIONS :</a:t>
            </a:r>
          </a:p>
          <a:p>
            <a:r>
              <a:rPr sz="1000">
                <a:latin typeface="Arial"/>
              </a:rPr>
              <a:t>- Verifier Teams</a:t>
            </a:r>
          </a:p>
          <a:p>
            <a:r>
              <a:rPr sz="1000">
                <a:latin typeface="Arial"/>
              </a:rPr>
              <a:t>- Small talk 30 sec</a:t>
            </a:r>
          </a:p>
          <a:p>
            <a:r>
              <a:rPr sz="1000">
                <a:latin typeface="Arial"/>
              </a:rPr>
              <a:t>- Annoncer 90 min</a:t>
            </a:r>
          </a:p>
          <a:p/>
          <a:p>
            <a:r>
              <a:rPr sz="1000">
                <a:latin typeface="Arial"/>
              </a:rPr>
              <a:t>TRANSITION : "Let's start with the objectives."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OVERVIEW</a:t>
            </a:r>
          </a:p>
          <a:p/>
          <a:p>
            <a:r>
              <a:rPr sz="1000">
                <a:latin typeface="Arial"/>
              </a:rPr>
              <a:t>ROLE : Annoncer objectifs.</a:t>
            </a:r>
          </a:p>
          <a:p>
            <a:r>
              <a:rPr sz="1000">
                <a:latin typeface="Arial"/>
              </a:rPr>
              <a:t>DUREE : 3 min</a:t>
            </a:r>
          </a:p>
          <a:p/>
          <a:p>
            <a:r>
              <a:rPr sz="1000">
                <a:latin typeface="Arial"/>
              </a:rPr>
              <a:t>Lire chaque objectif a voix haute.</a:t>
            </a:r>
          </a:p>
          <a:p>
            <a:r>
              <a:rPr sz="1000">
                <a:latin typeface="Arial"/>
              </a:rPr>
              <a:t>Ne pas expliquer.</a:t>
            </a:r>
          </a:p>
          <a:p/>
          <a:p>
            <a:r>
              <a:rPr sz="1000">
                <a:latin typeface="Arial"/>
              </a:rPr>
              <a:t>DIRE : "By the end of today, you will be able to do all of this."</a:t>
            </a:r>
          </a:p>
          <a:p/>
          <a:p>
            <a:r>
              <a:rPr sz="1000">
                <a:latin typeface="Arial"/>
              </a:rPr>
              <a:t>TRANSITION : "Let's start with a warm-up."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WARM-UP</a:t>
            </a:r>
          </a:p>
          <a:p/>
          <a:p>
            <a:r>
              <a:rPr sz="1000">
                <a:latin typeface="Arial"/>
              </a:rPr>
              <a:t>ROLE : Activer connaissances.</a:t>
            </a:r>
          </a:p>
          <a:p>
            <a:r>
              <a:rPr sz="1000">
                <a:latin typeface="Arial"/>
              </a:rPr>
              <a:t>DUREE : 10 min</a:t>
            </a:r>
          </a:p>
          <a:p/>
          <a:p>
            <a:r>
              <a:rPr sz="1000">
                <a:latin typeface="Arial"/>
              </a:rPr>
              <a:t>Ingrid repond ORALEMENT sans notes.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Max 2-3 corrections apres.</a:t>
            </a:r>
          </a:p>
          <a:p/>
          <a:p>
            <a:r>
              <a:rPr sz="1000">
                <a:latin typeface="Arial"/>
              </a:rPr>
              <a:t>TRANSITION : "Now let's look at new vocabulary."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VOCABULARY (1)</a:t>
            </a:r>
          </a:p>
          <a:p/>
          <a:p>
            <a:r>
              <a:rPr sz="1000">
                <a:latin typeface="Arial"/>
              </a:rPr>
              <a:t>ROLE : Introduire vocabulaire.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METHODE 3 ETAPES :</a:t>
            </a:r>
          </a:p>
          <a:p>
            <a:r>
              <a:rPr sz="1000">
                <a:latin typeface="Arial"/>
              </a:rPr>
              <a:t>1. Prof dit -&gt; Ingrid repete</a:t>
            </a:r>
          </a:p>
          <a:p>
            <a:r>
              <a:rPr sz="1000">
                <a:latin typeface="Arial"/>
              </a:rPr>
              <a:t>2. Prof traduit</a:t>
            </a:r>
          </a:p>
          <a:p>
            <a:r>
              <a:rPr sz="1000">
                <a:latin typeface="Arial"/>
              </a:rPr>
              <a:t>3. Ingrid fait une phrase</a:t>
            </a:r>
          </a:p>
          <a:p/>
          <a:p>
            <a:r>
              <a:rPr sz="1000">
                <a:latin typeface="Arial"/>
              </a:rPr>
              <a:t>NE PAS lire simplement.</a:t>
            </a:r>
          </a:p>
          <a:p>
            <a:r>
              <a:rPr sz="1000">
                <a:latin typeface="Arial"/>
              </a:rPr>
              <a:t>TOUJOURS prononcer + utiliser.</a:t>
            </a:r>
          </a:p>
          <a:p/>
          <a:p>
            <a:r>
              <a:rPr sz="1000">
                <a:latin typeface="Arial"/>
              </a:rPr>
              <a:t>TRANSITION : "Now let's look at common mistakes."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VOCABULARY (2)</a:t>
            </a:r>
          </a:p>
          <a:p/>
          <a:p>
            <a:r>
              <a:rPr sz="1000">
                <a:latin typeface="Arial"/>
              </a:rPr>
              <a:t>ROLE : Introduire vocabulaire.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METHODE 3 ETAPES :</a:t>
            </a:r>
          </a:p>
          <a:p>
            <a:r>
              <a:rPr sz="1000">
                <a:latin typeface="Arial"/>
              </a:rPr>
              <a:t>1. Prof dit -&gt; Ingrid repete</a:t>
            </a:r>
          </a:p>
          <a:p>
            <a:r>
              <a:rPr sz="1000">
                <a:latin typeface="Arial"/>
              </a:rPr>
              <a:t>2. Prof traduit</a:t>
            </a:r>
          </a:p>
          <a:p>
            <a:r>
              <a:rPr sz="1000">
                <a:latin typeface="Arial"/>
              </a:rPr>
              <a:t>3. Ingrid fait une phrase</a:t>
            </a:r>
          </a:p>
          <a:p/>
          <a:p>
            <a:r>
              <a:rPr sz="1000">
                <a:latin typeface="Arial"/>
              </a:rPr>
              <a:t>NE PAS lire simplement.</a:t>
            </a:r>
          </a:p>
          <a:p>
            <a:r>
              <a:rPr sz="1000">
                <a:latin typeface="Arial"/>
              </a:rPr>
              <a:t>TOUJOURS prononcer + utiliser.</a:t>
            </a:r>
          </a:p>
          <a:p/>
          <a:p>
            <a:r>
              <a:rPr sz="1000">
                <a:latin typeface="Arial"/>
              </a:rPr>
              <a:t>TRANSITION : "Now let's look at common mistakes."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COMMON MISTAKES (Trampas)</a:t>
            </a:r>
          </a:p>
          <a:p/>
          <a:p>
            <a:r>
              <a:rPr sz="1000">
                <a:latin typeface="Arial"/>
              </a:rPr>
              <a:t>ROLE : Erreurs frequentes hispanophones.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METHODE :</a:t>
            </a:r>
          </a:p>
          <a:p>
            <a:r>
              <a:rPr sz="1000">
                <a:latin typeface="Arial"/>
              </a:rPr>
              <a:t>1. Montrer l'erreur (X)</a:t>
            </a:r>
          </a:p>
          <a:p>
            <a:r>
              <a:rPr sz="1000">
                <a:latin typeface="Arial"/>
              </a:rPr>
              <a:t>2. Demander : "Esta correcto?"</a:t>
            </a:r>
          </a:p>
          <a:p>
            <a:r>
              <a:rPr sz="1000">
                <a:latin typeface="Arial"/>
              </a:rPr>
              <a:t>3. Ingrid corrige</a:t>
            </a:r>
          </a:p>
          <a:p>
            <a:r>
              <a:rPr sz="1000">
                <a:latin typeface="Arial"/>
              </a:rPr>
              <a:t>4. Montrer la correction (OK)</a:t>
            </a:r>
          </a:p>
          <a:p>
            <a:r>
              <a:rPr sz="1000">
                <a:latin typeface="Arial"/>
              </a:rPr>
              <a:t>5. Lire l'explication en espagnol</a:t>
            </a:r>
          </a:p>
          <a:p>
            <a:r>
              <a:rPr sz="1000">
                <a:latin typeface="Arial"/>
              </a:rPr>
              <a:t>6. Repetir 3x la forme correcte</a:t>
            </a:r>
          </a:p>
          <a:p/>
          <a:p>
            <a:r>
              <a:rPr sz="1000">
                <a:latin typeface="Arial"/>
              </a:rPr>
              <a:t>FRASES UTILES :</a:t>
            </a:r>
          </a:p>
          <a:p>
            <a:r>
              <a:rPr sz="1000">
                <a:latin typeface="Arial"/>
              </a:rPr>
              <a:t>- "Esta es una trampa muy comun."</a:t>
            </a:r>
          </a:p>
          <a:p>
            <a:r>
              <a:rPr sz="1000">
                <a:latin typeface="Arial"/>
              </a:rPr>
              <a:t>- "Cuidado con esta palabra."</a:t>
            </a:r>
          </a:p>
          <a:p>
            <a:r>
              <a:rPr sz="1000">
                <a:latin typeface="Arial"/>
              </a:rPr>
              <a:t>- "Repite conmigo 3 veces."</a:t>
            </a:r>
          </a:p>
          <a:p/>
          <a:p>
            <a:r>
              <a:rPr sz="1000">
                <a:latin typeface="Arial"/>
              </a:rPr>
              <a:t>NE PAS juger les erreurs.</a:t>
            </a:r>
          </a:p>
          <a:p>
            <a:r>
              <a:rPr sz="1000">
                <a:latin typeface="Arial"/>
              </a:rPr>
              <a:t>ENCOURAGER : "Es normal, todos lo hacemos."</a:t>
            </a:r>
          </a:p>
          <a:p/>
          <a:p>
            <a:r>
              <a:rPr sz="1000">
                <a:latin typeface="Arial"/>
              </a:rPr>
              <a:t>TRANSITION : "Ahora veamos expresiones completas."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EXPRESSIONS &amp; YOUR TURN</a:t>
            </a:r>
          </a:p>
          <a:p/>
          <a:p>
            <a:r>
              <a:rPr sz="1000">
                <a:latin typeface="Arial"/>
              </a:rPr>
              <a:t>ROLE : Blocs lexicaux + production.</a:t>
            </a:r>
          </a:p>
          <a:p>
            <a:r>
              <a:rPr sz="1000">
                <a:latin typeface="Arial"/>
              </a:rPr>
              <a:t>DUREE : 8 min</a:t>
            </a:r>
          </a:p>
          <a:p/>
          <a:p>
            <a:r>
              <a:rPr sz="1000">
                <a:latin typeface="Arial"/>
              </a:rPr>
              <a:t>PARTIE 1 - EXPRESSIONS (4 min) :</a:t>
            </a:r>
          </a:p>
          <a:p>
            <a:r>
              <a:rPr sz="1000">
                <a:latin typeface="Arial"/>
              </a:rPr>
              <a:t>1. Lire chaque expression</a:t>
            </a:r>
          </a:p>
          <a:p>
            <a:r>
              <a:rPr sz="1000">
                <a:latin typeface="Arial"/>
              </a:rPr>
              <a:t>2. Ingrid repete</a:t>
            </a:r>
          </a:p>
          <a:p>
            <a:r>
              <a:rPr sz="1000">
                <a:latin typeface="Arial"/>
              </a:rPr>
              <a:t>3. Demander : "When do you use this?"</a:t>
            </a:r>
          </a:p>
          <a:p/>
          <a:p>
            <a:r>
              <a:rPr sz="1000">
                <a:latin typeface="Arial"/>
              </a:rPr>
              <a:t>PARTIE 2 - YOUR TURN (4 min) :</a:t>
            </a:r>
          </a:p>
          <a:p>
            <a:r>
              <a:rPr sz="1000">
                <a:latin typeface="Arial"/>
              </a:rPr>
              <a:t>1. Lire la consigne</a:t>
            </a:r>
          </a:p>
          <a:p>
            <a:r>
              <a:rPr sz="1000">
                <a:latin typeface="Arial"/>
              </a:rPr>
              <a:t>2. Ingrid ecrit 1 phrase par mot</a:t>
            </a:r>
          </a:p>
          <a:p>
            <a:r>
              <a:rPr sz="1000">
                <a:latin typeface="Arial"/>
              </a:rPr>
              <a:t>3. Verifier oralement</a:t>
            </a:r>
          </a:p>
          <a:p/>
          <a:p>
            <a:r>
              <a:rPr sz="1000">
                <a:latin typeface="Arial"/>
              </a:rPr>
              <a:t>NE PAS ecrire a sa place.</a:t>
            </a:r>
          </a:p>
          <a:p>
            <a:r>
              <a:rPr sz="1000">
                <a:latin typeface="Arial"/>
              </a:rPr>
              <a:t>CORRIGER 2-3 erreurs max.</a:t>
            </a:r>
          </a:p>
          <a:p/>
          <a:p>
            <a:r>
              <a:rPr sz="1000">
                <a:latin typeface="Arial"/>
              </a:rPr>
              <a:t>TRANSITION : "Now let's look at the grammar."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if + past, would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Primera = real. Segunda = imaginaria.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if + past, would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Primera = real. Segunda = imaginaria.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if + past, would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Primera = real. Segunda = imaginaria.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if + past, would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Primera = real. Segunda = imaginaria.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if + past, would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Primera = real. Segunda = imaginaria.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if + past, would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Primera = real. Segunda = imaginaria.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if + past, would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Primera = real. Segunda = imaginaria.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GRAMMAR 1.1 : if + past, would</a:t>
            </a:r>
          </a:p>
          <a:p/>
          <a:p>
            <a:r>
              <a:rPr sz="1000">
                <a:latin typeface="Arial"/>
              </a:rPr>
              <a:t>ROLE : Presenter structure.</a:t>
            </a:r>
          </a:p>
          <a:p>
            <a:r>
              <a:rPr sz="1000">
                <a:latin typeface="Arial"/>
              </a:rPr>
              <a:t>DUREE : 10-15 min</a:t>
            </a:r>
          </a:p>
          <a:p/>
          <a:p>
            <a:r>
              <a:rPr sz="1000">
                <a:latin typeface="Arial"/>
              </a:rPr>
              <a:t>APPROCHE DECOUVERTE :</a:t>
            </a:r>
          </a:p>
          <a:p>
            <a:r>
              <a:rPr sz="1000">
                <a:latin typeface="Arial"/>
              </a:rPr>
              <a:t>1. Montrer exemples</a:t>
            </a:r>
          </a:p>
          <a:p>
            <a:r>
              <a:rPr sz="1000">
                <a:latin typeface="Arial"/>
              </a:rPr>
              <a:t>2. Demander : "What pattern?"</a:t>
            </a:r>
          </a:p>
          <a:p>
            <a:r>
              <a:rPr sz="1000">
                <a:latin typeface="Arial"/>
              </a:rPr>
              <a:t>3. Laisser deviner</a:t>
            </a:r>
          </a:p>
          <a:p>
            <a:r>
              <a:rPr sz="1000">
                <a:latin typeface="Arial"/>
              </a:rPr>
              <a:t>4. Confirmer</a:t>
            </a:r>
          </a:p>
          <a:p>
            <a:r>
              <a:rPr sz="1000">
                <a:latin typeface="Arial"/>
              </a:rPr>
              <a:t>5. Exemples personnels</a:t>
            </a:r>
          </a:p>
          <a:p/>
          <a:p>
            <a:r>
              <a:rPr sz="1000">
                <a:latin typeface="Arial"/>
              </a:rPr>
              <a:t>POINT : Primera = real. Segunda = imaginaria.</a:t>
            </a:r>
          </a:p>
          <a:p/>
          <a:p>
            <a:r>
              <a:rPr sz="1000">
                <a:latin typeface="Arial"/>
              </a:rPr>
              <a:t>MAX 2-3 corrections.</a:t>
            </a:r>
          </a:p>
          <a:p/>
          <a:p>
            <a:r>
              <a:rPr sz="1000">
                <a:latin typeface="Arial"/>
              </a:rPr>
              <a:t>TRANSITION : "Now let's practice."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SOUND : /aʊ/ vs /oʊ/</a:t>
            </a:r>
          </a:p>
          <a:p/>
          <a:p>
            <a:r>
              <a:rPr sz="1000">
                <a:latin typeface="Arial"/>
              </a:rPr>
              <a:t>ROLE : Focus phonetique.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METHODE :</a:t>
            </a:r>
          </a:p>
          <a:p>
            <a:r>
              <a:rPr sz="1000">
                <a:latin typeface="Arial"/>
              </a:rPr>
              <a:t>1. ECOUTER : prof prononce</a:t>
            </a:r>
          </a:p>
          <a:p>
            <a:r>
              <a:rPr sz="1000">
                <a:latin typeface="Arial"/>
              </a:rPr>
              <a:t>2. DISTINGUER : Ingrid identifie</a:t>
            </a:r>
          </a:p>
          <a:p>
            <a:r>
              <a:rPr sz="1000">
                <a:latin typeface="Arial"/>
              </a:rPr>
              <a:t>3. REPETER</a:t>
            </a:r>
          </a:p>
          <a:p/>
          <a:p>
            <a:r>
              <a:rPr sz="1000">
                <a:latin typeface="Arial"/>
              </a:rPr>
              <a:t>NE PAS enseigner theorie.</a:t>
            </a:r>
          </a:p>
          <a:p/>
          <a:p>
            <a:r>
              <a:rPr sz="1000">
                <a:latin typeface="Arial"/>
              </a:rPr>
              <a:t>TRANSITION : "Now let's practice in words."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PRONUNCIATION</a:t>
            </a:r>
          </a:p>
          <a:p/>
          <a:p>
            <a:r>
              <a:rPr sz="1000">
                <a:latin typeface="Arial"/>
              </a:rPr>
              <a:t>ROLE : Pratique active.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Chaque mot repete 5 fois.</a:t>
            </a:r>
          </a:p>
          <a:p>
            <a:r>
              <a:rPr sz="1000">
                <a:latin typeface="Arial"/>
              </a:rPr>
              <a:t>Prof corrige en temps reel.</a:t>
            </a:r>
          </a:p>
          <a:p>
            <a:r>
              <a:rPr sz="1000">
                <a:latin typeface="Arial"/>
              </a:rPr>
              <a:t>Enregistrer si possible.</a:t>
            </a:r>
          </a:p>
          <a:p/>
          <a:p>
            <a:r>
              <a:rPr sz="1000">
                <a:latin typeface="Arial"/>
              </a:rPr>
              <a:t>TRANSITION : "Now let's practice with exercises."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WARM-UP</a:t>
            </a:r>
          </a:p>
          <a:p/>
          <a:p>
            <a:r>
              <a:rPr sz="1000">
                <a:latin typeface="Arial"/>
              </a:rPr>
              <a:t>ROLE : Activer connaissances.</a:t>
            </a:r>
          </a:p>
          <a:p>
            <a:r>
              <a:rPr sz="1000">
                <a:latin typeface="Arial"/>
              </a:rPr>
              <a:t>DUREE : 10 min</a:t>
            </a:r>
          </a:p>
          <a:p/>
          <a:p>
            <a:r>
              <a:rPr sz="1000">
                <a:latin typeface="Arial"/>
              </a:rPr>
              <a:t>Ingrid repond ORALEMENT sans notes.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Max 2-3 corrections apres.</a:t>
            </a:r>
          </a:p>
          <a:p/>
          <a:p>
            <a:r>
              <a:rPr sz="1000">
                <a:latin typeface="Arial"/>
              </a:rPr>
              <a:t>TRANSITION : "Now let's look at new vocabulary."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WARM-UP</a:t>
            </a:r>
          </a:p>
          <a:p/>
          <a:p>
            <a:r>
              <a:rPr sz="1000">
                <a:latin typeface="Arial"/>
              </a:rPr>
              <a:t>ROLE : Activer connaissances.</a:t>
            </a:r>
          </a:p>
          <a:p>
            <a:r>
              <a:rPr sz="1000">
                <a:latin typeface="Arial"/>
              </a:rPr>
              <a:t>DUREE : 10 min</a:t>
            </a:r>
          </a:p>
          <a:p/>
          <a:p>
            <a:r>
              <a:rPr sz="1000">
                <a:latin typeface="Arial"/>
              </a:rPr>
              <a:t>Ingrid repond ORALEMENT sans notes.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Max 2-3 corrections apres.</a:t>
            </a:r>
          </a:p>
          <a:p/>
          <a:p>
            <a:r>
              <a:rPr sz="1000">
                <a:latin typeface="Arial"/>
              </a:rPr>
              <a:t>TRANSITION : "Now let's look at new vocabulary."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WARM-UP</a:t>
            </a:r>
          </a:p>
          <a:p/>
          <a:p>
            <a:r>
              <a:rPr sz="1000">
                <a:latin typeface="Arial"/>
              </a:rPr>
              <a:t>ROLE : Activer connaissances.</a:t>
            </a:r>
          </a:p>
          <a:p>
            <a:r>
              <a:rPr sz="1000">
                <a:latin typeface="Arial"/>
              </a:rPr>
              <a:t>DUREE : 10 min</a:t>
            </a:r>
          </a:p>
          <a:p/>
          <a:p>
            <a:r>
              <a:rPr sz="1000">
                <a:latin typeface="Arial"/>
              </a:rPr>
              <a:t>Ingrid repond ORALEMENT sans notes.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Max 2-3 corrections apres.</a:t>
            </a:r>
          </a:p>
          <a:p/>
          <a:p>
            <a:r>
              <a:rPr sz="1000">
                <a:latin typeface="Arial"/>
              </a:rPr>
              <a:t>TRANSITION : "Now let's look at new vocabulary."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CONVERSATION (1)</a:t>
            </a:r>
          </a:p>
          <a:p/>
          <a:p>
            <a:r>
              <a:rPr sz="1000">
                <a:latin typeface="Arial"/>
              </a:rPr>
              <a:t>ROLE : Pratique orale.</a:t>
            </a:r>
          </a:p>
          <a:p>
            <a:r>
              <a:rPr sz="1000">
                <a:latin typeface="Arial"/>
              </a:rPr>
              <a:t>DUREE : 10-12 min</a:t>
            </a:r>
          </a:p>
          <a:p/>
          <a:p>
            <a:r>
              <a:rPr sz="1000">
                <a:latin typeface="Arial"/>
              </a:rPr>
              <a:t>Prof pose UNE question.</a:t>
            </a:r>
          </a:p>
          <a:p>
            <a:r>
              <a:rPr sz="1000">
                <a:latin typeface="Arial"/>
              </a:rPr>
              <a:t>Ingrid repond librement.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Corriger 2-3 erreurs APRES.</a:t>
            </a:r>
          </a:p>
          <a:p/>
          <a:p>
            <a:r>
              <a:rPr sz="1000">
                <a:latin typeface="Arial"/>
              </a:rPr>
              <a:t>FOLLOW-UP : "Really? Tell me more."</a:t>
            </a:r>
          </a:p>
          <a:p/>
          <a:p>
            <a:r>
              <a:rPr sz="1000">
                <a:latin typeface="Arial"/>
              </a:rPr>
              <a:t>TRANSITION : "Now let's listen to a short text."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CONVERSATION (2)</a:t>
            </a:r>
          </a:p>
          <a:p/>
          <a:p>
            <a:r>
              <a:rPr sz="1000">
                <a:latin typeface="Arial"/>
              </a:rPr>
              <a:t>ROLE : Pratique orale.</a:t>
            </a:r>
          </a:p>
          <a:p>
            <a:r>
              <a:rPr sz="1000">
                <a:latin typeface="Arial"/>
              </a:rPr>
              <a:t>DUREE : 10-12 min</a:t>
            </a:r>
          </a:p>
          <a:p/>
          <a:p>
            <a:r>
              <a:rPr sz="1000">
                <a:latin typeface="Arial"/>
              </a:rPr>
              <a:t>Prof pose UNE question.</a:t>
            </a:r>
          </a:p>
          <a:p>
            <a:r>
              <a:rPr sz="1000">
                <a:latin typeface="Arial"/>
              </a:rPr>
              <a:t>Ingrid repond librement.</a:t>
            </a:r>
          </a:p>
          <a:p>
            <a:r>
              <a:rPr sz="1000">
                <a:latin typeface="Arial"/>
              </a:rPr>
              <a:t>NE PAS interrompre.</a:t>
            </a:r>
          </a:p>
          <a:p>
            <a:r>
              <a:rPr sz="1000">
                <a:latin typeface="Arial"/>
              </a:rPr>
              <a:t>Corriger 2-3 erreurs APRES.</a:t>
            </a:r>
          </a:p>
          <a:p/>
          <a:p>
            <a:r>
              <a:rPr sz="1000">
                <a:latin typeface="Arial"/>
              </a:rPr>
              <a:t>FOLLOW-UP : "Really? Tell me more."</a:t>
            </a:r>
          </a:p>
          <a:p/>
          <a:p>
            <a:r>
              <a:rPr sz="1000">
                <a:latin typeface="Arial"/>
              </a:rPr>
              <a:t>TRANSITION : "Now let's listen to a short text."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LISTENING TEXT : Text</a:t>
            </a:r>
          </a:p>
          <a:p/>
          <a:p>
            <a:r>
              <a:rPr sz="1000">
                <a:latin typeface="Arial"/>
              </a:rPr>
              <a:t>ROLE : Comprehension.</a:t>
            </a:r>
          </a:p>
          <a:p>
            <a:r>
              <a:rPr sz="1000">
                <a:latin typeface="Arial"/>
              </a:rPr>
              <a:t>DUREE : 4 min</a:t>
            </a:r>
          </a:p>
          <a:p/>
          <a:p>
            <a:r>
              <a:rPr sz="1000">
                <a:latin typeface="Arial"/>
              </a:rPr>
              <a:t>2 LECTURES :</a:t>
            </a:r>
          </a:p>
          <a:p>
            <a:r>
              <a:rPr sz="1000">
                <a:latin typeface="Arial"/>
              </a:rPr>
              <a:t>1ere : GLOBALE (sans ecrire)</a:t>
            </a:r>
          </a:p>
          <a:p>
            <a:r>
              <a:rPr sz="1000">
                <a:latin typeface="Arial"/>
              </a:rPr>
              <a:t>2eme : DETAILLEE</a:t>
            </a:r>
          </a:p>
          <a:p/>
          <a:p>
            <a:r>
              <a:rPr sz="1000">
                <a:latin typeface="Arial"/>
              </a:rPr>
              <a:t>NE PAS montrer le texte.</a:t>
            </a:r>
          </a:p>
          <a:p>
            <a:r>
              <a:rPr sz="1000">
                <a:latin typeface="Arial"/>
              </a:rPr>
              <a:t>LIRE lentement.</a:t>
            </a:r>
          </a:p>
          <a:p/>
          <a:p>
            <a:r>
              <a:rPr sz="1000">
                <a:latin typeface="Arial"/>
              </a:rPr>
              <a:t>TRANSITION : "Now let's answer the questions."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LISTENING QUESTIONS</a:t>
            </a:r>
          </a:p>
          <a:p/>
          <a:p>
            <a:r>
              <a:rPr sz="1000">
                <a:latin typeface="Arial"/>
              </a:rPr>
              <a:t>ROLE : Comprehension detaillee.</a:t>
            </a:r>
          </a:p>
          <a:p>
            <a:r>
              <a:rPr sz="1000">
                <a:latin typeface="Arial"/>
              </a:rPr>
              <a:t>DUREE : 4 min</a:t>
            </a:r>
          </a:p>
          <a:p/>
          <a:p>
            <a:r>
              <a:rPr sz="1000">
                <a:latin typeface="Arial"/>
              </a:rPr>
              <a:t>Ingrid repond en PHRASE COMPLETE.</a:t>
            </a:r>
          </a:p>
          <a:p>
            <a:r>
              <a:rPr sz="1000">
                <a:latin typeface="Arial"/>
              </a:rPr>
              <a:t>Corriger apres.</a:t>
            </a:r>
          </a:p>
          <a:p/>
          <a:p>
            <a:r>
              <a:rPr sz="1000">
                <a:latin typeface="Arial"/>
              </a:rPr>
              <a:t>TRANSITION : "Now it's your turn to speak."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SPEAKING CHALLENGE : Challenge</a:t>
            </a:r>
          </a:p>
          <a:p/>
          <a:p>
            <a:r>
              <a:rPr sz="1000">
                <a:latin typeface="Arial"/>
              </a:rPr>
              <a:t>ROLE : Production orale.</a:t>
            </a:r>
          </a:p>
          <a:p>
            <a:r>
              <a:rPr sz="1000">
                <a:latin typeface="Arial"/>
              </a:rPr>
              <a:t>DUREE : 10 min</a:t>
            </a:r>
          </a:p>
          <a:p/>
          <a:p>
            <a:r>
              <a:rPr sz="1000">
                <a:latin typeface="Arial"/>
              </a:rPr>
              <a:t>TIMING :</a:t>
            </a:r>
          </a:p>
          <a:p>
            <a:r>
              <a:rPr sz="1000">
                <a:latin typeface="Arial"/>
              </a:rPr>
              <a:t>- 0:45 Explication</a:t>
            </a:r>
          </a:p>
          <a:p>
            <a:r>
              <a:rPr sz="1000">
                <a:latin typeface="Arial"/>
              </a:rPr>
              <a:t>- 0:45 Preparation mentale (silence)</a:t>
            </a:r>
          </a:p>
          <a:p>
            <a:r>
              <a:rPr sz="1000">
                <a:latin typeface="Arial"/>
              </a:rPr>
              <a:t>- 2:00 Monologue</a:t>
            </a:r>
          </a:p>
          <a:p>
            <a:r>
              <a:rPr sz="1000">
                <a:latin typeface="Arial"/>
              </a:rPr>
              <a:t>- 2:00 Feedback (2+1)</a:t>
            </a:r>
          </a:p>
          <a:p>
            <a:r>
              <a:rPr sz="1000">
                <a:latin typeface="Arial"/>
              </a:rPr>
              <a:t>- 0:30 Re-record</a:t>
            </a:r>
          </a:p>
          <a:p/>
          <a:p>
            <a:r>
              <a:rPr sz="1000">
                <a:latin typeface="Arial"/>
              </a:rPr>
              <a:t>SCRIPT :</a:t>
            </a:r>
          </a:p>
          <a:p>
            <a:r>
              <a:rPr sz="1000">
                <a:latin typeface="Arial"/>
              </a:rPr>
              <a:t>"Okay Ingrid, YOUR turn.</a:t>
            </a:r>
          </a:p>
          <a:p>
            <a:r>
              <a:rPr sz="1000">
                <a:latin typeface="Arial"/>
              </a:rPr>
              <a:t>Talk for 2 minutes.</a:t>
            </a:r>
          </a:p>
          <a:p>
            <a:r>
              <a:rPr sz="1000">
                <a:latin typeface="Arial"/>
              </a:rPr>
              <a:t>Use: if + past, would and Could/Might.</a:t>
            </a:r>
          </a:p>
          <a:p>
            <a:r>
              <a:rPr sz="1000">
                <a:latin typeface="Arial"/>
              </a:rPr>
              <a:t>Take 45 sec to think. Ready?"</a:t>
            </a:r>
          </a:p>
          <a:p/>
          <a:p>
            <a:r>
              <a:rPr sz="1000">
                <a:latin typeface="Arial"/>
              </a:rPr>
              <a:t>OBSERVER :</a:t>
            </a:r>
          </a:p>
          <a:p>
            <a:r>
              <a:rPr sz="1000">
                <a:latin typeface="Arial"/>
              </a:rPr>
              <a:t>- if + past, would min 3 fois</a:t>
            </a:r>
          </a:p>
          <a:p>
            <a:r>
              <a:rPr sz="1000">
                <a:latin typeface="Arial"/>
              </a:rPr>
              <a:t>- Could/Might min 3 fois</a:t>
            </a:r>
          </a:p>
          <a:p>
            <a:r>
              <a:rPr sz="1000">
                <a:latin typeface="Arial"/>
              </a:rPr>
              <a:t>- Duree 60-90 sec</a:t>
            </a:r>
          </a:p>
          <a:p>
            <a:r>
              <a:rPr sz="1000">
                <a:latin typeface="Arial"/>
              </a:rPr>
              <a:t>- Pauses &lt; 5 sec</a:t>
            </a:r>
          </a:p>
          <a:p/>
          <a:p>
            <a:r>
              <a:rPr sz="1000">
                <a:latin typeface="Arial"/>
              </a:rPr>
              <a:t>FEEDBACK (2+1) :</a:t>
            </a:r>
          </a:p>
          <a:p>
            <a:r>
              <a:rPr sz="1000">
                <a:latin typeface="Arial"/>
              </a:rPr>
              <a:t>1. Compliment CONCRET</a:t>
            </a:r>
          </a:p>
          <a:p>
            <a:r>
              <a:rPr sz="1000">
                <a:latin typeface="Arial"/>
              </a:rPr>
              <a:t>2. Compliment CONCRET</a:t>
            </a:r>
          </a:p>
          <a:p>
            <a:r>
              <a:rPr sz="1000">
                <a:latin typeface="Arial"/>
              </a:rPr>
              <a:t>3. UNE correction -&gt; repeter 2 fois</a:t>
            </a:r>
          </a:p>
          <a:p/>
          <a:p>
            <a:r>
              <a:rPr sz="1000">
                <a:latin typeface="Arial"/>
              </a:rPr>
              <a:t>NE PAS interrompre.</a:t>
            </a:r>
          </a:p>
          <a:p/>
          <a:p>
            <a:r>
              <a:rPr sz="1000">
                <a:latin typeface="Arial"/>
              </a:rPr>
              <a:t>TRANSITION : "Now let's write about this."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WRITING REQUIREMENTS</a:t>
            </a:r>
          </a:p>
          <a:p/>
          <a:p>
            <a:r>
              <a:rPr sz="1000">
                <a:latin typeface="Arial"/>
              </a:rPr>
              <a:t>ROLE : Preparer ecrit.</a:t>
            </a:r>
          </a:p>
          <a:p>
            <a:r>
              <a:rPr sz="1000">
                <a:latin typeface="Arial"/>
              </a:rPr>
              <a:t>DUREE : 3 min</a:t>
            </a:r>
          </a:p>
          <a:p/>
          <a:p>
            <a:r>
              <a:rPr sz="1000">
                <a:latin typeface="Arial"/>
              </a:rPr>
              <a:t>5 ETAPES :</a:t>
            </a:r>
          </a:p>
          <a:p>
            <a:r>
              <a:rPr sz="1000">
                <a:latin typeface="Arial"/>
              </a:rPr>
              <a:t>1. Brainstorming (3 min)</a:t>
            </a:r>
          </a:p>
          <a:p>
            <a:r>
              <a:rPr sz="1000">
                <a:latin typeface="Arial"/>
              </a:rPr>
              <a:t>2. Borrador (10 min)</a:t>
            </a:r>
          </a:p>
          <a:p>
            <a:r>
              <a:rPr sz="1000">
                <a:latin typeface="Arial"/>
              </a:rPr>
              <a:t>3. Revision (5 min)</a:t>
            </a:r>
          </a:p>
          <a:p>
            <a:r>
              <a:rPr sz="1000">
                <a:latin typeface="Arial"/>
              </a:rPr>
              <a:t>4. Edicion (5 min)</a:t>
            </a:r>
          </a:p>
          <a:p>
            <a:r>
              <a:rPr sz="1000">
                <a:latin typeface="Arial"/>
              </a:rPr>
              <a:t>5. Publicacion (5 min)</a:t>
            </a:r>
          </a:p>
          <a:p/>
          <a:p>
            <a:r>
              <a:rPr sz="1000">
                <a:latin typeface="Arial"/>
              </a:rPr>
              <a:t>FOCUS : if + past, would + Could/Might</a:t>
            </a:r>
          </a:p>
          <a:p/>
          <a:p>
            <a:r>
              <a:rPr sz="1000">
                <a:latin typeface="Arial"/>
              </a:rPr>
              <a:t>NE PAS ecrire a sa place.</a:t>
            </a:r>
          </a:p>
          <a:p/>
          <a:p>
            <a:r>
              <a:rPr sz="1000">
                <a:latin typeface="Arial"/>
              </a:rPr>
              <a:t>TRANSITION : "Now let's look at the template."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WRITING TEMPLATE</a:t>
            </a:r>
          </a:p>
          <a:p/>
          <a:p>
            <a:r>
              <a:rPr sz="1000">
                <a:latin typeface="Arial"/>
              </a:rPr>
              <a:t>ROLE : Guide structurel.</a:t>
            </a:r>
          </a:p>
          <a:p>
            <a:r>
              <a:rPr sz="1000">
                <a:latin typeface="Arial"/>
              </a:rPr>
              <a:t>DUREE : 2 min</a:t>
            </a:r>
          </a:p>
          <a:p/>
          <a:p>
            <a:r>
              <a:rPr sz="1000">
                <a:latin typeface="Arial"/>
              </a:rPr>
              <a:t>Ingrid ecrit sur papier.</a:t>
            </a:r>
          </a:p>
          <a:p>
            <a:r>
              <a:rPr sz="1000">
                <a:latin typeface="Arial"/>
              </a:rPr>
              <a:t>Suit le template.</a:t>
            </a:r>
          </a:p>
          <a:p>
            <a:r>
              <a:rPr sz="1000">
                <a:latin typeface="Arial"/>
              </a:rPr>
              <a:t>Complete les blancs.</a:t>
            </a:r>
          </a:p>
          <a:p/>
          <a:p>
            <a:r>
              <a:rPr sz="1000">
                <a:latin typeface="Arial"/>
              </a:rPr>
              <a:t>VERIFIER a la fin.</a:t>
            </a:r>
          </a:p>
          <a:p/>
          <a:p>
            <a:r>
              <a:rPr sz="1000">
                <a:latin typeface="Arial"/>
              </a:rPr>
              <a:t>TRANSITION : "Now let's check your progress."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CHECKPOINT</a:t>
            </a:r>
          </a:p>
          <a:p/>
          <a:p>
            <a:r>
              <a:rPr sz="1000">
                <a:latin typeface="Arial"/>
              </a:rPr>
              <a:t>ROLE : Auto-evaluation.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Lire chaque critere.</a:t>
            </a:r>
          </a:p>
          <a:p>
            <a:r>
              <a:rPr sz="1000">
                <a:latin typeface="Arial"/>
              </a:rPr>
              <a:t>Ingrid repond honnetement.</a:t>
            </a:r>
          </a:p>
          <a:p/>
          <a:p>
            <a:r>
              <a:rPr sz="1000">
                <a:latin typeface="Arial"/>
              </a:rPr>
              <a:t>NE PAS juger.</a:t>
            </a:r>
          </a:p>
          <a:p/>
          <a:p>
            <a:r>
              <a:rPr sz="1000">
                <a:latin typeface="Arial"/>
              </a:rPr>
              <a:t>TRANSITION : "Now let's reflect."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VOCABULARY (1)</a:t>
            </a:r>
          </a:p>
          <a:p/>
          <a:p>
            <a:r>
              <a:rPr sz="1000">
                <a:latin typeface="Arial"/>
              </a:rPr>
              <a:t>ROLE : Introduire vocabulaire.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METHODE 3 ETAPES :</a:t>
            </a:r>
          </a:p>
          <a:p>
            <a:r>
              <a:rPr sz="1000">
                <a:latin typeface="Arial"/>
              </a:rPr>
              <a:t>1. Prof dit -&gt; Ingrid repete</a:t>
            </a:r>
          </a:p>
          <a:p>
            <a:r>
              <a:rPr sz="1000">
                <a:latin typeface="Arial"/>
              </a:rPr>
              <a:t>2. Prof traduit</a:t>
            </a:r>
          </a:p>
          <a:p>
            <a:r>
              <a:rPr sz="1000">
                <a:latin typeface="Arial"/>
              </a:rPr>
              <a:t>3. Ingrid fait une phrase</a:t>
            </a:r>
          </a:p>
          <a:p/>
          <a:p>
            <a:r>
              <a:rPr sz="1000">
                <a:latin typeface="Arial"/>
              </a:rPr>
              <a:t>NE PAS lire simplement.</a:t>
            </a:r>
          </a:p>
          <a:p>
            <a:r>
              <a:rPr sz="1000">
                <a:latin typeface="Arial"/>
              </a:rPr>
              <a:t>TOUJOURS prononcer + utiliser.</a:t>
            </a:r>
          </a:p>
          <a:p/>
          <a:p>
            <a:r>
              <a:rPr sz="1000">
                <a:latin typeface="Arial"/>
              </a:rPr>
              <a:t>TRANSITION : "Now let's look at common mistakes."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PRACTICE (1)</a:t>
            </a:r>
          </a:p>
          <a:p/>
          <a:p>
            <a:r>
              <a:rPr sz="1000">
                <a:latin typeface="Arial"/>
              </a:rPr>
              <a:t>ROLE : Pratique controlee.</a:t>
            </a:r>
          </a:p>
          <a:p>
            <a:r>
              <a:rPr sz="1000">
                <a:latin typeface="Arial"/>
              </a:rPr>
              <a:t>DUREE : 8-10 min</a:t>
            </a:r>
          </a:p>
          <a:p/>
          <a:p>
            <a:r>
              <a:rPr sz="1000">
                <a:latin typeface="Arial"/>
              </a:rPr>
              <a:t>1. ORAL d'abord</a:t>
            </a:r>
          </a:p>
          <a:p>
            <a:r>
              <a:rPr sz="1000">
                <a:latin typeface="Arial"/>
              </a:rPr>
              <a:t>2. ECRIT ensuite</a:t>
            </a:r>
          </a:p>
          <a:p>
            <a:r>
              <a:rPr sz="1000">
                <a:latin typeface="Arial"/>
              </a:rPr>
              <a:t>3. CORRECTION en temps reel</a:t>
            </a:r>
          </a:p>
          <a:p/>
          <a:p>
            <a:r>
              <a:rPr sz="1000">
                <a:latin typeface="Arial"/>
              </a:rPr>
              <a:t>Ne pas donner la reponse.</a:t>
            </a:r>
          </a:p>
          <a:p>
            <a:r>
              <a:rPr sz="1000">
                <a:latin typeface="Arial"/>
              </a:rPr>
              <a:t>Laisser 5-10 secondes.</a:t>
            </a:r>
          </a:p>
          <a:p>
            <a:r>
              <a:rPr sz="1000">
                <a:latin typeface="Arial"/>
              </a:rPr>
              <a:t>MAX 3 corrections.</a:t>
            </a:r>
          </a:p>
          <a:p/>
          <a:p>
            <a:r>
              <a:rPr sz="1000">
                <a:latin typeface="Arial"/>
              </a:rPr>
              <a:t>TRANSITION : "Now let's use these in conversation."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PRONUNCIATION</a:t>
            </a:r>
          </a:p>
          <a:p/>
          <a:p>
            <a:r>
              <a:rPr sz="1000">
                <a:latin typeface="Arial"/>
              </a:rPr>
              <a:t>ROLE : Pratique active.</a:t>
            </a:r>
          </a:p>
          <a:p>
            <a:r>
              <a:rPr sz="1000">
                <a:latin typeface="Arial"/>
              </a:rPr>
              <a:t>DUREE : 5 min</a:t>
            </a:r>
          </a:p>
          <a:p/>
          <a:p>
            <a:r>
              <a:rPr sz="1000">
                <a:latin typeface="Arial"/>
              </a:rPr>
              <a:t>Chaque mot repete 5 fois.</a:t>
            </a:r>
          </a:p>
          <a:p>
            <a:r>
              <a:rPr sz="1000">
                <a:latin typeface="Arial"/>
              </a:rPr>
              <a:t>Prof corrige en temps reel.</a:t>
            </a:r>
          </a:p>
          <a:p>
            <a:r>
              <a:rPr sz="1000">
                <a:latin typeface="Arial"/>
              </a:rPr>
              <a:t>Enregistrer si possible.</a:t>
            </a:r>
          </a:p>
          <a:p/>
          <a:p>
            <a:r>
              <a:rPr sz="1000">
                <a:latin typeface="Arial"/>
              </a:rPr>
              <a:t>TRANSITION : "Now let's practice with exercises."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Arial"/>
              </a:rPr>
              <a:t>SLIDE - THANKS</a:t>
            </a:r>
          </a:p>
          <a:p/>
          <a:p>
            <a:r>
              <a:rPr sz="1000">
                <a:latin typeface="Arial"/>
              </a:rPr>
              <a:t>ROLE : Cloture.</a:t>
            </a:r>
          </a:p>
          <a:p>
            <a:r>
              <a:rPr sz="1000">
                <a:latin typeface="Arial"/>
              </a:rPr>
              <a:t>DUREE : 2 min</a:t>
            </a:r>
          </a:p>
          <a:p/>
          <a:p>
            <a:r>
              <a:rPr sz="1000">
                <a:latin typeface="Arial"/>
              </a:rPr>
              <a:t>SCRIPT :</a:t>
            </a:r>
          </a:p>
          <a:p>
            <a:r>
              <a:rPr sz="1000">
                <a:latin typeface="Arial"/>
              </a:rPr>
              <a:t>"Excellent work today, Ingrid!</a:t>
            </a:r>
          </a:p>
          <a:p>
            <a:r>
              <a:rPr sz="1000">
                <a:latin typeface="Arial"/>
              </a:rPr>
              <a:t>You've completed Class 13.</a:t>
            </a:r>
          </a:p>
          <a:p>
            <a:r>
              <a:rPr sz="1000">
                <a:latin typeface="Arial"/>
              </a:rPr>
              <a:t>See you next time."</a:t>
            </a:r>
          </a:p>
          <a:p/>
          <a:p>
            <a:r>
              <a:rPr sz="1000">
                <a:latin typeface="Arial"/>
              </a:rPr>
              <a:t>Rappeler : Class 14</a:t>
            </a:r>
          </a:p>
          <a:p/>
          <a:p>
            <a:r>
              <a:rPr sz="1000">
                <a:latin typeface="Arial"/>
              </a:rPr>
              <a:t>TERMINER sur une note positive.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804672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 i="0">
                <a:solidFill>
                  <a:srgbClr val="3D1F5C"/>
                </a:solidFill>
                <a:latin typeface="Arial"/>
              </a:rPr>
              <a:t>WHAT WOULD YOU DO IF...?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80467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Ingrid - English - Class 13</a:t>
            </a:r>
          </a:p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Profesor: Jean Thomas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Welcome!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OVERVIEW — Today's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508760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Use Second Conditional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21992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221992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Talk about imaginary situations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35224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935224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Distinguish First and Second Conditional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48456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648456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Ask What would you do if...?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61688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05.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361688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Use could and might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074920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/>
              </a:rPr>
              <a:t>06.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5074920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Talk about dreams in 90-120 sec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GOAL: Speak with confidence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SPEAKING — Answer orally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What would you do if you won the lottery?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50591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50591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Where would you live if you could live anywhere?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46703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346703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What would you change if you could change one thing?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42816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42816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Who would you meet if you could meet anyone?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138927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138927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-  What would you do if you had more free time?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 without looking at your notes.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VOCABULARY — Dreams &amp; Hypotheses (1/2)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8191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win the lottery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58191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ganar la lotería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58191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58191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96596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win the lottery once  + if I won the lottery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5856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"If I won the lottery, I would travel the world."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51460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'win to the lottery'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2608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travel the world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99923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viajar por el mundo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299923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99923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38328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travel the world alone  + travel around the world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67588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"If I had money, I would travel the world."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93192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'travel the world of'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34340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41655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buy a house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41655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comprar una casa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441655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441655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480060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buy a house near the beach  + buy a big house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509320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"If I were rich, I would buy a house in Paris."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534924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'buy to a house'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Read aloud. Practice collocations.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VOCABULARY — Dreams &amp; Hypotheses (2/2)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8191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meet a famous person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58191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conocer a un famoso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581912"/>
            <a:ext cx="1554480" cy="36576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58191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IMPORTANT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96596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meet a famous actor  + meet a famous singer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5856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"If I could, I would meet a famous singer."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51460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'meet with a famous person'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2608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live abroad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99923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vivir en el extranjero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299923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99923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ESSENTIAL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38328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live abroad for a year  + live abroad alone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67588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"If I could live anywhere, I would live abroad."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93192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'live in abroad'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34340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41655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be rich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41655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— ser rico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4416552"/>
            <a:ext cx="1554480" cy="36576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441655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IMPORTANT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480060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+ be rich and famous  + be very rich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509320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/>
              </a:rPr>
              <a:t>  "If I were rich, I would help my family."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534924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/>
              </a:rPr>
              <a:t>  NOT 'be rich of money'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Read aloud. Practice collocations.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⚠️  COMMON MISTAKES — Avoid these!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10058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62828"/>
                </a:solidFill>
                <a:latin typeface="Arial"/>
              </a:rPr>
              <a:t>❌  If I would win the lottery, I would travel.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92808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7D32"/>
                </a:solidFill>
                <a:latin typeface="Arial"/>
              </a:rPr>
              <a:t>✓   If I won the lottery, I would travel.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7680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      Nunca se usa 'would' después de 'if' en Second Conditional.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06040"/>
            <a:ext cx="8046720" cy="10058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62828"/>
                </a:solidFill>
                <a:latin typeface="Arial"/>
              </a:rPr>
              <a:t>❌  If I was you, I would apologize.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90088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7D32"/>
                </a:solidFill>
                <a:latin typeface="Arial"/>
              </a:rPr>
              <a:t>✓   If I were you, I would apologize.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28416"/>
            <a:ext cx="7680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      Con 'If I...' se usa 'were', no 'was'.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03320"/>
            <a:ext cx="8046720" cy="10058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749039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62828"/>
                </a:solidFill>
                <a:latin typeface="Arial"/>
              </a:rPr>
              <a:t>❌  Actually I have a lot of money.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87368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7D32"/>
                </a:solidFill>
                <a:latin typeface="Arial"/>
              </a:rPr>
              <a:t>✓   Currently I have a lot of money.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25696"/>
            <a:ext cx="7680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      'Actually' = 'en realidad'. 'Actualmente' = 'currently'.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800600"/>
            <a:ext cx="8046720" cy="10058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4632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62828"/>
                </a:solidFill>
                <a:latin typeface="Arial"/>
              </a:rPr>
              <a:t>❌  I would pretend to be rich.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84648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7D32"/>
                </a:solidFill>
                <a:latin typeface="Arial"/>
              </a:rPr>
              <a:t>✓   I would try to be rich.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522976"/>
            <a:ext cx="7680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      'Pretend' = fingir. 'Pretender' = to intend / to try.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Repeat after me. Don't make these mistakes!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EXPRESSIONS &amp; YOUR TURN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81912"/>
            <a:ext cx="7680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6B35"/>
                </a:solidFill>
                <a:latin typeface="Arial"/>
              </a:rPr>
              <a:t>EXPRESSIONS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1965960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If I won the lottery, I would travel.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313432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If I had more time, I would learn piano.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660903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If I were you, I would apologize.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008375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What would you do if you could change one thing?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355847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▸  I might move abroad if I had the chance.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31920"/>
            <a:ext cx="8046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005072"/>
            <a:ext cx="7680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6B35"/>
                </a:solidFill>
                <a:latin typeface="Arial"/>
              </a:rPr>
              <a:t>🎯  YOUR 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389120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1.  If I won the lottery, I would -&gt; ________________________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709159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2.  If I could live anywhere, I would -&gt; ________________________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5029199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3.  If I were rich, I would ____.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5349239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4.  If I were you, I would ____.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5669279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5.  What would you do if ____?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Write your own sentences.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Second Conditional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FORMULA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IF + PAST SIMPLE, WOULD + BASE VERB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Past simple after if, would in main clause.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Second Conditional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AFFIRMATIVE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If I won the lottery, I would travel.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If she had time, she would learn piano.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Past simple after if, would in main clause.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Second Conditional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NEGATIVE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If I didn't have money, I wouldn't travel.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Past simple after if, would in main clause.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Second Conditional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GOLDEN RULE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Never 'would' after 'if'!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Past simple after if, would in main clause.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First vs Second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FIRST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Real, possible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If it rains, I will stay home.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If I study, I will pass.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First = real. Second = imaginary.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First vs Second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SECOND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Imaginary, improbable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If I won the lottery, I would travel.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If I studied, I would pass.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First = real. Second = imaginary.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First vs Second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IF I WERE YOU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If I were you, I would apologize.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If I were you, I wouldn't worry.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First = real. Second = imaginary.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GRAMMAR — First vs Second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COULD / MIGHT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would = certain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could = possible</a:t>
            </a: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might = maybe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First = real. Second = imaginary.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SOUND — /aʊ/ vs /oʊ/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691640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now - no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50008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350008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how - hoe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08376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3008376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cow - coat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66744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3666744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out - oat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25112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4325112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about - aboat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/aʊ/ vs /oʊ/ diphthongs.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PRONUNCIATION — Practice /aʊ/ vs /oʊ/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009B9B"/>
                </a:solidFill>
                <a:latin typeface="Arial"/>
              </a:rPr>
              <a:t>/naʊ/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1460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009B9B"/>
                </a:solidFill>
                <a:latin typeface="Arial"/>
              </a:rPr>
              <a:t>/noʊ/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42900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how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009B9B"/>
                </a:solidFill>
                <a:latin typeface="Arial"/>
              </a:rPr>
              <a:t>/haʊ/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34340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hoe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548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009B9B"/>
                </a:solidFill>
                <a:latin typeface="Arial"/>
              </a:rPr>
              <a:t>/hoʊ/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Record yourself and compare.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PRACTICE — Complete (1/3)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1. If I ___ (win) the lottery, I ___ (travel).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2. If she ___ (have) time, she ___ (learn) piano.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747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3. If we ___ (live) near beach, we ___ (swim).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891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4. If he ___ (know) answer, he ___ (tell) 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Answer orally first.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PRACTICE — Complete (2/3)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5. If I ___ (be) rich, I ___ (not work).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6. If it ___ (rain/rained), I will stay. (First)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747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7. If it ___ (rains/rained), I would stay. (Second)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891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8. If I ___ (win/won) lottery, I would buy house.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Answer orally first.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PRACTICE — Complete (3/3)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/>
              </a:rPr>
              <a:t>9. I'm tired. If I were you, I ___ (rest).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Answer orally first.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SPEAKING — Conversation (1/2)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What would you do if you won the lottery?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If I won, I would ____.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34639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926079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Where would you live if you could live anywhere?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8999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I would live in ____.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14800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What would you change if you could?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09160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I would change ____.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 naturally.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SPEAKING — Conversation (2/2)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Who would you meet if you could meet anyone?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I would meet ____.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34639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926079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What would you do with more free time?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8999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I would ____.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14800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What would you buy with $1M?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09160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/>
              </a:rPr>
              <a:t>-&gt;  I would buy ____.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 naturally.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LISTENING — My Imaginary Life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4206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6B35"/>
                </a:solidFill>
                <a:latin typeface="Arial"/>
              </a:rPr>
              <a:t>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057400"/>
            <a:ext cx="749808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If I could change one thing in my life, I would move to another country. If I lived abroad, I would learn a new language and meet new people. I would travel every weekend and try different foods. If I had more money, I would buy a small house near the sea. If I were braver, I would start my own business. But right now, I'm happy with my life.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Listen carefully to the text.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LISTENING — Answer the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1. What would the speaker change?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04872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04872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2. What if lived abroad?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09544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09544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3. What would buy with more money?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14215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014215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4. What if were braver?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18888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818888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5. What advice does the speaker give?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Answer in complete sentences.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SPEAKING CHALLENGE — What Would You Do If...?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00200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00200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5 Second Conditional sentences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77440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2 with could or might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154680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154680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1 If I were you...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931920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931920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1 question What would you do if...?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709159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709159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/>
              </a:rPr>
              <a:t>90-120 seconds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 1-2 minutes. No memorization.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WRITING — Requirements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39319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6B35"/>
                </a:solidFill>
                <a:latin typeface="Arial"/>
              </a:rPr>
              <a:t>120-150 WORDS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/>
              </a:rPr>
              <a:t>TIME: 30 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508760"/>
            <a:ext cx="3931920" cy="100584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554480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6B35"/>
                </a:solidFill>
                <a:latin typeface="Arial"/>
              </a:rPr>
              <a:t>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920240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FFFFFF"/>
                </a:solidFill>
                <a:latin typeface="Arial"/>
              </a:rPr>
              <a:t>Second Conditional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97480"/>
            <a:ext cx="80467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7680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6B35"/>
                </a:solidFill>
                <a:latin typeface="Arial"/>
              </a:rPr>
              <a:t>REQUIREMENTS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200400"/>
            <a:ext cx="758952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- 5 if + past, would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- 2 could/might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- 1 If I were you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- 1 negative wouldn't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- 1 question What would you do if...?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Follow the requirements.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WRITING — Template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8046720" cy="4343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7406640" cy="39776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MY IMAGINARY LIFE   —   By: ____________</a:t>
            </a:r>
          </a:p>
          <a:p>
            <a:pPr algn="l">
              <a:lnSpc>
                <a:spcPct val="120000"/>
              </a:lnSpc>
            </a:pPr>
          </a:p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If I could ____________, I would ____________.</a:t>
            </a:r>
          </a:p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If I had ____________, I would ____________.</a:t>
            </a:r>
          </a:p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If I met ____________, I would ____________.</a:t>
            </a:r>
          </a:p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If I were rich, I would ____________.</a:t>
            </a:r>
          </a:p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If I had a superpower, I would ____________.</a:t>
            </a:r>
          </a:p>
          <a:p>
            <a:pPr algn="l">
              <a:lnSpc>
                <a:spcPct val="120000"/>
              </a:lnSpc>
            </a:pPr>
          </a:p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might ____________.</a:t>
            </a:r>
          </a:p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could ____________.</a:t>
            </a:r>
          </a:p>
          <a:p>
            <a:pPr algn="l">
              <a:lnSpc>
                <a:spcPct val="120000"/>
              </a:lnSpc>
            </a:pPr>
          </a:p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If I were you, I would ____________.</a:t>
            </a:r>
          </a:p>
          <a:p>
            <a:pPr algn="l">
              <a:lnSpc>
                <a:spcPct val="120000"/>
              </a:lnSpc>
            </a:pPr>
          </a:p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What would you do if ____________?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Use this template to write.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CHECKPOINT — Rate your progress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use if + past, would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04872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04872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make negatives with wouldn't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09544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09544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ask What would you do if...?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14215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014215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use could and might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18888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818888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I can distinguish First and Second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Be honest with yourself.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SELF-EVALUATION — Rate (1-4)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Vocabulary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600200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600200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1600200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1600200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04872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04872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Second Conditional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404872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04872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404872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2404872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09544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209544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Negatives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3209544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209544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209544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3209544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014215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14215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Could/Might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4014215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4014215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014215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4014215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818888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818888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/>
              </a:rPr>
              <a:t>Fluency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4818888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4818888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4818888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4818888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Reflect on your learning.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RESOURCES — Keep learning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45720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PODCASTS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01168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Lost on a Desert Island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37744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Curious Minds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34640"/>
            <a:ext cx="8046720" cy="45720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VIDEOS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33756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English with Lucy — Second Conditional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94760"/>
            <a:ext cx="8046720" cy="45720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79476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APPS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29768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Duolingo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66344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- Quizlet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Practice every day.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/>
              </a:rPr>
              <a:t>HOMEWORK — Your tasks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WRITING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148840"/>
            <a:ext cx="7589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Write 10-12 sentences about imaginary life.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8046720" cy="502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SPEAKING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200400"/>
            <a:ext cx="7589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Record yourself (90-120 sec).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03320"/>
            <a:ext cx="8046720" cy="502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70332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PRONUNCIATION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251960"/>
            <a:ext cx="7589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Practice /aʊ/ vs /oʊ/.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754880"/>
            <a:ext cx="8046720" cy="502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75488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5303520"/>
            <a:ext cx="7589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Practice Second Conditional.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Deadline: ____________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/>
              </a:rPr>
              <a:t>32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6400800" cy="1645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64008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Arial"/>
              </a:rPr>
              <a:t>GRACIAS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8046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3D1F5C"/>
                </a:solidFill>
                <a:latin typeface="Arial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8046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1">
                <a:solidFill>
                  <a:srgbClr val="000000"/>
                </a:solidFill>
                <a:latin typeface="Arial"/>
              </a:rPr>
              <a:t>You've completed this class!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5029200"/>
            <a:ext cx="6400800" cy="7315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029200"/>
            <a:ext cx="6400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rial"/>
              </a:rPr>
              <a:t>NEXT: CLASS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Congratulations!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