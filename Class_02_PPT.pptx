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COVER (Class 02)</a:t>
            </a:r>
          </a:p>
          <a:p/>
          <a:p>
            <a:r>
              <a:rPr sz="1000">
                <a:latin typeface="Arial"/>
              </a:rPr>
              <a:t>ROLE : Ouverture.</a:t>
            </a:r>
          </a:p>
          <a:p>
            <a:r>
              <a:rPr sz="1000">
                <a:latin typeface="Arial"/>
              </a:rPr>
              <a:t>DUREE : 2 min</a:t>
            </a:r>
          </a:p>
          <a:p/>
          <a:p>
            <a:r>
              <a:rPr sz="1000">
                <a:latin typeface="Arial"/>
              </a:rPr>
              <a:t>SCRIPT :</a:t>
            </a:r>
          </a:p>
          <a:p>
            <a:r>
              <a:rPr sz="1000">
                <a:latin typeface="Arial"/>
              </a:rPr>
              <a:t>"Hello Ingrid! Welcome to Class 02.</a:t>
            </a:r>
          </a:p>
          <a:p>
            <a:r>
              <a:rPr sz="1000">
                <a:latin typeface="Arial"/>
              </a:rPr>
              <a:t>Today: Past Simple regular. Ready?"</a:t>
            </a:r>
          </a:p>
          <a:p/>
          <a:p>
            <a:r>
              <a:rPr sz="1000">
                <a:latin typeface="Arial"/>
              </a:rPr>
              <a:t>ACTIONS :</a:t>
            </a:r>
          </a:p>
          <a:p>
            <a:r>
              <a:rPr sz="1000">
                <a:latin typeface="Arial"/>
              </a:rPr>
              <a:t>- Verifier Teams</a:t>
            </a:r>
          </a:p>
          <a:p>
            <a:r>
              <a:rPr sz="1000">
                <a:latin typeface="Arial"/>
              </a:rPr>
              <a:t>- Small talk 30 sec</a:t>
            </a:r>
          </a:p>
          <a:p>
            <a:r>
              <a:rPr sz="1000">
                <a:latin typeface="Arial"/>
              </a:rPr>
              <a:t>- Annoncer 90 min</a:t>
            </a:r>
          </a:p>
          <a:p/>
          <a:p>
            <a:r>
              <a:rPr sz="1000">
                <a:latin typeface="Arial"/>
              </a:rPr>
              <a:t>TRANSITION : "Let's start with the objectives."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OVERVIEW</a:t>
            </a:r>
          </a:p>
          <a:p/>
          <a:p>
            <a:r>
              <a:rPr sz="1000">
                <a:latin typeface="Arial"/>
              </a:rPr>
              <a:t>ROLE : Annoncer objectifs.</a:t>
            </a:r>
          </a:p>
          <a:p>
            <a:r>
              <a:rPr sz="1000">
                <a:latin typeface="Arial"/>
              </a:rPr>
              <a:t>DUREE : 3 min</a:t>
            </a:r>
          </a:p>
          <a:p/>
          <a:p>
            <a:r>
              <a:rPr sz="1000">
                <a:latin typeface="Arial"/>
              </a:rPr>
              <a:t>Lire chaque objectif a voix haute.</a:t>
            </a:r>
          </a:p>
          <a:p>
            <a:r>
              <a:rPr sz="1000">
                <a:latin typeface="Arial"/>
              </a:rPr>
              <a:t>Ne pas expliquer.</a:t>
            </a:r>
          </a:p>
          <a:p/>
          <a:p>
            <a:r>
              <a:rPr sz="1000">
                <a:latin typeface="Arial"/>
              </a:rPr>
              <a:t>DIRE : "By the end of today, you will be able to do all of this."</a:t>
            </a:r>
          </a:p>
          <a:p/>
          <a:p>
            <a:r>
              <a:rPr sz="1000">
                <a:latin typeface="Arial"/>
              </a:rPr>
              <a:t>TRANSITION : "Let's start with a warm-up."</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WARM-UP</a:t>
            </a:r>
          </a:p>
          <a:p/>
          <a:p>
            <a:r>
              <a:rPr sz="1000">
                <a:latin typeface="Arial"/>
              </a:rPr>
              <a:t>ROLE : Activer connaissances.</a:t>
            </a:r>
          </a:p>
          <a:p>
            <a:r>
              <a:rPr sz="1000">
                <a:latin typeface="Arial"/>
              </a:rPr>
              <a:t>DUREE : 10 min</a:t>
            </a:r>
          </a:p>
          <a:p/>
          <a:p>
            <a:r>
              <a:rPr sz="1000">
                <a:latin typeface="Arial"/>
              </a:rPr>
              <a:t>Ingrid repond ORALEMENT sans notes.</a:t>
            </a:r>
          </a:p>
          <a:p>
            <a:r>
              <a:rPr sz="1000">
                <a:latin typeface="Arial"/>
              </a:rPr>
              <a:t>Ne pas interrompre.</a:t>
            </a:r>
          </a:p>
          <a:p>
            <a:r>
              <a:rPr sz="1000">
                <a:latin typeface="Arial"/>
              </a:rPr>
              <a:t>Max 2-3 corrections apres.</a:t>
            </a:r>
          </a:p>
          <a:p/>
          <a:p>
            <a:r>
              <a:rPr sz="1000">
                <a:latin typeface="Arial"/>
              </a:rPr>
              <a:t>TRANSITION : "Now let's look at new vocabulary."</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VOCABULARY (1)</a:t>
            </a:r>
          </a:p>
          <a:p/>
          <a:p>
            <a:r>
              <a:rPr sz="1000">
                <a:latin typeface="Arial"/>
              </a:rPr>
              <a:t>ROLE : Introduire vocabulaire.</a:t>
            </a:r>
          </a:p>
          <a:p>
            <a:r>
              <a:rPr sz="1000">
                <a:latin typeface="Arial"/>
              </a:rPr>
              <a:t>DUREE : 8-10 min</a:t>
            </a:r>
          </a:p>
          <a:p/>
          <a:p>
            <a:r>
              <a:rPr sz="1000">
                <a:latin typeface="Arial"/>
              </a:rPr>
              <a:t>METHODE 3 ETAPES :</a:t>
            </a:r>
          </a:p>
          <a:p>
            <a:r>
              <a:rPr sz="1000">
                <a:latin typeface="Arial"/>
              </a:rPr>
              <a:t>1. Prof dit -&gt; Ingrid repete</a:t>
            </a:r>
          </a:p>
          <a:p>
            <a:r>
              <a:rPr sz="1000">
                <a:latin typeface="Arial"/>
              </a:rPr>
              <a:t>2. Prof traduit</a:t>
            </a:r>
          </a:p>
          <a:p>
            <a:r>
              <a:rPr sz="1000">
                <a:latin typeface="Arial"/>
              </a:rPr>
              <a:t>3. Ingrid fait une phrase</a:t>
            </a:r>
          </a:p>
          <a:p/>
          <a:p>
            <a:r>
              <a:rPr sz="1000">
                <a:latin typeface="Arial"/>
              </a:rPr>
              <a:t>NE PAS lire simplement.</a:t>
            </a:r>
          </a:p>
          <a:p>
            <a:r>
              <a:rPr sz="1000">
                <a:latin typeface="Arial"/>
              </a:rPr>
              <a:t>TOUJOURS prononcer + utiliser.</a:t>
            </a:r>
          </a:p>
          <a:p/>
          <a:p>
            <a:r>
              <a:rPr sz="1000">
                <a:latin typeface="Arial"/>
              </a:rPr>
              <a:t>TRANSITION : "Now let's look at common mistakes."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VOCABULARY (2)</a:t>
            </a:r>
          </a:p>
          <a:p/>
          <a:p>
            <a:r>
              <a:rPr sz="1000">
                <a:latin typeface="Arial"/>
              </a:rPr>
              <a:t>ROLE : Introduire vocabulaire.</a:t>
            </a:r>
          </a:p>
          <a:p>
            <a:r>
              <a:rPr sz="1000">
                <a:latin typeface="Arial"/>
              </a:rPr>
              <a:t>DUREE : 8-10 min</a:t>
            </a:r>
          </a:p>
          <a:p/>
          <a:p>
            <a:r>
              <a:rPr sz="1000">
                <a:latin typeface="Arial"/>
              </a:rPr>
              <a:t>METHODE 3 ETAPES :</a:t>
            </a:r>
          </a:p>
          <a:p>
            <a:r>
              <a:rPr sz="1000">
                <a:latin typeface="Arial"/>
              </a:rPr>
              <a:t>1. Prof dit -&gt; Ingrid repete</a:t>
            </a:r>
          </a:p>
          <a:p>
            <a:r>
              <a:rPr sz="1000">
                <a:latin typeface="Arial"/>
              </a:rPr>
              <a:t>2. Prof traduit</a:t>
            </a:r>
          </a:p>
          <a:p>
            <a:r>
              <a:rPr sz="1000">
                <a:latin typeface="Arial"/>
              </a:rPr>
              <a:t>3. Ingrid fait une phrase</a:t>
            </a:r>
          </a:p>
          <a:p/>
          <a:p>
            <a:r>
              <a:rPr sz="1000">
                <a:latin typeface="Arial"/>
              </a:rPr>
              <a:t>NE PAS lire simplement.</a:t>
            </a:r>
          </a:p>
          <a:p>
            <a:r>
              <a:rPr sz="1000">
                <a:latin typeface="Arial"/>
              </a:rPr>
              <a:t>TOUJOURS prononcer + utiliser.</a:t>
            </a:r>
          </a:p>
          <a:p/>
          <a:p>
            <a:r>
              <a:rPr sz="1000">
                <a:latin typeface="Arial"/>
              </a:rPr>
              <a:t>TRANSITION : "Now let's look at common mistakes."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VOCABULARY (3)</a:t>
            </a:r>
          </a:p>
          <a:p/>
          <a:p>
            <a:r>
              <a:rPr sz="1000">
                <a:latin typeface="Arial"/>
              </a:rPr>
              <a:t>ROLE : Introduire vocabulaire.</a:t>
            </a:r>
          </a:p>
          <a:p>
            <a:r>
              <a:rPr sz="1000">
                <a:latin typeface="Arial"/>
              </a:rPr>
              <a:t>DUREE : 8-10 min</a:t>
            </a:r>
          </a:p>
          <a:p/>
          <a:p>
            <a:r>
              <a:rPr sz="1000">
                <a:latin typeface="Arial"/>
              </a:rPr>
              <a:t>METHODE 3 ETAPES :</a:t>
            </a:r>
          </a:p>
          <a:p>
            <a:r>
              <a:rPr sz="1000">
                <a:latin typeface="Arial"/>
              </a:rPr>
              <a:t>1. Prof dit -&gt; Ingrid repete</a:t>
            </a:r>
          </a:p>
          <a:p>
            <a:r>
              <a:rPr sz="1000">
                <a:latin typeface="Arial"/>
              </a:rPr>
              <a:t>2. Prof traduit</a:t>
            </a:r>
          </a:p>
          <a:p>
            <a:r>
              <a:rPr sz="1000">
                <a:latin typeface="Arial"/>
              </a:rPr>
              <a:t>3. Ingrid fait une phrase</a:t>
            </a:r>
          </a:p>
          <a:p/>
          <a:p>
            <a:r>
              <a:rPr sz="1000">
                <a:latin typeface="Arial"/>
              </a:rPr>
              <a:t>NE PAS lire simplement.</a:t>
            </a:r>
          </a:p>
          <a:p>
            <a:r>
              <a:rPr sz="1000">
                <a:latin typeface="Arial"/>
              </a:rPr>
              <a:t>TOUJOURS prononcer + utiliser.</a:t>
            </a:r>
          </a:p>
          <a:p/>
          <a:p>
            <a:r>
              <a:rPr sz="1000">
                <a:latin typeface="Arial"/>
              </a:rPr>
              <a:t>TRANSITION : "Now let's look at common mistakes."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VOCABULARY (4)</a:t>
            </a:r>
          </a:p>
          <a:p/>
          <a:p>
            <a:r>
              <a:rPr sz="1000">
                <a:latin typeface="Arial"/>
              </a:rPr>
              <a:t>ROLE : Introduire vocabulaire.</a:t>
            </a:r>
          </a:p>
          <a:p>
            <a:r>
              <a:rPr sz="1000">
                <a:latin typeface="Arial"/>
              </a:rPr>
              <a:t>DUREE : 8-10 min</a:t>
            </a:r>
          </a:p>
          <a:p/>
          <a:p>
            <a:r>
              <a:rPr sz="1000">
                <a:latin typeface="Arial"/>
              </a:rPr>
              <a:t>METHODE 3 ETAPES :</a:t>
            </a:r>
          </a:p>
          <a:p>
            <a:r>
              <a:rPr sz="1000">
                <a:latin typeface="Arial"/>
              </a:rPr>
              <a:t>1. Prof dit -&gt; Ingrid repete</a:t>
            </a:r>
          </a:p>
          <a:p>
            <a:r>
              <a:rPr sz="1000">
                <a:latin typeface="Arial"/>
              </a:rPr>
              <a:t>2. Prof traduit</a:t>
            </a:r>
          </a:p>
          <a:p>
            <a:r>
              <a:rPr sz="1000">
                <a:latin typeface="Arial"/>
              </a:rPr>
              <a:t>3. Ingrid fait une phrase</a:t>
            </a:r>
          </a:p>
          <a:p/>
          <a:p>
            <a:r>
              <a:rPr sz="1000">
                <a:latin typeface="Arial"/>
              </a:rPr>
              <a:t>NE PAS lire simplement.</a:t>
            </a:r>
          </a:p>
          <a:p>
            <a:r>
              <a:rPr sz="1000">
                <a:latin typeface="Arial"/>
              </a:rPr>
              <a:t>TOUJOURS prononcer + utiliser.</a:t>
            </a:r>
          </a:p>
          <a:p/>
          <a:p>
            <a:r>
              <a:rPr sz="1000">
                <a:latin typeface="Arial"/>
              </a:rPr>
              <a:t>TRANSITION : "Now let's look at common mistakes."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COMMON MISTAKES (Trampas)</a:t>
            </a:r>
          </a:p>
          <a:p/>
          <a:p>
            <a:r>
              <a:rPr sz="1000">
                <a:latin typeface="Arial"/>
              </a:rPr>
              <a:t>ROLE : Erreurs frequentes hispanophones.</a:t>
            </a:r>
          </a:p>
          <a:p>
            <a:r>
              <a:rPr sz="1000">
                <a:latin typeface="Arial"/>
              </a:rPr>
              <a:t>DUREE : 5 min</a:t>
            </a:r>
          </a:p>
          <a:p/>
          <a:p>
            <a:r>
              <a:rPr sz="1000">
                <a:latin typeface="Arial"/>
              </a:rPr>
              <a:t>METHODE :</a:t>
            </a:r>
          </a:p>
          <a:p>
            <a:r>
              <a:rPr sz="1000">
                <a:latin typeface="Arial"/>
              </a:rPr>
              <a:t>1. Montrer l'erreur (X)</a:t>
            </a:r>
          </a:p>
          <a:p>
            <a:r>
              <a:rPr sz="1000">
                <a:latin typeface="Arial"/>
              </a:rPr>
              <a:t>2. Demander : "Esta correcto?"</a:t>
            </a:r>
          </a:p>
          <a:p>
            <a:r>
              <a:rPr sz="1000">
                <a:latin typeface="Arial"/>
              </a:rPr>
              <a:t>3. Ingrid corrige</a:t>
            </a:r>
          </a:p>
          <a:p>
            <a:r>
              <a:rPr sz="1000">
                <a:latin typeface="Arial"/>
              </a:rPr>
              <a:t>4. Montrer la correction (OK)</a:t>
            </a:r>
          </a:p>
          <a:p>
            <a:r>
              <a:rPr sz="1000">
                <a:latin typeface="Arial"/>
              </a:rPr>
              <a:t>5. Lire l'explication en espagnol</a:t>
            </a:r>
          </a:p>
          <a:p>
            <a:r>
              <a:rPr sz="1000">
                <a:latin typeface="Arial"/>
              </a:rPr>
              <a:t>6. Repetir 3x la forme correcte</a:t>
            </a:r>
          </a:p>
          <a:p/>
          <a:p>
            <a:r>
              <a:rPr sz="1000">
                <a:latin typeface="Arial"/>
              </a:rPr>
              <a:t>FRASES UTILES :</a:t>
            </a:r>
          </a:p>
          <a:p>
            <a:r>
              <a:rPr sz="1000">
                <a:latin typeface="Arial"/>
              </a:rPr>
              <a:t>- "Esta es una trampa muy comun."</a:t>
            </a:r>
          </a:p>
          <a:p>
            <a:r>
              <a:rPr sz="1000">
                <a:latin typeface="Arial"/>
              </a:rPr>
              <a:t>- "Cuidado con esta palabra."</a:t>
            </a:r>
          </a:p>
          <a:p>
            <a:r>
              <a:rPr sz="1000">
                <a:latin typeface="Arial"/>
              </a:rPr>
              <a:t>- "Repite conmigo 3 veces."</a:t>
            </a:r>
          </a:p>
          <a:p/>
          <a:p>
            <a:r>
              <a:rPr sz="1000">
                <a:latin typeface="Arial"/>
              </a:rPr>
              <a:t>NE PAS juger les erreurs.</a:t>
            </a:r>
          </a:p>
          <a:p>
            <a:r>
              <a:rPr sz="1000">
                <a:latin typeface="Arial"/>
              </a:rPr>
              <a:t>ENCOURAGER : "Es normal, todos lo hacemos."</a:t>
            </a:r>
          </a:p>
          <a:p/>
          <a:p>
            <a:r>
              <a:rPr sz="1000">
                <a:latin typeface="Arial"/>
              </a:rPr>
              <a:t>TRANSITION : "Ahora veamos expresiones completas."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EXPRESSIONS &amp; YOUR TURN</a:t>
            </a:r>
          </a:p>
          <a:p/>
          <a:p>
            <a:r>
              <a:rPr sz="1000">
                <a:latin typeface="Arial"/>
              </a:rPr>
              <a:t>ROLE : Blocs lexicaux + production.</a:t>
            </a:r>
          </a:p>
          <a:p>
            <a:r>
              <a:rPr sz="1000">
                <a:latin typeface="Arial"/>
              </a:rPr>
              <a:t>DUREE : 8 min</a:t>
            </a:r>
          </a:p>
          <a:p/>
          <a:p>
            <a:r>
              <a:rPr sz="1000">
                <a:latin typeface="Arial"/>
              </a:rPr>
              <a:t>PARTIE 1 - EXPRESSIONS (4 min) :</a:t>
            </a:r>
          </a:p>
          <a:p>
            <a:r>
              <a:rPr sz="1000">
                <a:latin typeface="Arial"/>
              </a:rPr>
              <a:t>1. Lire chaque expression</a:t>
            </a:r>
          </a:p>
          <a:p>
            <a:r>
              <a:rPr sz="1000">
                <a:latin typeface="Arial"/>
              </a:rPr>
              <a:t>2. Ingrid repete</a:t>
            </a:r>
          </a:p>
          <a:p>
            <a:r>
              <a:rPr sz="1000">
                <a:latin typeface="Arial"/>
              </a:rPr>
              <a:t>3. Demander : "When do you use this?"</a:t>
            </a:r>
          </a:p>
          <a:p/>
          <a:p>
            <a:r>
              <a:rPr sz="1000">
                <a:latin typeface="Arial"/>
              </a:rPr>
              <a:t>PARTIE 2 - YOUR TURN (4 min) :</a:t>
            </a:r>
          </a:p>
          <a:p>
            <a:r>
              <a:rPr sz="1000">
                <a:latin typeface="Arial"/>
              </a:rPr>
              <a:t>1. Lire la consigne</a:t>
            </a:r>
          </a:p>
          <a:p>
            <a:r>
              <a:rPr sz="1000">
                <a:latin typeface="Arial"/>
              </a:rPr>
              <a:t>2. Ingrid ecrit 1 phrase par mot</a:t>
            </a:r>
          </a:p>
          <a:p>
            <a:r>
              <a:rPr sz="1000">
                <a:latin typeface="Arial"/>
              </a:rPr>
              <a:t>3. Verifier oralement</a:t>
            </a:r>
          </a:p>
          <a:p/>
          <a:p>
            <a:r>
              <a:rPr sz="1000">
                <a:latin typeface="Arial"/>
              </a:rPr>
              <a:t>NE PAS ecrire a sa place.</a:t>
            </a:r>
          </a:p>
          <a:p>
            <a:r>
              <a:rPr sz="1000">
                <a:latin typeface="Arial"/>
              </a:rPr>
              <a:t>CORRIGER 2-3 erreurs max.</a:t>
            </a:r>
          </a:p>
          <a:p/>
          <a:p>
            <a:r>
              <a:rPr sz="1000">
                <a:latin typeface="Arial"/>
              </a:rPr>
              <a:t>TRANSITION : "Now let's look at the grammar."</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Past Simple (-ed)</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DID/DIDN'T + verbo base.</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Past Simple (-ed)</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DID/DIDN'T + verbo base.</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Past Simple (-ed)</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DID/DIDN'T + verbo base.</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Past Simple (-ed)</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DID/DIDN'T + verbo base.</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Past Simple (-ed)</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DID/DIDN'T + verbo base.</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Past Simple (-ed)</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DID/DIDN'T + verbo base.</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SOUND : pronunciacion de -ed</a:t>
            </a:r>
          </a:p>
          <a:p/>
          <a:p>
            <a:r>
              <a:rPr sz="1000">
                <a:latin typeface="Arial"/>
              </a:rPr>
              <a:t>ROLE : Focus phonetique.</a:t>
            </a:r>
          </a:p>
          <a:p>
            <a:r>
              <a:rPr sz="1000">
                <a:latin typeface="Arial"/>
              </a:rPr>
              <a:t>DUREE : 5 min</a:t>
            </a:r>
          </a:p>
          <a:p/>
          <a:p>
            <a:r>
              <a:rPr sz="1000">
                <a:latin typeface="Arial"/>
              </a:rPr>
              <a:t>METHODE :</a:t>
            </a:r>
          </a:p>
          <a:p>
            <a:r>
              <a:rPr sz="1000">
                <a:latin typeface="Arial"/>
              </a:rPr>
              <a:t>1. ECOUTER : prof prononce</a:t>
            </a:r>
          </a:p>
          <a:p>
            <a:r>
              <a:rPr sz="1000">
                <a:latin typeface="Arial"/>
              </a:rPr>
              <a:t>2. DISTINGUER : Ingrid identifie</a:t>
            </a:r>
          </a:p>
          <a:p>
            <a:r>
              <a:rPr sz="1000">
                <a:latin typeface="Arial"/>
              </a:rPr>
              <a:t>3. REPETER</a:t>
            </a:r>
          </a:p>
          <a:p/>
          <a:p>
            <a:r>
              <a:rPr sz="1000">
                <a:latin typeface="Arial"/>
              </a:rPr>
              <a:t>NE PAS enseigner theorie.</a:t>
            </a:r>
          </a:p>
          <a:p/>
          <a:p>
            <a:r>
              <a:rPr sz="1000">
                <a:latin typeface="Arial"/>
              </a:rPr>
              <a:t>TRANSITION : "Now let's practice in words."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PRONUNCIATION</a:t>
            </a:r>
          </a:p>
          <a:p/>
          <a:p>
            <a:r>
              <a:rPr sz="1000">
                <a:latin typeface="Arial"/>
              </a:rPr>
              <a:t>ROLE : Pratique active.</a:t>
            </a:r>
          </a:p>
          <a:p>
            <a:r>
              <a:rPr sz="1000">
                <a:latin typeface="Arial"/>
              </a:rPr>
              <a:t>DUREE : 5 min</a:t>
            </a:r>
          </a:p>
          <a:p/>
          <a:p>
            <a:r>
              <a:rPr sz="1000">
                <a:latin typeface="Arial"/>
              </a:rPr>
              <a:t>Chaque mot repete 5 fois.</a:t>
            </a:r>
          </a:p>
          <a:p>
            <a:r>
              <a:rPr sz="1000">
                <a:latin typeface="Arial"/>
              </a:rPr>
              <a:t>Prof corrige en temps reel.</a:t>
            </a:r>
          </a:p>
          <a:p>
            <a:r>
              <a:rPr sz="1000">
                <a:latin typeface="Arial"/>
              </a:rPr>
              <a:t>Enregistrer si possible.</a:t>
            </a:r>
          </a:p>
          <a:p/>
          <a:p>
            <a:r>
              <a:rPr sz="1000">
                <a:latin typeface="Arial"/>
              </a:rPr>
              <a:t>TRANSITION : "Now let's practice with exercises."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WARM-UP</a:t>
            </a:r>
          </a:p>
          <a:p/>
          <a:p>
            <a:r>
              <a:rPr sz="1000">
                <a:latin typeface="Arial"/>
              </a:rPr>
              <a:t>ROLE : Activer connaissances.</a:t>
            </a:r>
          </a:p>
          <a:p>
            <a:r>
              <a:rPr sz="1000">
                <a:latin typeface="Arial"/>
              </a:rPr>
              <a:t>DUREE : 10 min</a:t>
            </a:r>
          </a:p>
          <a:p/>
          <a:p>
            <a:r>
              <a:rPr sz="1000">
                <a:latin typeface="Arial"/>
              </a:rPr>
              <a:t>Ingrid repond ORALEMENT sans notes.</a:t>
            </a:r>
          </a:p>
          <a:p>
            <a:r>
              <a:rPr sz="1000">
                <a:latin typeface="Arial"/>
              </a:rPr>
              <a:t>Ne pas interrompre.</a:t>
            </a:r>
          </a:p>
          <a:p>
            <a:r>
              <a:rPr sz="1000">
                <a:latin typeface="Arial"/>
              </a:rPr>
              <a:t>Max 2-3 corrections apres.</a:t>
            </a:r>
          </a:p>
          <a:p/>
          <a:p>
            <a:r>
              <a:rPr sz="1000">
                <a:latin typeface="Arial"/>
              </a:rPr>
              <a:t>TRANSITION : "Now let's look at new vocabulary."</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WARM-UP</a:t>
            </a:r>
          </a:p>
          <a:p/>
          <a:p>
            <a:r>
              <a:rPr sz="1000">
                <a:latin typeface="Arial"/>
              </a:rPr>
              <a:t>ROLE : Activer connaissances.</a:t>
            </a:r>
          </a:p>
          <a:p>
            <a:r>
              <a:rPr sz="1000">
                <a:latin typeface="Arial"/>
              </a:rPr>
              <a:t>DUREE : 10 min</a:t>
            </a:r>
          </a:p>
          <a:p/>
          <a:p>
            <a:r>
              <a:rPr sz="1000">
                <a:latin typeface="Arial"/>
              </a:rPr>
              <a:t>Ingrid repond ORALEMENT sans notes.</a:t>
            </a:r>
          </a:p>
          <a:p>
            <a:r>
              <a:rPr sz="1000">
                <a:latin typeface="Arial"/>
              </a:rPr>
              <a:t>Ne pas interrompre.</a:t>
            </a:r>
          </a:p>
          <a:p>
            <a:r>
              <a:rPr sz="1000">
                <a:latin typeface="Arial"/>
              </a:rPr>
              <a:t>Max 2-3 corrections apres.</a:t>
            </a:r>
          </a:p>
          <a:p/>
          <a:p>
            <a:r>
              <a:rPr sz="1000">
                <a:latin typeface="Arial"/>
              </a:rPr>
              <a:t>TRANSITION : "Now let's look at new vocabulary."</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WARM-UP</a:t>
            </a:r>
          </a:p>
          <a:p/>
          <a:p>
            <a:r>
              <a:rPr sz="1000">
                <a:latin typeface="Arial"/>
              </a:rPr>
              <a:t>ROLE : Activer connaissances.</a:t>
            </a:r>
          </a:p>
          <a:p>
            <a:r>
              <a:rPr sz="1000">
                <a:latin typeface="Arial"/>
              </a:rPr>
              <a:t>DUREE : 10 min</a:t>
            </a:r>
          </a:p>
          <a:p/>
          <a:p>
            <a:r>
              <a:rPr sz="1000">
                <a:latin typeface="Arial"/>
              </a:rPr>
              <a:t>Ingrid repond ORALEMENT sans notes.</a:t>
            </a:r>
          </a:p>
          <a:p>
            <a:r>
              <a:rPr sz="1000">
                <a:latin typeface="Arial"/>
              </a:rPr>
              <a:t>Ne pas interrompre.</a:t>
            </a:r>
          </a:p>
          <a:p>
            <a:r>
              <a:rPr sz="1000">
                <a:latin typeface="Arial"/>
              </a:rPr>
              <a:t>Max 2-3 corrections apres.</a:t>
            </a:r>
          </a:p>
          <a:p/>
          <a:p>
            <a:r>
              <a:rPr sz="1000">
                <a:latin typeface="Arial"/>
              </a:rPr>
              <a:t>TRANSITION : "Now let's look at new vocabulary."</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CONVERSATION (1)</a:t>
            </a:r>
          </a:p>
          <a:p/>
          <a:p>
            <a:r>
              <a:rPr sz="1000">
                <a:latin typeface="Arial"/>
              </a:rPr>
              <a:t>ROLE : Pratique orale.</a:t>
            </a:r>
          </a:p>
          <a:p>
            <a:r>
              <a:rPr sz="1000">
                <a:latin typeface="Arial"/>
              </a:rPr>
              <a:t>DUREE : 10-12 min</a:t>
            </a:r>
          </a:p>
          <a:p/>
          <a:p>
            <a:r>
              <a:rPr sz="1000">
                <a:latin typeface="Arial"/>
              </a:rPr>
              <a:t>Prof pose UNE question.</a:t>
            </a:r>
          </a:p>
          <a:p>
            <a:r>
              <a:rPr sz="1000">
                <a:latin typeface="Arial"/>
              </a:rPr>
              <a:t>Ingrid repond librement.</a:t>
            </a:r>
          </a:p>
          <a:p>
            <a:r>
              <a:rPr sz="1000">
                <a:latin typeface="Arial"/>
              </a:rPr>
              <a:t>NE PAS interrompre.</a:t>
            </a:r>
          </a:p>
          <a:p>
            <a:r>
              <a:rPr sz="1000">
                <a:latin typeface="Arial"/>
              </a:rPr>
              <a:t>Corriger 2-3 erreurs APRES.</a:t>
            </a:r>
          </a:p>
          <a:p/>
          <a:p>
            <a:r>
              <a:rPr sz="1000">
                <a:latin typeface="Arial"/>
              </a:rPr>
              <a:t>FOLLOW-UP : "Really? Tell me more."</a:t>
            </a:r>
          </a:p>
          <a:p/>
          <a:p>
            <a:r>
              <a:rPr sz="1000">
                <a:latin typeface="Arial"/>
              </a:rPr>
              <a:t>TRANSITION : "Now let's listen to a short text."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CONVERSATION (2)</a:t>
            </a:r>
          </a:p>
          <a:p/>
          <a:p>
            <a:r>
              <a:rPr sz="1000">
                <a:latin typeface="Arial"/>
              </a:rPr>
              <a:t>ROLE : Pratique orale.</a:t>
            </a:r>
          </a:p>
          <a:p>
            <a:r>
              <a:rPr sz="1000">
                <a:latin typeface="Arial"/>
              </a:rPr>
              <a:t>DUREE : 10-12 min</a:t>
            </a:r>
          </a:p>
          <a:p/>
          <a:p>
            <a:r>
              <a:rPr sz="1000">
                <a:latin typeface="Arial"/>
              </a:rPr>
              <a:t>Prof pose UNE question.</a:t>
            </a:r>
          </a:p>
          <a:p>
            <a:r>
              <a:rPr sz="1000">
                <a:latin typeface="Arial"/>
              </a:rPr>
              <a:t>Ingrid repond librement.</a:t>
            </a:r>
          </a:p>
          <a:p>
            <a:r>
              <a:rPr sz="1000">
                <a:latin typeface="Arial"/>
              </a:rPr>
              <a:t>NE PAS interrompre.</a:t>
            </a:r>
          </a:p>
          <a:p>
            <a:r>
              <a:rPr sz="1000">
                <a:latin typeface="Arial"/>
              </a:rPr>
              <a:t>Corriger 2-3 erreurs APRES.</a:t>
            </a:r>
          </a:p>
          <a:p/>
          <a:p>
            <a:r>
              <a:rPr sz="1000">
                <a:latin typeface="Arial"/>
              </a:rPr>
              <a:t>FOLLOW-UP : "Really? Tell me more."</a:t>
            </a:r>
          </a:p>
          <a:p/>
          <a:p>
            <a:r>
              <a:rPr sz="1000">
                <a:latin typeface="Arial"/>
              </a:rPr>
              <a:t>TRANSITION : "Now let's listen to a short text."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LISTENING TEXT : Text</a:t>
            </a:r>
          </a:p>
          <a:p/>
          <a:p>
            <a:r>
              <a:rPr sz="1000">
                <a:latin typeface="Arial"/>
              </a:rPr>
              <a:t>ROLE : Comprehension.</a:t>
            </a:r>
          </a:p>
          <a:p>
            <a:r>
              <a:rPr sz="1000">
                <a:latin typeface="Arial"/>
              </a:rPr>
              <a:t>DUREE : 4 min</a:t>
            </a:r>
          </a:p>
          <a:p/>
          <a:p>
            <a:r>
              <a:rPr sz="1000">
                <a:latin typeface="Arial"/>
              </a:rPr>
              <a:t>2 LECTURES :</a:t>
            </a:r>
          </a:p>
          <a:p>
            <a:r>
              <a:rPr sz="1000">
                <a:latin typeface="Arial"/>
              </a:rPr>
              <a:t>1ere : GLOBALE (sans ecrire)</a:t>
            </a:r>
          </a:p>
          <a:p>
            <a:r>
              <a:rPr sz="1000">
                <a:latin typeface="Arial"/>
              </a:rPr>
              <a:t>2eme : DETAILLEE</a:t>
            </a:r>
          </a:p>
          <a:p/>
          <a:p>
            <a:r>
              <a:rPr sz="1000">
                <a:latin typeface="Arial"/>
              </a:rPr>
              <a:t>NE PAS montrer le texte.</a:t>
            </a:r>
          </a:p>
          <a:p>
            <a:r>
              <a:rPr sz="1000">
                <a:latin typeface="Arial"/>
              </a:rPr>
              <a:t>LIRE lentement.</a:t>
            </a:r>
          </a:p>
          <a:p/>
          <a:p>
            <a:r>
              <a:rPr sz="1000">
                <a:latin typeface="Arial"/>
              </a:rPr>
              <a:t>TRANSITION : "Now let's answer the questions."</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LISTENING QUESTIONS</a:t>
            </a:r>
          </a:p>
          <a:p/>
          <a:p>
            <a:r>
              <a:rPr sz="1000">
                <a:latin typeface="Arial"/>
              </a:rPr>
              <a:t>ROLE : Comprehension detaillee.</a:t>
            </a:r>
          </a:p>
          <a:p>
            <a:r>
              <a:rPr sz="1000">
                <a:latin typeface="Arial"/>
              </a:rPr>
              <a:t>DUREE : 4 min</a:t>
            </a:r>
          </a:p>
          <a:p/>
          <a:p>
            <a:r>
              <a:rPr sz="1000">
                <a:latin typeface="Arial"/>
              </a:rPr>
              <a:t>Ingrid repond en PHRASE COMPLETE.</a:t>
            </a:r>
          </a:p>
          <a:p>
            <a:r>
              <a:rPr sz="1000">
                <a:latin typeface="Arial"/>
              </a:rPr>
              <a:t>Corriger apres.</a:t>
            </a:r>
          </a:p>
          <a:p/>
          <a:p>
            <a:r>
              <a:rPr sz="1000">
                <a:latin typeface="Arial"/>
              </a:rPr>
              <a:t>TRANSITION : "Now it's your turn to speak."</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SPEAKING CHALLENGE : Challenge</a:t>
            </a:r>
          </a:p>
          <a:p/>
          <a:p>
            <a:r>
              <a:rPr sz="1000">
                <a:latin typeface="Arial"/>
              </a:rPr>
              <a:t>ROLE : Production orale.</a:t>
            </a:r>
          </a:p>
          <a:p>
            <a:r>
              <a:rPr sz="1000">
                <a:latin typeface="Arial"/>
              </a:rPr>
              <a:t>DUREE : 10 min</a:t>
            </a:r>
          </a:p>
          <a:p/>
          <a:p>
            <a:r>
              <a:rPr sz="1000">
                <a:latin typeface="Arial"/>
              </a:rPr>
              <a:t>TIMING :</a:t>
            </a:r>
          </a:p>
          <a:p>
            <a:r>
              <a:rPr sz="1000">
                <a:latin typeface="Arial"/>
              </a:rPr>
              <a:t>- 0:45 Explication</a:t>
            </a:r>
          </a:p>
          <a:p>
            <a:r>
              <a:rPr sz="1000">
                <a:latin typeface="Arial"/>
              </a:rPr>
              <a:t>- 0:45 Preparation mentale (silence)</a:t>
            </a:r>
          </a:p>
          <a:p>
            <a:r>
              <a:rPr sz="1000">
                <a:latin typeface="Arial"/>
              </a:rPr>
              <a:t>- 2:00 Monologue</a:t>
            </a:r>
          </a:p>
          <a:p>
            <a:r>
              <a:rPr sz="1000">
                <a:latin typeface="Arial"/>
              </a:rPr>
              <a:t>- 2:00 Feedback (2+1)</a:t>
            </a:r>
          </a:p>
          <a:p>
            <a:r>
              <a:rPr sz="1000">
                <a:latin typeface="Arial"/>
              </a:rPr>
              <a:t>- 0:30 Re-record</a:t>
            </a:r>
          </a:p>
          <a:p/>
          <a:p>
            <a:r>
              <a:rPr sz="1000">
                <a:latin typeface="Arial"/>
              </a:rPr>
              <a:t>SCRIPT :</a:t>
            </a:r>
          </a:p>
          <a:p>
            <a:r>
              <a:rPr sz="1000">
                <a:latin typeface="Arial"/>
              </a:rPr>
              <a:t>"Okay Ingrid, YOUR turn.</a:t>
            </a:r>
          </a:p>
          <a:p>
            <a:r>
              <a:rPr sz="1000">
                <a:latin typeface="Arial"/>
              </a:rPr>
              <a:t>Talk for 1 minutes.</a:t>
            </a:r>
          </a:p>
          <a:p>
            <a:r>
              <a:rPr sz="1000">
                <a:latin typeface="Arial"/>
              </a:rPr>
              <a:t>Use: Past Simple (-ed) and Was/Were.</a:t>
            </a:r>
          </a:p>
          <a:p>
            <a:r>
              <a:rPr sz="1000">
                <a:latin typeface="Arial"/>
              </a:rPr>
              <a:t>Take 45 sec to think. Ready?"</a:t>
            </a:r>
          </a:p>
          <a:p/>
          <a:p>
            <a:r>
              <a:rPr sz="1000">
                <a:latin typeface="Arial"/>
              </a:rPr>
              <a:t>OBSERVER :</a:t>
            </a:r>
          </a:p>
          <a:p>
            <a:r>
              <a:rPr sz="1000">
                <a:latin typeface="Arial"/>
              </a:rPr>
              <a:t>- Past Simple (-ed) min 3 fois</a:t>
            </a:r>
          </a:p>
          <a:p>
            <a:r>
              <a:rPr sz="1000">
                <a:latin typeface="Arial"/>
              </a:rPr>
              <a:t>- Was/Were min 3 fois</a:t>
            </a:r>
          </a:p>
          <a:p>
            <a:r>
              <a:rPr sz="1000">
                <a:latin typeface="Arial"/>
              </a:rPr>
              <a:t>- Duree 60-90 sec</a:t>
            </a:r>
          </a:p>
          <a:p>
            <a:r>
              <a:rPr sz="1000">
                <a:latin typeface="Arial"/>
              </a:rPr>
              <a:t>- Pauses &lt; 5 sec</a:t>
            </a:r>
          </a:p>
          <a:p/>
          <a:p>
            <a:r>
              <a:rPr sz="1000">
                <a:latin typeface="Arial"/>
              </a:rPr>
              <a:t>FEEDBACK (2+1) :</a:t>
            </a:r>
          </a:p>
          <a:p>
            <a:r>
              <a:rPr sz="1000">
                <a:latin typeface="Arial"/>
              </a:rPr>
              <a:t>1. Compliment CONCRET</a:t>
            </a:r>
          </a:p>
          <a:p>
            <a:r>
              <a:rPr sz="1000">
                <a:latin typeface="Arial"/>
              </a:rPr>
              <a:t>2. Compliment CONCRET</a:t>
            </a:r>
          </a:p>
          <a:p>
            <a:r>
              <a:rPr sz="1000">
                <a:latin typeface="Arial"/>
              </a:rPr>
              <a:t>3. UNE correction -&gt; repeter 2 fois</a:t>
            </a:r>
          </a:p>
          <a:p/>
          <a:p>
            <a:r>
              <a:rPr sz="1000">
                <a:latin typeface="Arial"/>
              </a:rPr>
              <a:t>NE PAS interrompre.</a:t>
            </a:r>
          </a:p>
          <a:p/>
          <a:p>
            <a:r>
              <a:rPr sz="1000">
                <a:latin typeface="Arial"/>
              </a:rPr>
              <a:t>TRANSITION : "Now let's write about this."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WRITING REQUIREMENTS</a:t>
            </a:r>
          </a:p>
          <a:p/>
          <a:p>
            <a:r>
              <a:rPr sz="1000">
                <a:latin typeface="Arial"/>
              </a:rPr>
              <a:t>ROLE : Preparer ecrit.</a:t>
            </a:r>
          </a:p>
          <a:p>
            <a:r>
              <a:rPr sz="1000">
                <a:latin typeface="Arial"/>
              </a:rPr>
              <a:t>DUREE : 3 min</a:t>
            </a:r>
          </a:p>
          <a:p/>
          <a:p>
            <a:r>
              <a:rPr sz="1000">
                <a:latin typeface="Arial"/>
              </a:rPr>
              <a:t>5 ETAPES :</a:t>
            </a:r>
          </a:p>
          <a:p>
            <a:r>
              <a:rPr sz="1000">
                <a:latin typeface="Arial"/>
              </a:rPr>
              <a:t>1. Brainstorming (3 min)</a:t>
            </a:r>
          </a:p>
          <a:p>
            <a:r>
              <a:rPr sz="1000">
                <a:latin typeface="Arial"/>
              </a:rPr>
              <a:t>2. Borrador (10 min)</a:t>
            </a:r>
          </a:p>
          <a:p>
            <a:r>
              <a:rPr sz="1000">
                <a:latin typeface="Arial"/>
              </a:rPr>
              <a:t>3. Revision (5 min)</a:t>
            </a:r>
          </a:p>
          <a:p>
            <a:r>
              <a:rPr sz="1000">
                <a:latin typeface="Arial"/>
              </a:rPr>
              <a:t>4. Edicion (5 min)</a:t>
            </a:r>
          </a:p>
          <a:p>
            <a:r>
              <a:rPr sz="1000">
                <a:latin typeface="Arial"/>
              </a:rPr>
              <a:t>5. Publicacion (5 min)</a:t>
            </a:r>
          </a:p>
          <a:p/>
          <a:p>
            <a:r>
              <a:rPr sz="1000">
                <a:latin typeface="Arial"/>
              </a:rPr>
              <a:t>FOCUS : Past Simple (-ed) + Was/Were</a:t>
            </a:r>
          </a:p>
          <a:p/>
          <a:p>
            <a:r>
              <a:rPr sz="1000">
                <a:latin typeface="Arial"/>
              </a:rPr>
              <a:t>NE PAS ecrire a sa place.</a:t>
            </a:r>
          </a:p>
          <a:p/>
          <a:p>
            <a:r>
              <a:rPr sz="1000">
                <a:latin typeface="Arial"/>
              </a:rPr>
              <a:t>TRANSITION : "Now let's look at the template."</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WRITING TEMPLATE</a:t>
            </a:r>
          </a:p>
          <a:p/>
          <a:p>
            <a:r>
              <a:rPr sz="1000">
                <a:latin typeface="Arial"/>
              </a:rPr>
              <a:t>ROLE : Guide structurel.</a:t>
            </a:r>
          </a:p>
          <a:p>
            <a:r>
              <a:rPr sz="1000">
                <a:latin typeface="Arial"/>
              </a:rPr>
              <a:t>DUREE : 2 min</a:t>
            </a:r>
          </a:p>
          <a:p/>
          <a:p>
            <a:r>
              <a:rPr sz="1000">
                <a:latin typeface="Arial"/>
              </a:rPr>
              <a:t>Ingrid ecrit sur papier.</a:t>
            </a:r>
          </a:p>
          <a:p>
            <a:r>
              <a:rPr sz="1000">
                <a:latin typeface="Arial"/>
              </a:rPr>
              <a:t>Suit le template.</a:t>
            </a:r>
          </a:p>
          <a:p>
            <a:r>
              <a:rPr sz="1000">
                <a:latin typeface="Arial"/>
              </a:rPr>
              <a:t>Complete les blancs.</a:t>
            </a:r>
          </a:p>
          <a:p/>
          <a:p>
            <a:r>
              <a:rPr sz="1000">
                <a:latin typeface="Arial"/>
              </a:rPr>
              <a:t>VERIFIER a la fin.</a:t>
            </a:r>
          </a:p>
          <a:p/>
          <a:p>
            <a:r>
              <a:rPr sz="1000">
                <a:latin typeface="Arial"/>
              </a:rPr>
              <a:t>TRANSITION : "Now let's check your progress."</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CHECKPOINT</a:t>
            </a:r>
          </a:p>
          <a:p/>
          <a:p>
            <a:r>
              <a:rPr sz="1000">
                <a:latin typeface="Arial"/>
              </a:rPr>
              <a:t>ROLE : Auto-evaluation.</a:t>
            </a:r>
          </a:p>
          <a:p>
            <a:r>
              <a:rPr sz="1000">
                <a:latin typeface="Arial"/>
              </a:rPr>
              <a:t>DUREE : 5 min</a:t>
            </a:r>
          </a:p>
          <a:p/>
          <a:p>
            <a:r>
              <a:rPr sz="1000">
                <a:latin typeface="Arial"/>
              </a:rPr>
              <a:t>Lire chaque critere.</a:t>
            </a:r>
          </a:p>
          <a:p>
            <a:r>
              <a:rPr sz="1000">
                <a:latin typeface="Arial"/>
              </a:rPr>
              <a:t>Ingrid repond honnetement.</a:t>
            </a:r>
          </a:p>
          <a:p/>
          <a:p>
            <a:r>
              <a:rPr sz="1000">
                <a:latin typeface="Arial"/>
              </a:rPr>
              <a:t>NE PAS juger.</a:t>
            </a:r>
          </a:p>
          <a:p/>
          <a:p>
            <a:r>
              <a:rPr sz="1000">
                <a:latin typeface="Arial"/>
              </a:rPr>
              <a:t>TRANSITION : "Now let's reflect."</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VOCABULARY (1)</a:t>
            </a:r>
          </a:p>
          <a:p/>
          <a:p>
            <a:r>
              <a:rPr sz="1000">
                <a:latin typeface="Arial"/>
              </a:rPr>
              <a:t>ROLE : Introduire vocabulaire.</a:t>
            </a:r>
          </a:p>
          <a:p>
            <a:r>
              <a:rPr sz="1000">
                <a:latin typeface="Arial"/>
              </a:rPr>
              <a:t>DUREE : 8-10 min</a:t>
            </a:r>
          </a:p>
          <a:p/>
          <a:p>
            <a:r>
              <a:rPr sz="1000">
                <a:latin typeface="Arial"/>
              </a:rPr>
              <a:t>METHODE 3 ETAPES :</a:t>
            </a:r>
          </a:p>
          <a:p>
            <a:r>
              <a:rPr sz="1000">
                <a:latin typeface="Arial"/>
              </a:rPr>
              <a:t>1. Prof dit -&gt; Ingrid repete</a:t>
            </a:r>
          </a:p>
          <a:p>
            <a:r>
              <a:rPr sz="1000">
                <a:latin typeface="Arial"/>
              </a:rPr>
              <a:t>2. Prof traduit</a:t>
            </a:r>
          </a:p>
          <a:p>
            <a:r>
              <a:rPr sz="1000">
                <a:latin typeface="Arial"/>
              </a:rPr>
              <a:t>3. Ingrid fait une phrase</a:t>
            </a:r>
          </a:p>
          <a:p/>
          <a:p>
            <a:r>
              <a:rPr sz="1000">
                <a:latin typeface="Arial"/>
              </a:rPr>
              <a:t>NE PAS lire simplement.</a:t>
            </a:r>
          </a:p>
          <a:p>
            <a:r>
              <a:rPr sz="1000">
                <a:latin typeface="Arial"/>
              </a:rPr>
              <a:t>TOUJOURS prononcer + utiliser.</a:t>
            </a:r>
          </a:p>
          <a:p/>
          <a:p>
            <a:r>
              <a:rPr sz="1000">
                <a:latin typeface="Arial"/>
              </a:rPr>
              <a:t>TRANSITION : "Now let's look at common mistakes."</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PRACTICE (1)</a:t>
            </a:r>
          </a:p>
          <a:p/>
          <a:p>
            <a:r>
              <a:rPr sz="1000">
                <a:latin typeface="Arial"/>
              </a:rPr>
              <a:t>ROLE : Pratique controlee.</a:t>
            </a:r>
          </a:p>
          <a:p>
            <a:r>
              <a:rPr sz="1000">
                <a:latin typeface="Arial"/>
              </a:rPr>
              <a:t>DUREE : 8-10 min</a:t>
            </a:r>
          </a:p>
          <a:p/>
          <a:p>
            <a:r>
              <a:rPr sz="1000">
                <a:latin typeface="Arial"/>
              </a:rPr>
              <a:t>1. ORAL d'abord</a:t>
            </a:r>
          </a:p>
          <a:p>
            <a:r>
              <a:rPr sz="1000">
                <a:latin typeface="Arial"/>
              </a:rPr>
              <a:t>2. ECRIT ensuite</a:t>
            </a:r>
          </a:p>
          <a:p>
            <a:r>
              <a:rPr sz="1000">
                <a:latin typeface="Arial"/>
              </a:rPr>
              <a:t>3. CORRECTION en temps reel</a:t>
            </a:r>
          </a:p>
          <a:p/>
          <a:p>
            <a:r>
              <a:rPr sz="1000">
                <a:latin typeface="Arial"/>
              </a:rPr>
              <a:t>Ne pas donner la reponse.</a:t>
            </a:r>
          </a:p>
          <a:p>
            <a:r>
              <a:rPr sz="1000">
                <a:latin typeface="Arial"/>
              </a:rPr>
              <a:t>Laisser 5-10 secondes.</a:t>
            </a:r>
          </a:p>
          <a:p>
            <a:r>
              <a:rPr sz="1000">
                <a:latin typeface="Arial"/>
              </a:rPr>
              <a:t>MAX 3 corrections.</a:t>
            </a:r>
          </a:p>
          <a:p/>
          <a:p>
            <a:r>
              <a:rPr sz="1000">
                <a:latin typeface="Arial"/>
              </a:rPr>
              <a:t>TRANSITION : "Now let's use these in conversation."</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PRONUNCIATION</a:t>
            </a:r>
          </a:p>
          <a:p/>
          <a:p>
            <a:r>
              <a:rPr sz="1000">
                <a:latin typeface="Arial"/>
              </a:rPr>
              <a:t>ROLE : Pratique active.</a:t>
            </a:r>
          </a:p>
          <a:p>
            <a:r>
              <a:rPr sz="1000">
                <a:latin typeface="Arial"/>
              </a:rPr>
              <a:t>DUREE : 5 min</a:t>
            </a:r>
          </a:p>
          <a:p/>
          <a:p>
            <a:r>
              <a:rPr sz="1000">
                <a:latin typeface="Arial"/>
              </a:rPr>
              <a:t>Chaque mot repete 5 fois.</a:t>
            </a:r>
          </a:p>
          <a:p>
            <a:r>
              <a:rPr sz="1000">
                <a:latin typeface="Arial"/>
              </a:rPr>
              <a:t>Prof corrige en temps reel.</a:t>
            </a:r>
          </a:p>
          <a:p>
            <a:r>
              <a:rPr sz="1000">
                <a:latin typeface="Arial"/>
              </a:rPr>
              <a:t>Enregistrer si possible.</a:t>
            </a:r>
          </a:p>
          <a:p/>
          <a:p>
            <a:r>
              <a:rPr sz="1000">
                <a:latin typeface="Arial"/>
              </a:rPr>
              <a:t>TRANSITION : "Now let's practice with exercises."</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THANKS</a:t>
            </a:r>
          </a:p>
          <a:p/>
          <a:p>
            <a:r>
              <a:rPr sz="1000">
                <a:latin typeface="Arial"/>
              </a:rPr>
              <a:t>ROLE : Cloture.</a:t>
            </a:r>
          </a:p>
          <a:p>
            <a:r>
              <a:rPr sz="1000">
                <a:latin typeface="Arial"/>
              </a:rPr>
              <a:t>DUREE : 2 min</a:t>
            </a:r>
          </a:p>
          <a:p/>
          <a:p>
            <a:r>
              <a:rPr sz="1000">
                <a:latin typeface="Arial"/>
              </a:rPr>
              <a:t>SCRIPT :</a:t>
            </a:r>
          </a:p>
          <a:p>
            <a:r>
              <a:rPr sz="1000">
                <a:latin typeface="Arial"/>
              </a:rPr>
              <a:t>"Excellent work today, Ingrid!</a:t>
            </a:r>
          </a:p>
          <a:p>
            <a:r>
              <a:rPr sz="1000">
                <a:latin typeface="Arial"/>
              </a:rPr>
              <a:t>You've completed Class 02.</a:t>
            </a:r>
          </a:p>
          <a:p>
            <a:r>
              <a:rPr sz="1000">
                <a:latin typeface="Arial"/>
              </a:rPr>
              <a:t>See you next time."</a:t>
            </a:r>
          </a:p>
          <a:p/>
          <a:p>
            <a:r>
              <a:rPr sz="1000">
                <a:latin typeface="Arial"/>
              </a:rPr>
              <a:t>Rappeler : Class 03</a:t>
            </a:r>
          </a:p>
          <a:p/>
          <a:p>
            <a:r>
              <a:rPr sz="1000">
                <a:latin typeface="Arial"/>
              </a:rPr>
              <a:t>TERMINER sur une note positive.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01</a:t>
            </a:r>
          </a:p>
        </p:txBody>
      </p:sp>
      <p:sp>
        <p:nvSpPr>
          <p:cNvPr id="3" name="TextBox 2"/>
          <p:cNvSpPr txBox="1"/>
          <p:nvPr/>
        </p:nvSpPr>
        <p:spPr>
          <a:xfrm>
            <a:off x="548640" y="2011680"/>
            <a:ext cx="8046720" cy="1645920"/>
          </a:xfrm>
          <a:prstGeom prst="rect">
            <a:avLst/>
          </a:prstGeom>
          <a:noFill/>
        </p:spPr>
        <p:txBody>
          <a:bodyPr wrap="square" anchor="ctr">
            <a:spAutoFit/>
          </a:bodyPr>
          <a:lstStyle/>
          <a:p>
            <a:pPr algn="ctr">
              <a:lnSpc>
                <a:spcPct val="100000"/>
              </a:lnSpc>
            </a:pPr>
            <a:r>
              <a:rPr sz="4800" b="1" i="0">
                <a:solidFill>
                  <a:srgbClr val="3D1F5C"/>
                </a:solidFill>
                <a:latin typeface="Arial"/>
              </a:rPr>
              <a:t>YESTERDAY &amp; LAST WEEKEND</a:t>
            </a:r>
          </a:p>
        </p:txBody>
      </p:sp>
      <p:sp>
        <p:nvSpPr>
          <p:cNvPr id="4" name="TextBox 3"/>
          <p:cNvSpPr txBox="1"/>
          <p:nvPr/>
        </p:nvSpPr>
        <p:spPr>
          <a:xfrm>
            <a:off x="548640" y="3840480"/>
            <a:ext cx="8046720" cy="1828800"/>
          </a:xfrm>
          <a:prstGeom prst="rect">
            <a:avLst/>
          </a:prstGeom>
          <a:noFill/>
        </p:spPr>
        <p:txBody>
          <a:bodyPr wrap="square" anchor="ctr">
            <a:spAutoFit/>
          </a:bodyPr>
          <a:lstStyle/>
          <a:p>
            <a:pPr algn="ctr">
              <a:lnSpc>
                <a:spcPct val="100000"/>
              </a:lnSpc>
            </a:pPr>
            <a:r>
              <a:rPr sz="2200" b="0" i="0">
                <a:solidFill>
                  <a:srgbClr val="000000"/>
                </a:solidFill>
                <a:latin typeface="Arial"/>
              </a:rPr>
              <a:t>Ingrid - English - Class 02</a:t>
            </a:r>
          </a:p>
          <a:p>
            <a:pPr algn="ctr">
              <a:lnSpc>
                <a:spcPct val="100000"/>
              </a:lnSpc>
            </a:pPr>
            <a:r>
              <a:rPr sz="2200" b="0" i="0">
                <a:solidFill>
                  <a:srgbClr val="000000"/>
                </a:solidFill>
                <a:latin typeface="Arial"/>
              </a:rPr>
              <a:t>Profesor: Jean Thomas</a:t>
            </a:r>
          </a:p>
        </p:txBody>
      </p:sp>
      <p:sp>
        <p:nvSpPr>
          <p:cNvPr id="5" name="Rounded Rectangle 4"/>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Welcome!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02</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OVERVIEW — Today's Objectives</a:t>
            </a:r>
          </a:p>
        </p:txBody>
      </p:sp>
      <p:sp>
        <p:nvSpPr>
          <p:cNvPr id="4" name="TextBox 3"/>
          <p:cNvSpPr txBox="1"/>
          <p:nvPr/>
        </p:nvSpPr>
        <p:spPr>
          <a:xfrm>
            <a:off x="548640" y="1508760"/>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01.</a:t>
            </a:r>
          </a:p>
        </p:txBody>
      </p:sp>
      <p:sp>
        <p:nvSpPr>
          <p:cNvPr id="5" name="TextBox 4"/>
          <p:cNvSpPr txBox="1"/>
          <p:nvPr/>
        </p:nvSpPr>
        <p:spPr>
          <a:xfrm>
            <a:off x="1463040" y="1508760"/>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Talk about finished actions</a:t>
            </a:r>
          </a:p>
        </p:txBody>
      </p:sp>
      <p:sp>
        <p:nvSpPr>
          <p:cNvPr id="6" name="TextBox 5"/>
          <p:cNvSpPr txBox="1"/>
          <p:nvPr/>
        </p:nvSpPr>
        <p:spPr>
          <a:xfrm>
            <a:off x="548640" y="2221992"/>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02.</a:t>
            </a:r>
          </a:p>
        </p:txBody>
      </p:sp>
      <p:sp>
        <p:nvSpPr>
          <p:cNvPr id="7" name="TextBox 6"/>
          <p:cNvSpPr txBox="1"/>
          <p:nvPr/>
        </p:nvSpPr>
        <p:spPr>
          <a:xfrm>
            <a:off x="1463040" y="2221992"/>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Use Past Simple (-ed)</a:t>
            </a:r>
          </a:p>
        </p:txBody>
      </p:sp>
      <p:sp>
        <p:nvSpPr>
          <p:cNvPr id="8" name="TextBox 7"/>
          <p:cNvSpPr txBox="1"/>
          <p:nvPr/>
        </p:nvSpPr>
        <p:spPr>
          <a:xfrm>
            <a:off x="548640" y="2935224"/>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03.</a:t>
            </a:r>
          </a:p>
        </p:txBody>
      </p:sp>
      <p:sp>
        <p:nvSpPr>
          <p:cNvPr id="9" name="TextBox 8"/>
          <p:cNvSpPr txBox="1"/>
          <p:nvPr/>
        </p:nvSpPr>
        <p:spPr>
          <a:xfrm>
            <a:off x="1463040" y="2935224"/>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Use was/were correctly</a:t>
            </a:r>
          </a:p>
        </p:txBody>
      </p:sp>
      <p:sp>
        <p:nvSpPr>
          <p:cNvPr id="10" name="TextBox 9"/>
          <p:cNvSpPr txBox="1"/>
          <p:nvPr/>
        </p:nvSpPr>
        <p:spPr>
          <a:xfrm>
            <a:off x="548640" y="3648456"/>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04.</a:t>
            </a:r>
          </a:p>
        </p:txBody>
      </p:sp>
      <p:sp>
        <p:nvSpPr>
          <p:cNvPr id="11" name="TextBox 10"/>
          <p:cNvSpPr txBox="1"/>
          <p:nvPr/>
        </p:nvSpPr>
        <p:spPr>
          <a:xfrm>
            <a:off x="1463040" y="3648456"/>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Make questions with Did</a:t>
            </a:r>
          </a:p>
        </p:txBody>
      </p:sp>
      <p:sp>
        <p:nvSpPr>
          <p:cNvPr id="12" name="TextBox 11"/>
          <p:cNvSpPr txBox="1"/>
          <p:nvPr/>
        </p:nvSpPr>
        <p:spPr>
          <a:xfrm>
            <a:off x="548640" y="4361688"/>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05.</a:t>
            </a:r>
          </a:p>
        </p:txBody>
      </p:sp>
      <p:sp>
        <p:nvSpPr>
          <p:cNvPr id="13" name="TextBox 12"/>
          <p:cNvSpPr txBox="1"/>
          <p:nvPr/>
        </p:nvSpPr>
        <p:spPr>
          <a:xfrm>
            <a:off x="1463040" y="4361688"/>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Use didn't for negatives</a:t>
            </a:r>
          </a:p>
        </p:txBody>
      </p:sp>
      <p:sp>
        <p:nvSpPr>
          <p:cNvPr id="14" name="TextBox 13"/>
          <p:cNvSpPr txBox="1"/>
          <p:nvPr/>
        </p:nvSpPr>
        <p:spPr>
          <a:xfrm>
            <a:off x="548640" y="5074920"/>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06.</a:t>
            </a:r>
          </a:p>
        </p:txBody>
      </p:sp>
      <p:sp>
        <p:nvSpPr>
          <p:cNvPr id="15" name="TextBox 14"/>
          <p:cNvSpPr txBox="1"/>
          <p:nvPr/>
        </p:nvSpPr>
        <p:spPr>
          <a:xfrm>
            <a:off x="1463040" y="5074920"/>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Speak 1-2 min about yesterday</a:t>
            </a:r>
          </a:p>
        </p:txBody>
      </p:sp>
      <p:sp>
        <p:nvSpPr>
          <p:cNvPr id="16" name="Rounded Rectangle 15"/>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GOAL: Speak with confidence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03</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SPEAKING — Answer orally</a:t>
            </a:r>
          </a:p>
        </p:txBody>
      </p:sp>
      <p:sp>
        <p:nvSpPr>
          <p:cNvPr id="4" name="Rounded Rectangle 3"/>
          <p:cNvSpPr/>
          <p:nvPr/>
        </p:nvSpPr>
        <p:spPr>
          <a:xfrm>
            <a:off x="548640" y="155448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  What time did you wake up yesterday?</a:t>
            </a:r>
          </a:p>
        </p:txBody>
      </p:sp>
      <p:sp>
        <p:nvSpPr>
          <p:cNvPr id="6" name="Rounded Rectangle 5"/>
          <p:cNvSpPr/>
          <p:nvPr/>
        </p:nvSpPr>
        <p:spPr>
          <a:xfrm>
            <a:off x="548640" y="2450591"/>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50591"/>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  What did you have for breakfast?</a:t>
            </a:r>
          </a:p>
        </p:txBody>
      </p:sp>
      <p:sp>
        <p:nvSpPr>
          <p:cNvPr id="8" name="Rounded Rectangle 7"/>
          <p:cNvSpPr/>
          <p:nvPr/>
        </p:nvSpPr>
        <p:spPr>
          <a:xfrm>
            <a:off x="548640" y="3346703"/>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346703"/>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  Did you go to school?</a:t>
            </a:r>
          </a:p>
        </p:txBody>
      </p:sp>
      <p:sp>
        <p:nvSpPr>
          <p:cNvPr id="10" name="Rounded Rectangle 9"/>
          <p:cNvSpPr/>
          <p:nvPr/>
        </p:nvSpPr>
        <p:spPr>
          <a:xfrm>
            <a:off x="548640" y="4242816"/>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242816"/>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  What did you do after school?</a:t>
            </a:r>
          </a:p>
        </p:txBody>
      </p:sp>
      <p:sp>
        <p:nvSpPr>
          <p:cNvPr id="12" name="Rounded Rectangle 11"/>
          <p:cNvSpPr/>
          <p:nvPr/>
        </p:nvSpPr>
        <p:spPr>
          <a:xfrm>
            <a:off x="548640" y="5138927"/>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138927"/>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  What time did you go to bed?</a:t>
            </a:r>
          </a:p>
        </p:txBody>
      </p:sp>
      <p:sp>
        <p:nvSpPr>
          <p:cNvPr id="14" name="Rounded Rectangle 13"/>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Speak without looking at your notes.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04</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VOCABULARY — Past Activities (1/4)</a:t>
            </a:r>
          </a:p>
        </p:txBody>
      </p:sp>
      <p:sp>
        <p:nvSpPr>
          <p:cNvPr id="4" name="Rounded Rectangle 3"/>
          <p:cNvSpPr/>
          <p:nvPr/>
        </p:nvSpPr>
        <p:spPr>
          <a:xfrm>
            <a:off x="548640" y="150876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8191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yesterday</a:t>
            </a:r>
          </a:p>
        </p:txBody>
      </p:sp>
      <p:sp>
        <p:nvSpPr>
          <p:cNvPr id="6" name="TextBox 5"/>
          <p:cNvSpPr txBox="1"/>
          <p:nvPr/>
        </p:nvSpPr>
        <p:spPr>
          <a:xfrm>
            <a:off x="4389120" y="158191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ayer</a:t>
            </a:r>
          </a:p>
        </p:txBody>
      </p:sp>
      <p:sp>
        <p:nvSpPr>
          <p:cNvPr id="7" name="Rounded Rectangle 6"/>
          <p:cNvSpPr/>
          <p:nvPr/>
        </p:nvSpPr>
        <p:spPr>
          <a:xfrm>
            <a:off x="6858000" y="158191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58191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9" name="TextBox 8"/>
          <p:cNvSpPr txBox="1"/>
          <p:nvPr/>
        </p:nvSpPr>
        <p:spPr>
          <a:xfrm>
            <a:off x="822959" y="196596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yesterday morning  + yesterday evening</a:t>
            </a:r>
          </a:p>
        </p:txBody>
      </p:sp>
      <p:sp>
        <p:nvSpPr>
          <p:cNvPr id="10" name="TextBox 9"/>
          <p:cNvSpPr txBox="1"/>
          <p:nvPr/>
        </p:nvSpPr>
        <p:spPr>
          <a:xfrm>
            <a:off x="822959" y="225856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"Yesterday I watched a movie."</a:t>
            </a:r>
          </a:p>
        </p:txBody>
      </p:sp>
      <p:sp>
        <p:nvSpPr>
          <p:cNvPr id="11" name="TextBox 10"/>
          <p:cNvSpPr txBox="1"/>
          <p:nvPr/>
        </p:nvSpPr>
        <p:spPr>
          <a:xfrm>
            <a:off x="822959" y="251460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'the yesterday'</a:t>
            </a:r>
          </a:p>
        </p:txBody>
      </p:sp>
      <p:sp>
        <p:nvSpPr>
          <p:cNvPr id="12" name="Rounded Rectangle 11"/>
          <p:cNvSpPr/>
          <p:nvPr/>
        </p:nvSpPr>
        <p:spPr>
          <a:xfrm>
            <a:off x="548640" y="292608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9923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last night</a:t>
            </a:r>
          </a:p>
        </p:txBody>
      </p:sp>
      <p:sp>
        <p:nvSpPr>
          <p:cNvPr id="14" name="TextBox 13"/>
          <p:cNvSpPr txBox="1"/>
          <p:nvPr/>
        </p:nvSpPr>
        <p:spPr>
          <a:xfrm>
            <a:off x="4389120" y="299923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anoche</a:t>
            </a:r>
          </a:p>
        </p:txBody>
      </p:sp>
      <p:sp>
        <p:nvSpPr>
          <p:cNvPr id="15" name="Rounded Rectangle 14"/>
          <p:cNvSpPr/>
          <p:nvPr/>
        </p:nvSpPr>
        <p:spPr>
          <a:xfrm>
            <a:off x="6858000" y="299923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0" y="299923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17" name="TextBox 16"/>
          <p:cNvSpPr txBox="1"/>
          <p:nvPr/>
        </p:nvSpPr>
        <p:spPr>
          <a:xfrm>
            <a:off x="822959" y="338328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last night at 10  + late last night</a:t>
            </a:r>
          </a:p>
        </p:txBody>
      </p:sp>
      <p:sp>
        <p:nvSpPr>
          <p:cNvPr id="18" name="TextBox 17"/>
          <p:cNvSpPr txBox="1"/>
          <p:nvPr/>
        </p:nvSpPr>
        <p:spPr>
          <a:xfrm>
            <a:off x="822959" y="367588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"I studied English last night."</a:t>
            </a:r>
          </a:p>
        </p:txBody>
      </p:sp>
      <p:sp>
        <p:nvSpPr>
          <p:cNvPr id="19" name="TextBox 18"/>
          <p:cNvSpPr txBox="1"/>
          <p:nvPr/>
        </p:nvSpPr>
        <p:spPr>
          <a:xfrm>
            <a:off x="822959" y="393192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'in the last night'</a:t>
            </a:r>
          </a:p>
        </p:txBody>
      </p:sp>
      <p:sp>
        <p:nvSpPr>
          <p:cNvPr id="20" name="Rounded Rectangle 19"/>
          <p:cNvSpPr/>
          <p:nvPr/>
        </p:nvSpPr>
        <p:spPr>
          <a:xfrm>
            <a:off x="548640" y="434340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41655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last weekend</a:t>
            </a:r>
          </a:p>
        </p:txBody>
      </p:sp>
      <p:sp>
        <p:nvSpPr>
          <p:cNvPr id="22" name="TextBox 21"/>
          <p:cNvSpPr txBox="1"/>
          <p:nvPr/>
        </p:nvSpPr>
        <p:spPr>
          <a:xfrm>
            <a:off x="4389120" y="441655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fin de semana pasado</a:t>
            </a:r>
          </a:p>
        </p:txBody>
      </p:sp>
      <p:sp>
        <p:nvSpPr>
          <p:cNvPr id="23" name="Rounded Rectangle 22"/>
          <p:cNvSpPr/>
          <p:nvPr/>
        </p:nvSpPr>
        <p:spPr>
          <a:xfrm>
            <a:off x="6858000" y="441655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441655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25" name="TextBox 24"/>
          <p:cNvSpPr txBox="1"/>
          <p:nvPr/>
        </p:nvSpPr>
        <p:spPr>
          <a:xfrm>
            <a:off x="822959" y="480060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last weekend I went  + over the last weekend</a:t>
            </a:r>
          </a:p>
        </p:txBody>
      </p:sp>
      <p:sp>
        <p:nvSpPr>
          <p:cNvPr id="26" name="TextBox 25"/>
          <p:cNvSpPr txBox="1"/>
          <p:nvPr/>
        </p:nvSpPr>
        <p:spPr>
          <a:xfrm>
            <a:off x="822959" y="509320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"Last weekend I visited my family."</a:t>
            </a:r>
          </a:p>
        </p:txBody>
      </p:sp>
      <p:sp>
        <p:nvSpPr>
          <p:cNvPr id="27" name="TextBox 26"/>
          <p:cNvSpPr txBox="1"/>
          <p:nvPr/>
        </p:nvSpPr>
        <p:spPr>
          <a:xfrm>
            <a:off x="822959" y="534924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'the last weekend'</a:t>
            </a:r>
          </a:p>
        </p:txBody>
      </p:sp>
      <p:sp>
        <p:nvSpPr>
          <p:cNvPr id="28" name="Rounded Rectangle 2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Read aloud. Practice collocations.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05</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VOCABULARY — Past Activities (2/4)</a:t>
            </a:r>
          </a:p>
        </p:txBody>
      </p:sp>
      <p:sp>
        <p:nvSpPr>
          <p:cNvPr id="4" name="Rounded Rectangle 3"/>
          <p:cNvSpPr/>
          <p:nvPr/>
        </p:nvSpPr>
        <p:spPr>
          <a:xfrm>
            <a:off x="548640" y="150876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8191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studied</a:t>
            </a:r>
          </a:p>
        </p:txBody>
      </p:sp>
      <p:sp>
        <p:nvSpPr>
          <p:cNvPr id="6" name="TextBox 5"/>
          <p:cNvSpPr txBox="1"/>
          <p:nvPr/>
        </p:nvSpPr>
        <p:spPr>
          <a:xfrm>
            <a:off x="4389120" y="158191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estudie</a:t>
            </a:r>
          </a:p>
        </p:txBody>
      </p:sp>
      <p:sp>
        <p:nvSpPr>
          <p:cNvPr id="7" name="Rounded Rectangle 6"/>
          <p:cNvSpPr/>
          <p:nvPr/>
        </p:nvSpPr>
        <p:spPr>
          <a:xfrm>
            <a:off x="6858000" y="158191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58191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9" name="TextBox 8"/>
          <p:cNvSpPr txBox="1"/>
          <p:nvPr/>
        </p:nvSpPr>
        <p:spPr>
          <a:xfrm>
            <a:off x="822959" y="196596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studied English  + studied for an exam</a:t>
            </a:r>
          </a:p>
        </p:txBody>
      </p:sp>
      <p:sp>
        <p:nvSpPr>
          <p:cNvPr id="10" name="TextBox 9"/>
          <p:cNvSpPr txBox="1"/>
          <p:nvPr/>
        </p:nvSpPr>
        <p:spPr>
          <a:xfrm>
            <a:off x="822959" y="225856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"I studied English for two hours."</a:t>
            </a:r>
          </a:p>
        </p:txBody>
      </p:sp>
      <p:sp>
        <p:nvSpPr>
          <p:cNvPr id="11" name="TextBox 10"/>
          <p:cNvSpPr txBox="1"/>
          <p:nvPr/>
        </p:nvSpPr>
        <p:spPr>
          <a:xfrm>
            <a:off x="822959" y="251460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'studied to English'</a:t>
            </a:r>
          </a:p>
        </p:txBody>
      </p:sp>
      <p:sp>
        <p:nvSpPr>
          <p:cNvPr id="12" name="Rounded Rectangle 11"/>
          <p:cNvSpPr/>
          <p:nvPr/>
        </p:nvSpPr>
        <p:spPr>
          <a:xfrm>
            <a:off x="548640" y="292608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9923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played</a:t>
            </a:r>
          </a:p>
        </p:txBody>
      </p:sp>
      <p:sp>
        <p:nvSpPr>
          <p:cNvPr id="14" name="TextBox 13"/>
          <p:cNvSpPr txBox="1"/>
          <p:nvPr/>
        </p:nvSpPr>
        <p:spPr>
          <a:xfrm>
            <a:off x="4389120" y="299923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jugue</a:t>
            </a:r>
          </a:p>
        </p:txBody>
      </p:sp>
      <p:sp>
        <p:nvSpPr>
          <p:cNvPr id="15" name="Rounded Rectangle 14"/>
          <p:cNvSpPr/>
          <p:nvPr/>
        </p:nvSpPr>
        <p:spPr>
          <a:xfrm>
            <a:off x="6858000" y="299923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0" y="299923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17" name="TextBox 16"/>
          <p:cNvSpPr txBox="1"/>
          <p:nvPr/>
        </p:nvSpPr>
        <p:spPr>
          <a:xfrm>
            <a:off x="822959" y="338328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played soccer  + played with friends</a:t>
            </a:r>
          </a:p>
        </p:txBody>
      </p:sp>
      <p:sp>
        <p:nvSpPr>
          <p:cNvPr id="18" name="TextBox 17"/>
          <p:cNvSpPr txBox="1"/>
          <p:nvPr/>
        </p:nvSpPr>
        <p:spPr>
          <a:xfrm>
            <a:off x="822959" y="367588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"We played soccer last weekend."</a:t>
            </a:r>
          </a:p>
        </p:txBody>
      </p:sp>
      <p:sp>
        <p:nvSpPr>
          <p:cNvPr id="19" name="TextBox 18"/>
          <p:cNvSpPr txBox="1"/>
          <p:nvPr/>
        </p:nvSpPr>
        <p:spPr>
          <a:xfrm>
            <a:off x="822959" y="393192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'played to soccer'</a:t>
            </a:r>
          </a:p>
        </p:txBody>
      </p:sp>
      <p:sp>
        <p:nvSpPr>
          <p:cNvPr id="20" name="Rounded Rectangle 19"/>
          <p:cNvSpPr/>
          <p:nvPr/>
        </p:nvSpPr>
        <p:spPr>
          <a:xfrm>
            <a:off x="548640" y="434340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41655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watched</a:t>
            </a:r>
          </a:p>
        </p:txBody>
      </p:sp>
      <p:sp>
        <p:nvSpPr>
          <p:cNvPr id="22" name="TextBox 21"/>
          <p:cNvSpPr txBox="1"/>
          <p:nvPr/>
        </p:nvSpPr>
        <p:spPr>
          <a:xfrm>
            <a:off x="4389120" y="441655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mire</a:t>
            </a:r>
          </a:p>
        </p:txBody>
      </p:sp>
      <p:sp>
        <p:nvSpPr>
          <p:cNvPr id="23" name="Rounded Rectangle 22"/>
          <p:cNvSpPr/>
          <p:nvPr/>
        </p:nvSpPr>
        <p:spPr>
          <a:xfrm>
            <a:off x="6858000" y="441655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441655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25" name="TextBox 24"/>
          <p:cNvSpPr txBox="1"/>
          <p:nvPr/>
        </p:nvSpPr>
        <p:spPr>
          <a:xfrm>
            <a:off x="822959" y="480060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watched a movie  + watched TV</a:t>
            </a:r>
          </a:p>
        </p:txBody>
      </p:sp>
      <p:sp>
        <p:nvSpPr>
          <p:cNvPr id="26" name="TextBox 25"/>
          <p:cNvSpPr txBox="1"/>
          <p:nvPr/>
        </p:nvSpPr>
        <p:spPr>
          <a:xfrm>
            <a:off x="822959" y="509320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"I watched a movie last night."</a:t>
            </a:r>
          </a:p>
        </p:txBody>
      </p:sp>
      <p:sp>
        <p:nvSpPr>
          <p:cNvPr id="27" name="TextBox 26"/>
          <p:cNvSpPr txBox="1"/>
          <p:nvPr/>
        </p:nvSpPr>
        <p:spPr>
          <a:xfrm>
            <a:off x="822959" y="534924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'watched to a movie'</a:t>
            </a:r>
          </a:p>
        </p:txBody>
      </p:sp>
      <p:sp>
        <p:nvSpPr>
          <p:cNvPr id="28" name="Rounded Rectangle 2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Read aloud. Practice collocations.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06</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VOCABULARY — Past Activities (3/4)</a:t>
            </a:r>
          </a:p>
        </p:txBody>
      </p:sp>
      <p:sp>
        <p:nvSpPr>
          <p:cNvPr id="4" name="Rounded Rectangle 3"/>
          <p:cNvSpPr/>
          <p:nvPr/>
        </p:nvSpPr>
        <p:spPr>
          <a:xfrm>
            <a:off x="548640" y="150876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8191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listened</a:t>
            </a:r>
          </a:p>
        </p:txBody>
      </p:sp>
      <p:sp>
        <p:nvSpPr>
          <p:cNvPr id="6" name="TextBox 5"/>
          <p:cNvSpPr txBox="1"/>
          <p:nvPr/>
        </p:nvSpPr>
        <p:spPr>
          <a:xfrm>
            <a:off x="4389120" y="158191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escuche</a:t>
            </a:r>
          </a:p>
        </p:txBody>
      </p:sp>
      <p:sp>
        <p:nvSpPr>
          <p:cNvPr id="7" name="Rounded Rectangle 6"/>
          <p:cNvSpPr/>
          <p:nvPr/>
        </p:nvSpPr>
        <p:spPr>
          <a:xfrm>
            <a:off x="6858000" y="158191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58191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9" name="TextBox 8"/>
          <p:cNvSpPr txBox="1"/>
          <p:nvPr/>
        </p:nvSpPr>
        <p:spPr>
          <a:xfrm>
            <a:off x="822959" y="196596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listened to music  + listened carefully</a:t>
            </a:r>
          </a:p>
        </p:txBody>
      </p:sp>
      <p:sp>
        <p:nvSpPr>
          <p:cNvPr id="10" name="TextBox 9"/>
          <p:cNvSpPr txBox="1"/>
          <p:nvPr/>
        </p:nvSpPr>
        <p:spPr>
          <a:xfrm>
            <a:off x="822959" y="225856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"I listened to music this morning."</a:t>
            </a:r>
          </a:p>
        </p:txBody>
      </p:sp>
      <p:sp>
        <p:nvSpPr>
          <p:cNvPr id="11" name="TextBox 10"/>
          <p:cNvSpPr txBox="1"/>
          <p:nvPr/>
        </p:nvSpPr>
        <p:spPr>
          <a:xfrm>
            <a:off x="822959" y="251460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'listened music'</a:t>
            </a:r>
          </a:p>
        </p:txBody>
      </p:sp>
      <p:sp>
        <p:nvSpPr>
          <p:cNvPr id="12" name="Rounded Rectangle 11"/>
          <p:cNvSpPr/>
          <p:nvPr/>
        </p:nvSpPr>
        <p:spPr>
          <a:xfrm>
            <a:off x="548640" y="292608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9923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visited</a:t>
            </a:r>
          </a:p>
        </p:txBody>
      </p:sp>
      <p:sp>
        <p:nvSpPr>
          <p:cNvPr id="14" name="TextBox 13"/>
          <p:cNvSpPr txBox="1"/>
          <p:nvPr/>
        </p:nvSpPr>
        <p:spPr>
          <a:xfrm>
            <a:off x="4389120" y="299923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visite</a:t>
            </a:r>
          </a:p>
        </p:txBody>
      </p:sp>
      <p:sp>
        <p:nvSpPr>
          <p:cNvPr id="15" name="Rounded Rectangle 14"/>
          <p:cNvSpPr/>
          <p:nvPr/>
        </p:nvSpPr>
        <p:spPr>
          <a:xfrm>
            <a:off x="6858000" y="299923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0" y="299923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17" name="TextBox 16"/>
          <p:cNvSpPr txBox="1"/>
          <p:nvPr/>
        </p:nvSpPr>
        <p:spPr>
          <a:xfrm>
            <a:off x="822959" y="338328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visited my family  + visited a museum</a:t>
            </a:r>
          </a:p>
        </p:txBody>
      </p:sp>
      <p:sp>
        <p:nvSpPr>
          <p:cNvPr id="18" name="TextBox 17"/>
          <p:cNvSpPr txBox="1"/>
          <p:nvPr/>
        </p:nvSpPr>
        <p:spPr>
          <a:xfrm>
            <a:off x="822959" y="367588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"I visited my grandparents last weekend."</a:t>
            </a:r>
          </a:p>
        </p:txBody>
      </p:sp>
      <p:sp>
        <p:nvSpPr>
          <p:cNvPr id="19" name="TextBox 18"/>
          <p:cNvSpPr txBox="1"/>
          <p:nvPr/>
        </p:nvSpPr>
        <p:spPr>
          <a:xfrm>
            <a:off x="822959" y="393192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'visited to my family'</a:t>
            </a:r>
          </a:p>
        </p:txBody>
      </p:sp>
      <p:sp>
        <p:nvSpPr>
          <p:cNvPr id="20" name="Rounded Rectangle 19"/>
          <p:cNvSpPr/>
          <p:nvPr/>
        </p:nvSpPr>
        <p:spPr>
          <a:xfrm>
            <a:off x="548640" y="434340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41655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went out</a:t>
            </a:r>
          </a:p>
        </p:txBody>
      </p:sp>
      <p:sp>
        <p:nvSpPr>
          <p:cNvPr id="22" name="TextBox 21"/>
          <p:cNvSpPr txBox="1"/>
          <p:nvPr/>
        </p:nvSpPr>
        <p:spPr>
          <a:xfrm>
            <a:off x="4389120" y="441655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salí</a:t>
            </a:r>
          </a:p>
        </p:txBody>
      </p:sp>
      <p:sp>
        <p:nvSpPr>
          <p:cNvPr id="23" name="Rounded Rectangle 22"/>
          <p:cNvSpPr/>
          <p:nvPr/>
        </p:nvSpPr>
        <p:spPr>
          <a:xfrm>
            <a:off x="6858000" y="4416552"/>
            <a:ext cx="1554480" cy="36576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441655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IMPORTANT</a:t>
            </a:r>
          </a:p>
        </p:txBody>
      </p:sp>
      <p:sp>
        <p:nvSpPr>
          <p:cNvPr id="25" name="TextBox 24"/>
          <p:cNvSpPr txBox="1"/>
          <p:nvPr/>
        </p:nvSpPr>
        <p:spPr>
          <a:xfrm>
            <a:off x="822959" y="480060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went out with friends  + went out last night</a:t>
            </a:r>
          </a:p>
        </p:txBody>
      </p:sp>
      <p:sp>
        <p:nvSpPr>
          <p:cNvPr id="26" name="TextBox 25"/>
          <p:cNvSpPr txBox="1"/>
          <p:nvPr/>
        </p:nvSpPr>
        <p:spPr>
          <a:xfrm>
            <a:off x="822959" y="509320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"I went out with friends on Saturday."</a:t>
            </a:r>
          </a:p>
        </p:txBody>
      </p:sp>
      <p:sp>
        <p:nvSpPr>
          <p:cNvPr id="27" name="TextBox 26"/>
          <p:cNvSpPr txBox="1"/>
          <p:nvPr/>
        </p:nvSpPr>
        <p:spPr>
          <a:xfrm>
            <a:off x="822959" y="534924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'went out to friends'</a:t>
            </a:r>
          </a:p>
        </p:txBody>
      </p:sp>
      <p:sp>
        <p:nvSpPr>
          <p:cNvPr id="28" name="Rounded Rectangle 2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Read aloud. Practice collocations.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07</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VOCABULARY — Past Activities (4/4)</a:t>
            </a:r>
          </a:p>
        </p:txBody>
      </p:sp>
      <p:sp>
        <p:nvSpPr>
          <p:cNvPr id="4" name="Rounded Rectangle 3"/>
          <p:cNvSpPr/>
          <p:nvPr/>
        </p:nvSpPr>
        <p:spPr>
          <a:xfrm>
            <a:off x="548640" y="150876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8191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saw</a:t>
            </a:r>
          </a:p>
        </p:txBody>
      </p:sp>
      <p:sp>
        <p:nvSpPr>
          <p:cNvPr id="6" name="TextBox 5"/>
          <p:cNvSpPr txBox="1"/>
          <p:nvPr/>
        </p:nvSpPr>
        <p:spPr>
          <a:xfrm>
            <a:off x="4389120" y="158191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vi</a:t>
            </a:r>
          </a:p>
        </p:txBody>
      </p:sp>
      <p:sp>
        <p:nvSpPr>
          <p:cNvPr id="7" name="Rounded Rectangle 6"/>
          <p:cNvSpPr/>
          <p:nvPr/>
        </p:nvSpPr>
        <p:spPr>
          <a:xfrm>
            <a:off x="6858000" y="158191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58191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9" name="TextBox 8"/>
          <p:cNvSpPr txBox="1"/>
          <p:nvPr/>
        </p:nvSpPr>
        <p:spPr>
          <a:xfrm>
            <a:off x="822959" y="196596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saw a movie  + saw my friend</a:t>
            </a:r>
          </a:p>
        </p:txBody>
      </p:sp>
      <p:sp>
        <p:nvSpPr>
          <p:cNvPr id="10" name="TextBox 9"/>
          <p:cNvSpPr txBox="1"/>
          <p:nvPr/>
        </p:nvSpPr>
        <p:spPr>
          <a:xfrm>
            <a:off x="822959" y="225856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"I saw a great movie yesterday."</a:t>
            </a:r>
          </a:p>
        </p:txBody>
      </p:sp>
      <p:sp>
        <p:nvSpPr>
          <p:cNvPr id="11" name="TextBox 10"/>
          <p:cNvSpPr txBox="1"/>
          <p:nvPr/>
        </p:nvSpPr>
        <p:spPr>
          <a:xfrm>
            <a:off x="822959" y="251460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'saw to a movie'</a:t>
            </a:r>
          </a:p>
        </p:txBody>
      </p:sp>
      <p:sp>
        <p:nvSpPr>
          <p:cNvPr id="12" name="Rounded Rectangle 11"/>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Read aloud. Practice collocations.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08</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  COMMON MISTAKES — Avoid these!</a:t>
            </a:r>
          </a:p>
        </p:txBody>
      </p:sp>
      <p:sp>
        <p:nvSpPr>
          <p:cNvPr id="4" name="Rounded Rectangle 3"/>
          <p:cNvSpPr/>
          <p:nvPr/>
        </p:nvSpPr>
        <p:spPr>
          <a:xfrm>
            <a:off x="548640" y="1508760"/>
            <a:ext cx="8046720" cy="100583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7680960" cy="320040"/>
          </a:xfrm>
          <a:prstGeom prst="rect">
            <a:avLst/>
          </a:prstGeom>
          <a:noFill/>
        </p:spPr>
        <p:txBody>
          <a:bodyPr wrap="square" anchor="ctr">
            <a:spAutoFit/>
          </a:bodyPr>
          <a:lstStyle/>
          <a:p>
            <a:pPr algn="l">
              <a:lnSpc>
                <a:spcPct val="100000"/>
              </a:lnSpc>
            </a:pPr>
            <a:r>
              <a:rPr sz="1700" b="1" i="0">
                <a:solidFill>
                  <a:srgbClr val="C62828"/>
                </a:solidFill>
                <a:latin typeface="Arial"/>
              </a:rPr>
              <a:t>❌  Did you watched TV?</a:t>
            </a:r>
          </a:p>
        </p:txBody>
      </p:sp>
      <p:sp>
        <p:nvSpPr>
          <p:cNvPr id="6" name="TextBox 5"/>
          <p:cNvSpPr txBox="1"/>
          <p:nvPr/>
        </p:nvSpPr>
        <p:spPr>
          <a:xfrm>
            <a:off x="731520" y="1892808"/>
            <a:ext cx="7680960" cy="320040"/>
          </a:xfrm>
          <a:prstGeom prst="rect">
            <a:avLst/>
          </a:prstGeom>
          <a:noFill/>
        </p:spPr>
        <p:txBody>
          <a:bodyPr wrap="square" anchor="ctr">
            <a:spAutoFit/>
          </a:bodyPr>
          <a:lstStyle/>
          <a:p>
            <a:pPr algn="l">
              <a:lnSpc>
                <a:spcPct val="100000"/>
              </a:lnSpc>
            </a:pPr>
            <a:r>
              <a:rPr sz="1700" b="1" i="0">
                <a:solidFill>
                  <a:srgbClr val="2E7D32"/>
                </a:solidFill>
                <a:latin typeface="Arial"/>
              </a:rPr>
              <a:t>✓   Did you watch TV?</a:t>
            </a:r>
          </a:p>
        </p:txBody>
      </p:sp>
      <p:sp>
        <p:nvSpPr>
          <p:cNvPr id="7" name="TextBox 6"/>
          <p:cNvSpPr txBox="1"/>
          <p:nvPr/>
        </p:nvSpPr>
        <p:spPr>
          <a:xfrm>
            <a:off x="731520" y="2231136"/>
            <a:ext cx="7680960" cy="274320"/>
          </a:xfrm>
          <a:prstGeom prst="rect">
            <a:avLst/>
          </a:prstGeom>
          <a:noFill/>
        </p:spPr>
        <p:txBody>
          <a:bodyPr wrap="square" anchor="ctr">
            <a:spAutoFit/>
          </a:bodyPr>
          <a:lstStyle/>
          <a:p>
            <a:pPr algn="l">
              <a:lnSpc>
                <a:spcPct val="100000"/>
              </a:lnSpc>
            </a:pPr>
            <a:r>
              <a:rPr sz="1300" b="0" i="1">
                <a:solidFill>
                  <a:srgbClr val="666666"/>
                </a:solidFill>
                <a:latin typeface="Arial"/>
              </a:rPr>
              <a:t>      Después de DID se usa el verbo en forma base.</a:t>
            </a:r>
          </a:p>
        </p:txBody>
      </p:sp>
      <p:sp>
        <p:nvSpPr>
          <p:cNvPr id="8" name="Rounded Rectangle 7"/>
          <p:cNvSpPr/>
          <p:nvPr/>
        </p:nvSpPr>
        <p:spPr>
          <a:xfrm>
            <a:off x="548640" y="2606040"/>
            <a:ext cx="8046720" cy="100583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51760"/>
            <a:ext cx="7680960" cy="320040"/>
          </a:xfrm>
          <a:prstGeom prst="rect">
            <a:avLst/>
          </a:prstGeom>
          <a:noFill/>
        </p:spPr>
        <p:txBody>
          <a:bodyPr wrap="square" anchor="ctr">
            <a:spAutoFit/>
          </a:bodyPr>
          <a:lstStyle/>
          <a:p>
            <a:pPr algn="l">
              <a:lnSpc>
                <a:spcPct val="100000"/>
              </a:lnSpc>
            </a:pPr>
            <a:r>
              <a:rPr sz="1700" b="1" i="0">
                <a:solidFill>
                  <a:srgbClr val="C62828"/>
                </a:solidFill>
                <a:latin typeface="Arial"/>
              </a:rPr>
              <a:t>❌  I didn't studied.</a:t>
            </a:r>
          </a:p>
        </p:txBody>
      </p:sp>
      <p:sp>
        <p:nvSpPr>
          <p:cNvPr id="10" name="TextBox 9"/>
          <p:cNvSpPr txBox="1"/>
          <p:nvPr/>
        </p:nvSpPr>
        <p:spPr>
          <a:xfrm>
            <a:off x="731520" y="2990088"/>
            <a:ext cx="7680960" cy="320040"/>
          </a:xfrm>
          <a:prstGeom prst="rect">
            <a:avLst/>
          </a:prstGeom>
          <a:noFill/>
        </p:spPr>
        <p:txBody>
          <a:bodyPr wrap="square" anchor="ctr">
            <a:spAutoFit/>
          </a:bodyPr>
          <a:lstStyle/>
          <a:p>
            <a:pPr algn="l">
              <a:lnSpc>
                <a:spcPct val="100000"/>
              </a:lnSpc>
            </a:pPr>
            <a:r>
              <a:rPr sz="1700" b="1" i="0">
                <a:solidFill>
                  <a:srgbClr val="2E7D32"/>
                </a:solidFill>
                <a:latin typeface="Arial"/>
              </a:rPr>
              <a:t>✓   I didn't study.</a:t>
            </a:r>
          </a:p>
        </p:txBody>
      </p:sp>
      <p:sp>
        <p:nvSpPr>
          <p:cNvPr id="11" name="TextBox 10"/>
          <p:cNvSpPr txBox="1"/>
          <p:nvPr/>
        </p:nvSpPr>
        <p:spPr>
          <a:xfrm>
            <a:off x="731520" y="3328416"/>
            <a:ext cx="7680960" cy="274320"/>
          </a:xfrm>
          <a:prstGeom prst="rect">
            <a:avLst/>
          </a:prstGeom>
          <a:noFill/>
        </p:spPr>
        <p:txBody>
          <a:bodyPr wrap="square" anchor="ctr">
            <a:spAutoFit/>
          </a:bodyPr>
          <a:lstStyle/>
          <a:p>
            <a:pPr algn="l">
              <a:lnSpc>
                <a:spcPct val="100000"/>
              </a:lnSpc>
            </a:pPr>
            <a:r>
              <a:rPr sz="1300" b="0" i="1">
                <a:solidFill>
                  <a:srgbClr val="666666"/>
                </a:solidFill>
                <a:latin typeface="Arial"/>
              </a:rPr>
              <a:t>      Después de DIDN'T se usa el verbo en forma base.</a:t>
            </a:r>
          </a:p>
        </p:txBody>
      </p:sp>
      <p:sp>
        <p:nvSpPr>
          <p:cNvPr id="12" name="Rounded Rectangle 11"/>
          <p:cNvSpPr/>
          <p:nvPr/>
        </p:nvSpPr>
        <p:spPr>
          <a:xfrm>
            <a:off x="548640" y="3703320"/>
            <a:ext cx="8046720" cy="100583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749039"/>
            <a:ext cx="7680960" cy="320040"/>
          </a:xfrm>
          <a:prstGeom prst="rect">
            <a:avLst/>
          </a:prstGeom>
          <a:noFill/>
        </p:spPr>
        <p:txBody>
          <a:bodyPr wrap="square" anchor="ctr">
            <a:spAutoFit/>
          </a:bodyPr>
          <a:lstStyle/>
          <a:p>
            <a:pPr algn="l">
              <a:lnSpc>
                <a:spcPct val="100000"/>
              </a:lnSpc>
            </a:pPr>
            <a:r>
              <a:rPr sz="1700" b="1" i="0">
                <a:solidFill>
                  <a:srgbClr val="C62828"/>
                </a:solidFill>
                <a:latin typeface="Arial"/>
              </a:rPr>
              <a:t>❌  Yesterday night I studied.</a:t>
            </a:r>
          </a:p>
        </p:txBody>
      </p:sp>
      <p:sp>
        <p:nvSpPr>
          <p:cNvPr id="14" name="TextBox 13"/>
          <p:cNvSpPr txBox="1"/>
          <p:nvPr/>
        </p:nvSpPr>
        <p:spPr>
          <a:xfrm>
            <a:off x="731520" y="4087368"/>
            <a:ext cx="7680960" cy="320040"/>
          </a:xfrm>
          <a:prstGeom prst="rect">
            <a:avLst/>
          </a:prstGeom>
          <a:noFill/>
        </p:spPr>
        <p:txBody>
          <a:bodyPr wrap="square" anchor="ctr">
            <a:spAutoFit/>
          </a:bodyPr>
          <a:lstStyle/>
          <a:p>
            <a:pPr algn="l">
              <a:lnSpc>
                <a:spcPct val="100000"/>
              </a:lnSpc>
            </a:pPr>
            <a:r>
              <a:rPr sz="1700" b="1" i="0">
                <a:solidFill>
                  <a:srgbClr val="2E7D32"/>
                </a:solidFill>
                <a:latin typeface="Arial"/>
              </a:rPr>
              <a:t>✓   Last night I studied.</a:t>
            </a:r>
          </a:p>
        </p:txBody>
      </p:sp>
      <p:sp>
        <p:nvSpPr>
          <p:cNvPr id="15" name="TextBox 14"/>
          <p:cNvSpPr txBox="1"/>
          <p:nvPr/>
        </p:nvSpPr>
        <p:spPr>
          <a:xfrm>
            <a:off x="731520" y="4425696"/>
            <a:ext cx="7680960" cy="274320"/>
          </a:xfrm>
          <a:prstGeom prst="rect">
            <a:avLst/>
          </a:prstGeom>
          <a:noFill/>
        </p:spPr>
        <p:txBody>
          <a:bodyPr wrap="square" anchor="ctr">
            <a:spAutoFit/>
          </a:bodyPr>
          <a:lstStyle/>
          <a:p>
            <a:pPr algn="l">
              <a:lnSpc>
                <a:spcPct val="100000"/>
              </a:lnSpc>
            </a:pPr>
            <a:r>
              <a:rPr sz="1300" b="0" i="1">
                <a:solidFill>
                  <a:srgbClr val="666666"/>
                </a:solidFill>
                <a:latin typeface="Arial"/>
              </a:rPr>
              <a:t>      Se dice 'last night', no 'yesterday night'.</a:t>
            </a:r>
          </a:p>
        </p:txBody>
      </p:sp>
      <p:sp>
        <p:nvSpPr>
          <p:cNvPr id="16" name="Rounded Rectangle 15"/>
          <p:cNvSpPr/>
          <p:nvPr/>
        </p:nvSpPr>
        <p:spPr>
          <a:xfrm>
            <a:off x="548640" y="4800600"/>
            <a:ext cx="8046720" cy="100583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46320"/>
            <a:ext cx="7680960" cy="320040"/>
          </a:xfrm>
          <a:prstGeom prst="rect">
            <a:avLst/>
          </a:prstGeom>
          <a:noFill/>
        </p:spPr>
        <p:txBody>
          <a:bodyPr wrap="square" anchor="ctr">
            <a:spAutoFit/>
          </a:bodyPr>
          <a:lstStyle/>
          <a:p>
            <a:pPr algn="l">
              <a:lnSpc>
                <a:spcPct val="100000"/>
              </a:lnSpc>
            </a:pPr>
            <a:r>
              <a:rPr sz="1700" b="1" i="0">
                <a:solidFill>
                  <a:srgbClr val="C62828"/>
                </a:solidFill>
                <a:latin typeface="Arial"/>
              </a:rPr>
              <a:t>❌  I goed to school.</a:t>
            </a:r>
          </a:p>
        </p:txBody>
      </p:sp>
      <p:sp>
        <p:nvSpPr>
          <p:cNvPr id="18" name="TextBox 17"/>
          <p:cNvSpPr txBox="1"/>
          <p:nvPr/>
        </p:nvSpPr>
        <p:spPr>
          <a:xfrm>
            <a:off x="731520" y="5184648"/>
            <a:ext cx="7680960" cy="320040"/>
          </a:xfrm>
          <a:prstGeom prst="rect">
            <a:avLst/>
          </a:prstGeom>
          <a:noFill/>
        </p:spPr>
        <p:txBody>
          <a:bodyPr wrap="square" anchor="ctr">
            <a:spAutoFit/>
          </a:bodyPr>
          <a:lstStyle/>
          <a:p>
            <a:pPr algn="l">
              <a:lnSpc>
                <a:spcPct val="100000"/>
              </a:lnSpc>
            </a:pPr>
            <a:r>
              <a:rPr sz="1700" b="1" i="0">
                <a:solidFill>
                  <a:srgbClr val="2E7D32"/>
                </a:solidFill>
                <a:latin typeface="Arial"/>
              </a:rPr>
              <a:t>✓   I went to school.</a:t>
            </a:r>
          </a:p>
        </p:txBody>
      </p:sp>
      <p:sp>
        <p:nvSpPr>
          <p:cNvPr id="19" name="TextBox 18"/>
          <p:cNvSpPr txBox="1"/>
          <p:nvPr/>
        </p:nvSpPr>
        <p:spPr>
          <a:xfrm>
            <a:off x="731520" y="5522976"/>
            <a:ext cx="7680960" cy="274320"/>
          </a:xfrm>
          <a:prstGeom prst="rect">
            <a:avLst/>
          </a:prstGeom>
          <a:noFill/>
        </p:spPr>
        <p:txBody>
          <a:bodyPr wrap="square" anchor="ctr">
            <a:spAutoFit/>
          </a:bodyPr>
          <a:lstStyle/>
          <a:p>
            <a:pPr algn="l">
              <a:lnSpc>
                <a:spcPct val="100000"/>
              </a:lnSpc>
            </a:pPr>
            <a:r>
              <a:rPr sz="1300" b="0" i="1">
                <a:solidFill>
                  <a:srgbClr val="666666"/>
                </a:solidFill>
                <a:latin typeface="Arial"/>
              </a:rPr>
              <a:t>      'Go' es irregular: go → went.</a:t>
            </a:r>
          </a:p>
        </p:txBody>
      </p:sp>
      <p:sp>
        <p:nvSpPr>
          <p:cNvPr id="20" name="Rounded Rectangle 19"/>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Repeat after me. Don't make these mistakes!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09</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EXPRESSIONS &amp; YOUR TURN</a:t>
            </a:r>
          </a:p>
        </p:txBody>
      </p:sp>
      <p:sp>
        <p:nvSpPr>
          <p:cNvPr id="4" name="Rounded Rectangle 3"/>
          <p:cNvSpPr/>
          <p:nvPr/>
        </p:nvSpPr>
        <p:spPr>
          <a:xfrm>
            <a:off x="548640" y="1508760"/>
            <a:ext cx="8046720" cy="2286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81912"/>
            <a:ext cx="7680960" cy="320040"/>
          </a:xfrm>
          <a:prstGeom prst="rect">
            <a:avLst/>
          </a:prstGeom>
          <a:noFill/>
        </p:spPr>
        <p:txBody>
          <a:bodyPr wrap="square" anchor="t">
            <a:spAutoFit/>
          </a:bodyPr>
          <a:lstStyle/>
          <a:p>
            <a:pPr algn="l">
              <a:lnSpc>
                <a:spcPct val="100000"/>
              </a:lnSpc>
            </a:pPr>
            <a:r>
              <a:rPr sz="1800" b="1" i="0">
                <a:solidFill>
                  <a:srgbClr val="FF6B35"/>
                </a:solidFill>
                <a:latin typeface="Arial"/>
              </a:rPr>
              <a:t>EXPRESSIONS</a:t>
            </a:r>
          </a:p>
        </p:txBody>
      </p:sp>
      <p:sp>
        <p:nvSpPr>
          <p:cNvPr id="6" name="TextBox 5"/>
          <p:cNvSpPr txBox="1"/>
          <p:nvPr/>
        </p:nvSpPr>
        <p:spPr>
          <a:xfrm>
            <a:off x="822959" y="1965960"/>
            <a:ext cx="7589520" cy="320040"/>
          </a:xfrm>
          <a:prstGeom prst="rect">
            <a:avLst/>
          </a:prstGeom>
          <a:noFill/>
        </p:spPr>
        <p:txBody>
          <a:bodyPr wrap="square" anchor="ctr">
            <a:spAutoFit/>
          </a:bodyPr>
          <a:lstStyle/>
          <a:p>
            <a:pPr algn="l">
              <a:lnSpc>
                <a:spcPct val="100000"/>
              </a:lnSpc>
            </a:pPr>
            <a:r>
              <a:rPr sz="1800" b="0" i="0">
                <a:solidFill>
                  <a:srgbClr val="000000"/>
                </a:solidFill>
                <a:latin typeface="Arial"/>
              </a:rPr>
              <a:t>▸  Yesterday I woke up at 7.</a:t>
            </a:r>
          </a:p>
        </p:txBody>
      </p:sp>
      <p:sp>
        <p:nvSpPr>
          <p:cNvPr id="7" name="TextBox 6"/>
          <p:cNvSpPr txBox="1"/>
          <p:nvPr/>
        </p:nvSpPr>
        <p:spPr>
          <a:xfrm>
            <a:off x="822959" y="2313432"/>
            <a:ext cx="7589520" cy="320040"/>
          </a:xfrm>
          <a:prstGeom prst="rect">
            <a:avLst/>
          </a:prstGeom>
          <a:noFill/>
        </p:spPr>
        <p:txBody>
          <a:bodyPr wrap="square" anchor="ctr">
            <a:spAutoFit/>
          </a:bodyPr>
          <a:lstStyle/>
          <a:p>
            <a:pPr algn="l">
              <a:lnSpc>
                <a:spcPct val="100000"/>
              </a:lnSpc>
            </a:pPr>
            <a:r>
              <a:rPr sz="1800" b="0" i="0">
                <a:solidFill>
                  <a:srgbClr val="000000"/>
                </a:solidFill>
                <a:latin typeface="Arial"/>
              </a:rPr>
              <a:t>▸  Last night I studied English.</a:t>
            </a:r>
          </a:p>
        </p:txBody>
      </p:sp>
      <p:sp>
        <p:nvSpPr>
          <p:cNvPr id="8" name="TextBox 7"/>
          <p:cNvSpPr txBox="1"/>
          <p:nvPr/>
        </p:nvSpPr>
        <p:spPr>
          <a:xfrm>
            <a:off x="822959" y="2660903"/>
            <a:ext cx="7589520" cy="320040"/>
          </a:xfrm>
          <a:prstGeom prst="rect">
            <a:avLst/>
          </a:prstGeom>
          <a:noFill/>
        </p:spPr>
        <p:txBody>
          <a:bodyPr wrap="square" anchor="ctr">
            <a:spAutoFit/>
          </a:bodyPr>
          <a:lstStyle/>
          <a:p>
            <a:pPr algn="l">
              <a:lnSpc>
                <a:spcPct val="100000"/>
              </a:lnSpc>
            </a:pPr>
            <a:r>
              <a:rPr sz="1800" b="0" i="0">
                <a:solidFill>
                  <a:srgbClr val="000000"/>
                </a:solidFill>
                <a:latin typeface="Arial"/>
              </a:rPr>
              <a:t>▸  I had breakfast with my family.</a:t>
            </a:r>
          </a:p>
        </p:txBody>
      </p:sp>
      <p:sp>
        <p:nvSpPr>
          <p:cNvPr id="9" name="TextBox 8"/>
          <p:cNvSpPr txBox="1"/>
          <p:nvPr/>
        </p:nvSpPr>
        <p:spPr>
          <a:xfrm>
            <a:off x="822959" y="3008375"/>
            <a:ext cx="7589520" cy="320040"/>
          </a:xfrm>
          <a:prstGeom prst="rect">
            <a:avLst/>
          </a:prstGeom>
          <a:noFill/>
        </p:spPr>
        <p:txBody>
          <a:bodyPr wrap="square" anchor="ctr">
            <a:spAutoFit/>
          </a:bodyPr>
          <a:lstStyle/>
          <a:p>
            <a:pPr algn="l">
              <a:lnSpc>
                <a:spcPct val="100000"/>
              </a:lnSpc>
            </a:pPr>
            <a:r>
              <a:rPr sz="1800" b="0" i="0">
                <a:solidFill>
                  <a:srgbClr val="000000"/>
                </a:solidFill>
                <a:latin typeface="Arial"/>
              </a:rPr>
              <a:t>▸  I went to the park with a friend.</a:t>
            </a:r>
          </a:p>
        </p:txBody>
      </p:sp>
      <p:sp>
        <p:nvSpPr>
          <p:cNvPr id="10" name="TextBox 9"/>
          <p:cNvSpPr txBox="1"/>
          <p:nvPr/>
        </p:nvSpPr>
        <p:spPr>
          <a:xfrm>
            <a:off x="822959" y="3355847"/>
            <a:ext cx="7589520" cy="320040"/>
          </a:xfrm>
          <a:prstGeom prst="rect">
            <a:avLst/>
          </a:prstGeom>
          <a:noFill/>
        </p:spPr>
        <p:txBody>
          <a:bodyPr wrap="square" anchor="ctr">
            <a:spAutoFit/>
          </a:bodyPr>
          <a:lstStyle/>
          <a:p>
            <a:pPr algn="l">
              <a:lnSpc>
                <a:spcPct val="100000"/>
              </a:lnSpc>
            </a:pPr>
            <a:r>
              <a:rPr sz="1800" b="0" i="0">
                <a:solidFill>
                  <a:srgbClr val="000000"/>
                </a:solidFill>
                <a:latin typeface="Arial"/>
              </a:rPr>
              <a:t>▸  I was tired, but I was happy.</a:t>
            </a:r>
          </a:p>
        </p:txBody>
      </p:sp>
      <p:sp>
        <p:nvSpPr>
          <p:cNvPr id="11" name="Rounded Rectangle 10"/>
          <p:cNvSpPr/>
          <p:nvPr/>
        </p:nvSpPr>
        <p:spPr>
          <a:xfrm>
            <a:off x="548640" y="3931920"/>
            <a:ext cx="8046720" cy="1828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005072"/>
            <a:ext cx="7680960" cy="320040"/>
          </a:xfrm>
          <a:prstGeom prst="rect">
            <a:avLst/>
          </a:prstGeom>
          <a:noFill/>
        </p:spPr>
        <p:txBody>
          <a:bodyPr wrap="square" anchor="t">
            <a:spAutoFit/>
          </a:bodyPr>
          <a:lstStyle/>
          <a:p>
            <a:pPr algn="l">
              <a:lnSpc>
                <a:spcPct val="100000"/>
              </a:lnSpc>
            </a:pPr>
            <a:r>
              <a:rPr sz="1800" b="1" i="0">
                <a:solidFill>
                  <a:srgbClr val="FF6B35"/>
                </a:solidFill>
                <a:latin typeface="Arial"/>
              </a:rPr>
              <a:t>🎯  YOUR TURN</a:t>
            </a:r>
          </a:p>
        </p:txBody>
      </p:sp>
      <p:sp>
        <p:nvSpPr>
          <p:cNvPr id="13" name="TextBox 12"/>
          <p:cNvSpPr txBox="1"/>
          <p:nvPr/>
        </p:nvSpPr>
        <p:spPr>
          <a:xfrm>
            <a:off x="822959" y="4389120"/>
            <a:ext cx="7589520" cy="301752"/>
          </a:xfrm>
          <a:prstGeom prst="rect">
            <a:avLst/>
          </a:prstGeom>
          <a:noFill/>
        </p:spPr>
        <p:txBody>
          <a:bodyPr wrap="square" anchor="ctr">
            <a:spAutoFit/>
          </a:bodyPr>
          <a:lstStyle/>
          <a:p>
            <a:pPr algn="l">
              <a:lnSpc>
                <a:spcPct val="100000"/>
              </a:lnSpc>
            </a:pPr>
            <a:r>
              <a:rPr sz="1600" b="0" i="0">
                <a:solidFill>
                  <a:srgbClr val="000000"/>
                </a:solidFill>
                <a:latin typeface="Arial"/>
              </a:rPr>
              <a:t>1.  Yesterday I      -&gt; ________________________</a:t>
            </a:r>
          </a:p>
        </p:txBody>
      </p:sp>
      <p:sp>
        <p:nvSpPr>
          <p:cNvPr id="14" name="TextBox 13"/>
          <p:cNvSpPr txBox="1"/>
          <p:nvPr/>
        </p:nvSpPr>
        <p:spPr>
          <a:xfrm>
            <a:off x="822959" y="4709159"/>
            <a:ext cx="7589520" cy="301752"/>
          </a:xfrm>
          <a:prstGeom prst="rect">
            <a:avLst/>
          </a:prstGeom>
          <a:noFill/>
        </p:spPr>
        <p:txBody>
          <a:bodyPr wrap="square" anchor="ctr">
            <a:spAutoFit/>
          </a:bodyPr>
          <a:lstStyle/>
          <a:p>
            <a:pPr algn="l">
              <a:lnSpc>
                <a:spcPct val="100000"/>
              </a:lnSpc>
            </a:pPr>
            <a:r>
              <a:rPr sz="1600" b="0" i="0">
                <a:solidFill>
                  <a:srgbClr val="000000"/>
                </a:solidFill>
                <a:latin typeface="Arial"/>
              </a:rPr>
              <a:t>2.  Last night I     -&gt; ________________________</a:t>
            </a:r>
          </a:p>
        </p:txBody>
      </p:sp>
      <p:sp>
        <p:nvSpPr>
          <p:cNvPr id="15" name="TextBox 14"/>
          <p:cNvSpPr txBox="1"/>
          <p:nvPr/>
        </p:nvSpPr>
        <p:spPr>
          <a:xfrm>
            <a:off x="822959" y="5029199"/>
            <a:ext cx="7589520" cy="301752"/>
          </a:xfrm>
          <a:prstGeom prst="rect">
            <a:avLst/>
          </a:prstGeom>
          <a:noFill/>
        </p:spPr>
        <p:txBody>
          <a:bodyPr wrap="square" anchor="ctr">
            <a:spAutoFit/>
          </a:bodyPr>
          <a:lstStyle/>
          <a:p>
            <a:pPr algn="l">
              <a:lnSpc>
                <a:spcPct val="100000"/>
              </a:lnSpc>
            </a:pPr>
            <a:r>
              <a:rPr sz="1600" b="0" i="0">
                <a:solidFill>
                  <a:srgbClr val="000000"/>
                </a:solidFill>
                <a:latin typeface="Arial"/>
              </a:rPr>
              <a:t>3.  I went to        -&gt; ________________________</a:t>
            </a:r>
          </a:p>
        </p:txBody>
      </p:sp>
      <p:sp>
        <p:nvSpPr>
          <p:cNvPr id="16" name="TextBox 15"/>
          <p:cNvSpPr txBox="1"/>
          <p:nvPr/>
        </p:nvSpPr>
        <p:spPr>
          <a:xfrm>
            <a:off x="822959" y="5349239"/>
            <a:ext cx="7589520" cy="301752"/>
          </a:xfrm>
          <a:prstGeom prst="rect">
            <a:avLst/>
          </a:prstGeom>
          <a:noFill/>
        </p:spPr>
        <p:txBody>
          <a:bodyPr wrap="square" anchor="ctr">
            <a:spAutoFit/>
          </a:bodyPr>
          <a:lstStyle/>
          <a:p>
            <a:pPr algn="l">
              <a:lnSpc>
                <a:spcPct val="100000"/>
              </a:lnSpc>
            </a:pPr>
            <a:r>
              <a:rPr sz="1600" b="0" i="0">
                <a:solidFill>
                  <a:srgbClr val="000000"/>
                </a:solidFill>
                <a:latin typeface="Arial"/>
              </a:rPr>
              <a:t>4.  I didn't         -&gt; ________________________</a:t>
            </a:r>
          </a:p>
        </p:txBody>
      </p:sp>
      <p:sp>
        <p:nvSpPr>
          <p:cNvPr id="17" name="TextBox 16"/>
          <p:cNvSpPr txBox="1"/>
          <p:nvPr/>
        </p:nvSpPr>
        <p:spPr>
          <a:xfrm>
            <a:off x="822959" y="5669279"/>
            <a:ext cx="7589520" cy="301752"/>
          </a:xfrm>
          <a:prstGeom prst="rect">
            <a:avLst/>
          </a:prstGeom>
          <a:noFill/>
        </p:spPr>
        <p:txBody>
          <a:bodyPr wrap="square" anchor="ctr">
            <a:spAutoFit/>
          </a:bodyPr>
          <a:lstStyle/>
          <a:p>
            <a:pPr algn="l">
              <a:lnSpc>
                <a:spcPct val="100000"/>
              </a:lnSpc>
            </a:pPr>
            <a:r>
              <a:rPr sz="1600" b="0" i="0">
                <a:solidFill>
                  <a:srgbClr val="000000"/>
                </a:solidFill>
                <a:latin typeface="Arial"/>
              </a:rPr>
              <a:t>5.  I was ____, but ____.</a:t>
            </a:r>
          </a:p>
        </p:txBody>
      </p:sp>
      <p:sp>
        <p:nvSpPr>
          <p:cNvPr id="18" name="Rounded Rectangle 1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Write your own sentences.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10</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Past Simple Reg</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FORMULA</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VERB + -ed</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Use -ed for regular verbs.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11</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Past Simple Reg</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EXAMPLES</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watch -&gt; watched</a:t>
            </a:r>
          </a:p>
          <a:p>
            <a:pPr algn="l">
              <a:lnSpc>
                <a:spcPct val="130000"/>
              </a:lnSpc>
            </a:pPr>
            <a:r>
              <a:rPr sz="2200" b="0" i="0">
                <a:solidFill>
                  <a:srgbClr val="000000"/>
                </a:solidFill>
                <a:latin typeface="Arial"/>
              </a:rPr>
              <a:t>study -&gt; studied</a:t>
            </a:r>
          </a:p>
          <a:p>
            <a:pPr algn="l">
              <a:lnSpc>
                <a:spcPct val="130000"/>
              </a:lnSpc>
            </a:pPr>
            <a:r>
              <a:rPr sz="2200" b="0" i="0">
                <a:solidFill>
                  <a:srgbClr val="000000"/>
                </a:solidFill>
                <a:latin typeface="Arial"/>
              </a:rPr>
              <a:t>play -&gt; played</a:t>
            </a:r>
          </a:p>
          <a:p>
            <a:pPr algn="l">
              <a:lnSpc>
                <a:spcPct val="130000"/>
              </a:lnSpc>
            </a:pPr>
            <a:r>
              <a:rPr sz="2200" b="0" i="0">
                <a:solidFill>
                  <a:srgbClr val="000000"/>
                </a:solidFill>
                <a:latin typeface="Arial"/>
              </a:rPr>
              <a:t>work -&gt; worked</a:t>
            </a:r>
          </a:p>
          <a:p>
            <a:pPr algn="l">
              <a:lnSpc>
                <a:spcPct val="130000"/>
              </a:lnSpc>
            </a:pPr>
            <a:r>
              <a:rPr sz="2200" b="0" i="0">
                <a:solidFill>
                  <a:srgbClr val="000000"/>
                </a:solidFill>
                <a:latin typeface="Arial"/>
              </a:rPr>
              <a:t>listen -&gt; listened</a:t>
            </a:r>
          </a:p>
          <a:p>
            <a:pPr algn="l">
              <a:lnSpc>
                <a:spcPct val="130000"/>
              </a:lnSpc>
            </a:pPr>
            <a:r>
              <a:rPr sz="2200" b="0" i="0">
                <a:solidFill>
                  <a:srgbClr val="000000"/>
                </a:solidFill>
                <a:latin typeface="Arial"/>
              </a:rPr>
              <a:t>visit -&gt; visited</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Use -ed for regular verbs.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12</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Past Simple Reg</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SENTENCES</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I watched a movie yesterday.</a:t>
            </a:r>
          </a:p>
          <a:p>
            <a:pPr algn="l">
              <a:lnSpc>
                <a:spcPct val="130000"/>
              </a:lnSpc>
            </a:pPr>
            <a:r>
              <a:rPr sz="2200" b="0" i="0">
                <a:solidFill>
                  <a:srgbClr val="000000"/>
                </a:solidFill>
                <a:latin typeface="Arial"/>
              </a:rPr>
              <a:t>She studied English last night.</a:t>
            </a:r>
          </a:p>
          <a:p>
            <a:pPr algn="l">
              <a:lnSpc>
                <a:spcPct val="130000"/>
              </a:lnSpc>
            </a:pPr>
            <a:r>
              <a:rPr sz="2200" b="0" i="0">
                <a:solidFill>
                  <a:srgbClr val="000000"/>
                </a:solidFill>
                <a:latin typeface="Arial"/>
              </a:rPr>
              <a:t>We played soccer last weekend.</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Use -ed for regular verbs.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13</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Neg &amp; Questions</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NEGATIVE</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Subject + didn't + BASE VERB</a:t>
            </a:r>
          </a:p>
          <a:p>
            <a:pPr algn="l">
              <a:lnSpc>
                <a:spcPct val="130000"/>
              </a:lnSpc>
            </a:pPr>
            <a:r>
              <a:rPr sz="2200" b="0" i="0">
                <a:solidFill>
                  <a:srgbClr val="000000"/>
                </a:solidFill>
                <a:latin typeface="Arial"/>
              </a:rPr>
              <a:t>I didn't go out.</a:t>
            </a:r>
          </a:p>
          <a:p>
            <a:pPr algn="l">
              <a:lnSpc>
                <a:spcPct val="130000"/>
              </a:lnSpc>
            </a:pPr>
            <a:r>
              <a:rPr sz="2200" b="0" i="0">
                <a:solidFill>
                  <a:srgbClr val="000000"/>
                </a:solidFill>
                <a:latin typeface="Arial"/>
              </a:rPr>
              <a:t>She didn't watch TV.</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DID/DIDN'T + BASE verb.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14</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Neg &amp; Questions</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QUESTIONS</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Did + subject + BASE VERB?</a:t>
            </a:r>
          </a:p>
          <a:p>
            <a:pPr algn="l">
              <a:lnSpc>
                <a:spcPct val="130000"/>
              </a:lnSpc>
            </a:pPr>
            <a:r>
              <a:rPr sz="2200" b="0" i="0">
                <a:solidFill>
                  <a:srgbClr val="000000"/>
                </a:solidFill>
                <a:latin typeface="Arial"/>
              </a:rPr>
              <a:t>Did you watch a movie?</a:t>
            </a:r>
          </a:p>
          <a:p>
            <a:pPr algn="l">
              <a:lnSpc>
                <a:spcPct val="130000"/>
              </a:lnSpc>
            </a:pPr>
            <a:r>
              <a:rPr sz="2200" b="0" i="0">
                <a:solidFill>
                  <a:srgbClr val="000000"/>
                </a:solidFill>
                <a:latin typeface="Arial"/>
              </a:rPr>
              <a:t>Yes, I did. / No, I didn't.</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DID/DIDN'T + BASE verb.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15</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Neg &amp; Questions</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WAS/WERE</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I was tired.</a:t>
            </a:r>
          </a:p>
          <a:p>
            <a:pPr algn="l">
              <a:lnSpc>
                <a:spcPct val="130000"/>
              </a:lnSpc>
            </a:pPr>
            <a:r>
              <a:rPr sz="2200" b="0" i="0">
                <a:solidFill>
                  <a:srgbClr val="000000"/>
                </a:solidFill>
                <a:latin typeface="Arial"/>
              </a:rPr>
              <a:t>She was happy.</a:t>
            </a:r>
          </a:p>
          <a:p>
            <a:pPr algn="l">
              <a:lnSpc>
                <a:spcPct val="130000"/>
              </a:lnSpc>
            </a:pPr>
            <a:r>
              <a:rPr sz="2200" b="0" i="0">
                <a:solidFill>
                  <a:srgbClr val="000000"/>
                </a:solidFill>
                <a:latin typeface="Arial"/>
              </a:rPr>
              <a:t>They were at home.</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DID/DIDN'T + BASE verb.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16</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SOUND — -ed Pronunciation</a:t>
            </a:r>
          </a:p>
        </p:txBody>
      </p:sp>
      <p:sp>
        <p:nvSpPr>
          <p:cNvPr id="4" name="Rounded Rectangle 3"/>
          <p:cNvSpPr/>
          <p:nvPr/>
        </p:nvSpPr>
        <p:spPr>
          <a:xfrm>
            <a:off x="548640" y="1691640"/>
            <a:ext cx="8046720" cy="59435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691640"/>
            <a:ext cx="7498080" cy="594359"/>
          </a:xfrm>
          <a:prstGeom prst="rect">
            <a:avLst/>
          </a:prstGeom>
          <a:noFill/>
        </p:spPr>
        <p:txBody>
          <a:bodyPr wrap="square" anchor="ctr">
            <a:spAutoFit/>
          </a:bodyPr>
          <a:lstStyle/>
          <a:p>
            <a:pPr algn="l">
              <a:lnSpc>
                <a:spcPct val="100000"/>
              </a:lnSpc>
            </a:pPr>
            <a:r>
              <a:rPr sz="2000" b="0" i="0">
                <a:solidFill>
                  <a:srgbClr val="000000"/>
                </a:solidFill>
                <a:latin typeface="Arial"/>
              </a:rPr>
              <a:t>/t/: watched, worked</a:t>
            </a:r>
          </a:p>
        </p:txBody>
      </p:sp>
      <p:sp>
        <p:nvSpPr>
          <p:cNvPr id="6" name="Rounded Rectangle 5"/>
          <p:cNvSpPr/>
          <p:nvPr/>
        </p:nvSpPr>
        <p:spPr>
          <a:xfrm>
            <a:off x="548640" y="2350008"/>
            <a:ext cx="8046720" cy="59435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350008"/>
            <a:ext cx="7498080" cy="594359"/>
          </a:xfrm>
          <a:prstGeom prst="rect">
            <a:avLst/>
          </a:prstGeom>
          <a:noFill/>
        </p:spPr>
        <p:txBody>
          <a:bodyPr wrap="square" anchor="ctr">
            <a:spAutoFit/>
          </a:bodyPr>
          <a:lstStyle/>
          <a:p>
            <a:pPr algn="l">
              <a:lnSpc>
                <a:spcPct val="100000"/>
              </a:lnSpc>
            </a:pPr>
            <a:r>
              <a:rPr sz="2000" b="0" i="0">
                <a:solidFill>
                  <a:srgbClr val="000000"/>
                </a:solidFill>
                <a:latin typeface="Arial"/>
              </a:rPr>
              <a:t>/d/: played, listened</a:t>
            </a:r>
          </a:p>
        </p:txBody>
      </p:sp>
      <p:sp>
        <p:nvSpPr>
          <p:cNvPr id="8" name="Rounded Rectangle 7"/>
          <p:cNvSpPr/>
          <p:nvPr/>
        </p:nvSpPr>
        <p:spPr>
          <a:xfrm>
            <a:off x="548640" y="3008376"/>
            <a:ext cx="8046720" cy="59435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3008376"/>
            <a:ext cx="7498080" cy="594359"/>
          </a:xfrm>
          <a:prstGeom prst="rect">
            <a:avLst/>
          </a:prstGeom>
          <a:noFill/>
        </p:spPr>
        <p:txBody>
          <a:bodyPr wrap="square" anchor="ctr">
            <a:spAutoFit/>
          </a:bodyPr>
          <a:lstStyle/>
          <a:p>
            <a:pPr algn="l">
              <a:lnSpc>
                <a:spcPct val="100000"/>
              </a:lnSpc>
            </a:pPr>
            <a:r>
              <a:rPr sz="2000" b="0" i="0">
                <a:solidFill>
                  <a:srgbClr val="000000"/>
                </a:solidFill>
                <a:latin typeface="Arial"/>
              </a:rPr>
              <a:t>/ɪd/: wanted, visited</a:t>
            </a:r>
          </a:p>
        </p:txBody>
      </p:sp>
      <p:sp>
        <p:nvSpPr>
          <p:cNvPr id="10" name="Rounded Rectangle 9"/>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Three ways to pronounce -ed.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17</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PRONUNCIATION — Practice -ed</a:t>
            </a:r>
          </a:p>
        </p:txBody>
      </p:sp>
      <p:sp>
        <p:nvSpPr>
          <p:cNvPr id="4" name="Rounded Rectangle 3"/>
          <p:cNvSpPr/>
          <p:nvPr/>
        </p:nvSpPr>
        <p:spPr>
          <a:xfrm>
            <a:off x="548640" y="160020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365760"/>
          </a:xfrm>
          <a:prstGeom prst="rect">
            <a:avLst/>
          </a:prstGeom>
          <a:noFill/>
        </p:spPr>
        <p:txBody>
          <a:bodyPr wrap="square" anchor="ctr">
            <a:spAutoFit/>
          </a:bodyPr>
          <a:lstStyle/>
          <a:p>
            <a:pPr algn="l">
              <a:lnSpc>
                <a:spcPct val="100000"/>
              </a:lnSpc>
            </a:pPr>
            <a:r>
              <a:rPr sz="2000" b="1" i="0">
                <a:solidFill>
                  <a:srgbClr val="3D1F5C"/>
                </a:solidFill>
                <a:latin typeface="Arial"/>
              </a:rPr>
              <a:t>watched</a:t>
            </a:r>
          </a:p>
        </p:txBody>
      </p:sp>
      <p:sp>
        <p:nvSpPr>
          <p:cNvPr id="6" name="TextBox 5"/>
          <p:cNvSpPr txBox="1"/>
          <p:nvPr/>
        </p:nvSpPr>
        <p:spPr>
          <a:xfrm>
            <a:off x="731520" y="2011680"/>
            <a:ext cx="7680960" cy="320040"/>
          </a:xfrm>
          <a:prstGeom prst="rect">
            <a:avLst/>
          </a:prstGeom>
          <a:noFill/>
        </p:spPr>
        <p:txBody>
          <a:bodyPr wrap="square" anchor="ctr">
            <a:spAutoFit/>
          </a:bodyPr>
          <a:lstStyle/>
          <a:p>
            <a:pPr algn="l">
              <a:lnSpc>
                <a:spcPct val="100000"/>
              </a:lnSpc>
            </a:pPr>
            <a:r>
              <a:rPr sz="1800" b="0" i="1">
                <a:solidFill>
                  <a:srgbClr val="009B9B"/>
                </a:solidFill>
                <a:latin typeface="Arial"/>
              </a:rPr>
              <a:t>/wɑːtʃt/</a:t>
            </a:r>
          </a:p>
        </p:txBody>
      </p:sp>
      <p:sp>
        <p:nvSpPr>
          <p:cNvPr id="7" name="Rounded Rectangle 6"/>
          <p:cNvSpPr/>
          <p:nvPr/>
        </p:nvSpPr>
        <p:spPr>
          <a:xfrm>
            <a:off x="548640" y="251460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560320"/>
            <a:ext cx="7680960" cy="365760"/>
          </a:xfrm>
          <a:prstGeom prst="rect">
            <a:avLst/>
          </a:prstGeom>
          <a:noFill/>
        </p:spPr>
        <p:txBody>
          <a:bodyPr wrap="square" anchor="ctr">
            <a:spAutoFit/>
          </a:bodyPr>
          <a:lstStyle/>
          <a:p>
            <a:pPr algn="l">
              <a:lnSpc>
                <a:spcPct val="100000"/>
              </a:lnSpc>
            </a:pPr>
            <a:r>
              <a:rPr sz="2000" b="1" i="0">
                <a:solidFill>
                  <a:srgbClr val="3D1F5C"/>
                </a:solidFill>
                <a:latin typeface="Arial"/>
              </a:rPr>
              <a:t>played</a:t>
            </a:r>
          </a:p>
        </p:txBody>
      </p:sp>
      <p:sp>
        <p:nvSpPr>
          <p:cNvPr id="9" name="TextBox 8"/>
          <p:cNvSpPr txBox="1"/>
          <p:nvPr/>
        </p:nvSpPr>
        <p:spPr>
          <a:xfrm>
            <a:off x="731520" y="2926080"/>
            <a:ext cx="7680960" cy="320040"/>
          </a:xfrm>
          <a:prstGeom prst="rect">
            <a:avLst/>
          </a:prstGeom>
          <a:noFill/>
        </p:spPr>
        <p:txBody>
          <a:bodyPr wrap="square" anchor="ctr">
            <a:spAutoFit/>
          </a:bodyPr>
          <a:lstStyle/>
          <a:p>
            <a:pPr algn="l">
              <a:lnSpc>
                <a:spcPct val="100000"/>
              </a:lnSpc>
            </a:pPr>
            <a:r>
              <a:rPr sz="1800" b="0" i="1">
                <a:solidFill>
                  <a:srgbClr val="009B9B"/>
                </a:solidFill>
                <a:latin typeface="Arial"/>
              </a:rPr>
              <a:t>/pleɪd/</a:t>
            </a:r>
          </a:p>
        </p:txBody>
      </p:sp>
      <p:sp>
        <p:nvSpPr>
          <p:cNvPr id="10" name="Rounded Rectangle 9"/>
          <p:cNvSpPr/>
          <p:nvPr/>
        </p:nvSpPr>
        <p:spPr>
          <a:xfrm>
            <a:off x="548640" y="342900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474720"/>
            <a:ext cx="7680960" cy="365760"/>
          </a:xfrm>
          <a:prstGeom prst="rect">
            <a:avLst/>
          </a:prstGeom>
          <a:noFill/>
        </p:spPr>
        <p:txBody>
          <a:bodyPr wrap="square" anchor="ctr">
            <a:spAutoFit/>
          </a:bodyPr>
          <a:lstStyle/>
          <a:p>
            <a:pPr algn="l">
              <a:lnSpc>
                <a:spcPct val="100000"/>
              </a:lnSpc>
            </a:pPr>
            <a:r>
              <a:rPr sz="2000" b="1" i="0">
                <a:solidFill>
                  <a:srgbClr val="3D1F5C"/>
                </a:solidFill>
                <a:latin typeface="Arial"/>
              </a:rPr>
              <a:t>visited</a:t>
            </a:r>
          </a:p>
        </p:txBody>
      </p:sp>
      <p:sp>
        <p:nvSpPr>
          <p:cNvPr id="12" name="TextBox 11"/>
          <p:cNvSpPr txBox="1"/>
          <p:nvPr/>
        </p:nvSpPr>
        <p:spPr>
          <a:xfrm>
            <a:off x="731520" y="3840480"/>
            <a:ext cx="7680960" cy="320040"/>
          </a:xfrm>
          <a:prstGeom prst="rect">
            <a:avLst/>
          </a:prstGeom>
          <a:noFill/>
        </p:spPr>
        <p:txBody>
          <a:bodyPr wrap="square" anchor="ctr">
            <a:spAutoFit/>
          </a:bodyPr>
          <a:lstStyle/>
          <a:p>
            <a:pPr algn="l">
              <a:lnSpc>
                <a:spcPct val="100000"/>
              </a:lnSpc>
            </a:pPr>
            <a:r>
              <a:rPr sz="1800" b="0" i="1">
                <a:solidFill>
                  <a:srgbClr val="009B9B"/>
                </a:solidFill>
                <a:latin typeface="Arial"/>
              </a:rPr>
              <a:t>/ˈvɪzɪtɪd/</a:t>
            </a:r>
          </a:p>
        </p:txBody>
      </p:sp>
      <p:sp>
        <p:nvSpPr>
          <p:cNvPr id="13" name="Rounded Rectangle 12"/>
          <p:cNvSpPr/>
          <p:nvPr/>
        </p:nvSpPr>
        <p:spPr>
          <a:xfrm>
            <a:off x="548640" y="434340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389120"/>
            <a:ext cx="7680960" cy="365760"/>
          </a:xfrm>
          <a:prstGeom prst="rect">
            <a:avLst/>
          </a:prstGeom>
          <a:noFill/>
        </p:spPr>
        <p:txBody>
          <a:bodyPr wrap="square" anchor="ctr">
            <a:spAutoFit/>
          </a:bodyPr>
          <a:lstStyle/>
          <a:p>
            <a:pPr algn="l">
              <a:lnSpc>
                <a:spcPct val="100000"/>
              </a:lnSpc>
            </a:pPr>
            <a:r>
              <a:rPr sz="2000" b="1" i="0">
                <a:solidFill>
                  <a:srgbClr val="3D1F5C"/>
                </a:solidFill>
                <a:latin typeface="Arial"/>
              </a:rPr>
              <a:t>cleaned</a:t>
            </a:r>
          </a:p>
        </p:txBody>
      </p:sp>
      <p:sp>
        <p:nvSpPr>
          <p:cNvPr id="15" name="TextBox 14"/>
          <p:cNvSpPr txBox="1"/>
          <p:nvPr/>
        </p:nvSpPr>
        <p:spPr>
          <a:xfrm>
            <a:off x="731520" y="4754880"/>
            <a:ext cx="7680960" cy="320040"/>
          </a:xfrm>
          <a:prstGeom prst="rect">
            <a:avLst/>
          </a:prstGeom>
          <a:noFill/>
        </p:spPr>
        <p:txBody>
          <a:bodyPr wrap="square" anchor="ctr">
            <a:spAutoFit/>
          </a:bodyPr>
          <a:lstStyle/>
          <a:p>
            <a:pPr algn="l">
              <a:lnSpc>
                <a:spcPct val="100000"/>
              </a:lnSpc>
            </a:pPr>
            <a:r>
              <a:rPr sz="1800" b="0" i="1">
                <a:solidFill>
                  <a:srgbClr val="009B9B"/>
                </a:solidFill>
                <a:latin typeface="Arial"/>
              </a:rPr>
              <a:t>/kliːnd/</a:t>
            </a:r>
          </a:p>
        </p:txBody>
      </p:sp>
      <p:sp>
        <p:nvSpPr>
          <p:cNvPr id="16" name="Rounded Rectangle 15"/>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Record yourself and compare.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18</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PRACTICE — Complete (1/3)</a:t>
            </a:r>
          </a:p>
        </p:txBody>
      </p:sp>
      <p:sp>
        <p:nvSpPr>
          <p:cNvPr id="4" name="Rounded Rectangle 3"/>
          <p:cNvSpPr/>
          <p:nvPr/>
        </p:nvSpPr>
        <p:spPr>
          <a:xfrm>
            <a:off x="548640" y="16459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1. Yesterday, I ___ (watch) a movie.</a:t>
            </a:r>
          </a:p>
        </p:txBody>
      </p:sp>
      <p:sp>
        <p:nvSpPr>
          <p:cNvPr id="6" name="Rounded Rectangle 5"/>
          <p:cNvSpPr/>
          <p:nvPr/>
        </p:nvSpPr>
        <p:spPr>
          <a:xfrm>
            <a:off x="548640" y="25603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603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2. Last night, I ___ (study) English.</a:t>
            </a:r>
          </a:p>
        </p:txBody>
      </p:sp>
      <p:sp>
        <p:nvSpPr>
          <p:cNvPr id="8" name="Rounded Rectangle 7"/>
          <p:cNvSpPr/>
          <p:nvPr/>
        </p:nvSpPr>
        <p:spPr>
          <a:xfrm>
            <a:off x="548640" y="34747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3. She ___ (play) soccer last weekend.</a:t>
            </a:r>
          </a:p>
        </p:txBody>
      </p:sp>
      <p:sp>
        <p:nvSpPr>
          <p:cNvPr id="10" name="Rounded Rectangle 9"/>
          <p:cNvSpPr/>
          <p:nvPr/>
        </p:nvSpPr>
        <p:spPr>
          <a:xfrm>
            <a:off x="548640" y="43891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3891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4. We ___ (visit) our grandparents.</a:t>
            </a:r>
          </a:p>
        </p:txBody>
      </p:sp>
      <p:sp>
        <p:nvSpPr>
          <p:cNvPr id="12" name="Rounded Rectangle 11"/>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Answer orally first.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19</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PRACTICE — Complete (2/3)</a:t>
            </a:r>
          </a:p>
        </p:txBody>
      </p:sp>
      <p:sp>
        <p:nvSpPr>
          <p:cNvPr id="4" name="Rounded Rectangle 3"/>
          <p:cNvSpPr/>
          <p:nvPr/>
        </p:nvSpPr>
        <p:spPr>
          <a:xfrm>
            <a:off x="548640" y="16459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5. He ___ (clean) his room yesterday.</a:t>
            </a:r>
          </a:p>
        </p:txBody>
      </p:sp>
      <p:sp>
        <p:nvSpPr>
          <p:cNvPr id="6" name="Rounded Rectangle 5"/>
          <p:cNvSpPr/>
          <p:nvPr/>
        </p:nvSpPr>
        <p:spPr>
          <a:xfrm>
            <a:off x="548640" y="25603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603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6. They ___ (cook) dinner last night.</a:t>
            </a:r>
          </a:p>
        </p:txBody>
      </p:sp>
      <p:sp>
        <p:nvSpPr>
          <p:cNvPr id="8" name="Rounded Rectangle 7"/>
          <p:cNvSpPr/>
          <p:nvPr/>
        </p:nvSpPr>
        <p:spPr>
          <a:xfrm>
            <a:off x="548640" y="34747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7. I ___ (go) to the store yesterday.</a:t>
            </a:r>
          </a:p>
        </p:txBody>
      </p:sp>
      <p:sp>
        <p:nvSpPr>
          <p:cNvPr id="10" name="Rounded Rectangle 9"/>
          <p:cNvSpPr/>
          <p:nvPr/>
        </p:nvSpPr>
        <p:spPr>
          <a:xfrm>
            <a:off x="548640" y="43891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3891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8. She ___ (have) breakfast at 7.</a:t>
            </a:r>
          </a:p>
        </p:txBody>
      </p:sp>
      <p:sp>
        <p:nvSpPr>
          <p:cNvPr id="12" name="Rounded Rectangle 11"/>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Answer orally first.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20</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PRACTICE — Complete (3/3)</a:t>
            </a:r>
          </a:p>
        </p:txBody>
      </p:sp>
      <p:sp>
        <p:nvSpPr>
          <p:cNvPr id="4" name="Rounded Rectangle 3"/>
          <p:cNvSpPr/>
          <p:nvPr/>
        </p:nvSpPr>
        <p:spPr>
          <a:xfrm>
            <a:off x="548640" y="16459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9. We ___ (see) a movie last night.</a:t>
            </a:r>
          </a:p>
        </p:txBody>
      </p:sp>
      <p:sp>
        <p:nvSpPr>
          <p:cNvPr id="6" name="Rounded Rectangle 5"/>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Answer orally first.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21</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SPEAKING — Conversation (1/2)</a:t>
            </a:r>
          </a:p>
        </p:txBody>
      </p:sp>
      <p:sp>
        <p:nvSpPr>
          <p:cNvPr id="4" name="Rounded Rectangle 3"/>
          <p:cNvSpPr/>
          <p:nvPr/>
        </p:nvSpPr>
        <p:spPr>
          <a:xfrm>
            <a:off x="548640" y="1554480"/>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What did you do yesterday?</a:t>
            </a:r>
          </a:p>
        </p:txBody>
      </p:sp>
      <p:sp>
        <p:nvSpPr>
          <p:cNvPr id="6" name="TextBox 5"/>
          <p:cNvSpPr txBox="1"/>
          <p:nvPr/>
        </p:nvSpPr>
        <p:spPr>
          <a:xfrm>
            <a:off x="914400" y="2148840"/>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I ____.</a:t>
            </a:r>
          </a:p>
        </p:txBody>
      </p:sp>
      <p:sp>
        <p:nvSpPr>
          <p:cNvPr id="7" name="Rounded Rectangle 6"/>
          <p:cNvSpPr/>
          <p:nvPr/>
        </p:nvSpPr>
        <p:spPr>
          <a:xfrm>
            <a:off x="548640" y="2834639"/>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926079"/>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What time did you wake up?</a:t>
            </a:r>
          </a:p>
        </p:txBody>
      </p:sp>
      <p:sp>
        <p:nvSpPr>
          <p:cNvPr id="9" name="TextBox 8"/>
          <p:cNvSpPr txBox="1"/>
          <p:nvPr/>
        </p:nvSpPr>
        <p:spPr>
          <a:xfrm>
            <a:off x="914400" y="3428999"/>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I woke up at ____.</a:t>
            </a:r>
          </a:p>
        </p:txBody>
      </p:sp>
      <p:sp>
        <p:nvSpPr>
          <p:cNvPr id="10" name="Rounded Rectangle 9"/>
          <p:cNvSpPr/>
          <p:nvPr/>
        </p:nvSpPr>
        <p:spPr>
          <a:xfrm>
            <a:off x="548640" y="4114800"/>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206240"/>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Did you study?</a:t>
            </a:r>
          </a:p>
        </p:txBody>
      </p:sp>
      <p:sp>
        <p:nvSpPr>
          <p:cNvPr id="12" name="TextBox 11"/>
          <p:cNvSpPr txBox="1"/>
          <p:nvPr/>
        </p:nvSpPr>
        <p:spPr>
          <a:xfrm>
            <a:off x="914400" y="4709160"/>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Yes, I did. / No, I didn't.</a:t>
            </a:r>
          </a:p>
        </p:txBody>
      </p:sp>
      <p:sp>
        <p:nvSpPr>
          <p:cNvPr id="13" name="Rounded Rectangle 12"/>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Speak naturally.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22</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SPEAKING — Conversation (2/2)</a:t>
            </a:r>
          </a:p>
        </p:txBody>
      </p:sp>
      <p:sp>
        <p:nvSpPr>
          <p:cNvPr id="4" name="Rounded Rectangle 3"/>
          <p:cNvSpPr/>
          <p:nvPr/>
        </p:nvSpPr>
        <p:spPr>
          <a:xfrm>
            <a:off x="548640" y="1554480"/>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Did you go out?</a:t>
            </a:r>
          </a:p>
        </p:txBody>
      </p:sp>
      <p:sp>
        <p:nvSpPr>
          <p:cNvPr id="6" name="TextBox 5"/>
          <p:cNvSpPr txBox="1"/>
          <p:nvPr/>
        </p:nvSpPr>
        <p:spPr>
          <a:xfrm>
            <a:off x="914400" y="2148840"/>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Yes, I did. / No, I didn't.</a:t>
            </a:r>
          </a:p>
        </p:txBody>
      </p:sp>
      <p:sp>
        <p:nvSpPr>
          <p:cNvPr id="7" name="Rounded Rectangle 6"/>
          <p:cNvSpPr/>
          <p:nvPr/>
        </p:nvSpPr>
        <p:spPr>
          <a:xfrm>
            <a:off x="548640" y="2834639"/>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926079"/>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What did you eat?</a:t>
            </a:r>
          </a:p>
        </p:txBody>
      </p:sp>
      <p:sp>
        <p:nvSpPr>
          <p:cNvPr id="9" name="TextBox 8"/>
          <p:cNvSpPr txBox="1"/>
          <p:nvPr/>
        </p:nvSpPr>
        <p:spPr>
          <a:xfrm>
            <a:off x="914400" y="3428999"/>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I ate ____.</a:t>
            </a:r>
          </a:p>
        </p:txBody>
      </p:sp>
      <p:sp>
        <p:nvSpPr>
          <p:cNvPr id="10" name="Rounded Rectangle 9"/>
          <p:cNvSpPr/>
          <p:nvPr/>
        </p:nvSpPr>
        <p:spPr>
          <a:xfrm>
            <a:off x="548640" y="4114800"/>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206240"/>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Were you tired?</a:t>
            </a:r>
          </a:p>
        </p:txBody>
      </p:sp>
      <p:sp>
        <p:nvSpPr>
          <p:cNvPr id="12" name="TextBox 11"/>
          <p:cNvSpPr txBox="1"/>
          <p:nvPr/>
        </p:nvSpPr>
        <p:spPr>
          <a:xfrm>
            <a:off x="914400" y="4709160"/>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Yes, I was. / No, I wasn't.</a:t>
            </a:r>
          </a:p>
        </p:txBody>
      </p:sp>
      <p:sp>
        <p:nvSpPr>
          <p:cNvPr id="13" name="Rounded Rectangle 12"/>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Speak naturally.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23</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LISTENING — Emma's Day</a:t>
            </a:r>
          </a:p>
        </p:txBody>
      </p:sp>
      <p:sp>
        <p:nvSpPr>
          <p:cNvPr id="4" name="Rounded Rectangle 3"/>
          <p:cNvSpPr/>
          <p:nvPr/>
        </p:nvSpPr>
        <p:spPr>
          <a:xfrm>
            <a:off x="548640" y="1508760"/>
            <a:ext cx="8046720" cy="4206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320040"/>
          </a:xfrm>
          <a:prstGeom prst="rect">
            <a:avLst/>
          </a:prstGeom>
          <a:noFill/>
        </p:spPr>
        <p:txBody>
          <a:bodyPr wrap="square" anchor="t">
            <a:spAutoFit/>
          </a:bodyPr>
          <a:lstStyle/>
          <a:p>
            <a:pPr algn="l">
              <a:lnSpc>
                <a:spcPct val="100000"/>
              </a:lnSpc>
            </a:pPr>
            <a:r>
              <a:rPr sz="1800" b="1" i="0">
                <a:solidFill>
                  <a:srgbClr val="FF6B35"/>
                </a:solidFill>
                <a:latin typeface="Arial"/>
              </a:rPr>
              <a:t>TEXT</a:t>
            </a:r>
          </a:p>
        </p:txBody>
      </p:sp>
      <p:sp>
        <p:nvSpPr>
          <p:cNvPr id="6" name="TextBox 5"/>
          <p:cNvSpPr txBox="1"/>
          <p:nvPr/>
        </p:nvSpPr>
        <p:spPr>
          <a:xfrm>
            <a:off x="822959" y="2057400"/>
            <a:ext cx="7498080" cy="3566160"/>
          </a:xfrm>
          <a:prstGeom prst="rect">
            <a:avLst/>
          </a:prstGeom>
          <a:noFill/>
        </p:spPr>
        <p:txBody>
          <a:bodyPr wrap="square" anchor="t">
            <a:spAutoFit/>
          </a:bodyPr>
          <a:lstStyle/>
          <a:p>
            <a:pPr algn="l">
              <a:lnSpc>
                <a:spcPct val="130000"/>
              </a:lnSpc>
            </a:pPr>
            <a:r>
              <a:rPr sz="1800" b="0" i="0">
                <a:solidFill>
                  <a:srgbClr val="000000"/>
                </a:solidFill>
                <a:latin typeface="Arial"/>
              </a:rPr>
              <a:t>Yesterday, Emma woke up at seven. She had breakfast with her family and went to school. After school, she studied for one hour. Then she went home and listened to music. In the evening, she watched a movie with her mother. She was tired, but she was happy.</a:t>
            </a:r>
          </a:p>
        </p:txBody>
      </p:sp>
      <p:sp>
        <p:nvSpPr>
          <p:cNvPr id="7" name="Rounded Rectangle 6"/>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Listen carefully to the text.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24</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LISTENING — Answer the questions</a:t>
            </a:r>
          </a:p>
        </p:txBody>
      </p:sp>
      <p:sp>
        <p:nvSpPr>
          <p:cNvPr id="4" name="Rounded Rectangle 3"/>
          <p:cNvSpPr/>
          <p:nvPr/>
        </p:nvSpPr>
        <p:spPr>
          <a:xfrm>
            <a:off x="548640" y="1600200"/>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1. What time did Emma wake up?</a:t>
            </a:r>
          </a:p>
        </p:txBody>
      </p:sp>
      <p:sp>
        <p:nvSpPr>
          <p:cNvPr id="6" name="Rounded Rectangle 5"/>
          <p:cNvSpPr/>
          <p:nvPr/>
        </p:nvSpPr>
        <p:spPr>
          <a:xfrm>
            <a:off x="548640" y="2404872"/>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04872"/>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2. Who did she have breakfast with?</a:t>
            </a:r>
          </a:p>
        </p:txBody>
      </p:sp>
      <p:sp>
        <p:nvSpPr>
          <p:cNvPr id="8" name="Rounded Rectangle 7"/>
          <p:cNvSpPr/>
          <p:nvPr/>
        </p:nvSpPr>
        <p:spPr>
          <a:xfrm>
            <a:off x="548640" y="3209544"/>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209544"/>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3. Where did she go?</a:t>
            </a:r>
          </a:p>
        </p:txBody>
      </p:sp>
      <p:sp>
        <p:nvSpPr>
          <p:cNvPr id="10" name="Rounded Rectangle 9"/>
          <p:cNvSpPr/>
          <p:nvPr/>
        </p:nvSpPr>
        <p:spPr>
          <a:xfrm>
            <a:off x="548640" y="4014215"/>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014215"/>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4. What did she do after school?</a:t>
            </a:r>
          </a:p>
        </p:txBody>
      </p:sp>
      <p:sp>
        <p:nvSpPr>
          <p:cNvPr id="12" name="Rounded Rectangle 11"/>
          <p:cNvSpPr/>
          <p:nvPr/>
        </p:nvSpPr>
        <p:spPr>
          <a:xfrm>
            <a:off x="548640" y="4818888"/>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818888"/>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5. What did she watch?</a:t>
            </a:r>
          </a:p>
        </p:txBody>
      </p:sp>
      <p:sp>
        <p:nvSpPr>
          <p:cNvPr id="14" name="Rounded Rectangle 13"/>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Answer in complete sentences.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25</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SPEAKING CHALLENGE — My Yesterday</a:t>
            </a:r>
          </a:p>
        </p:txBody>
      </p:sp>
      <p:sp>
        <p:nvSpPr>
          <p:cNvPr id="4" name="Rounded Rectangle 3"/>
          <p:cNvSpPr/>
          <p:nvPr/>
        </p:nvSpPr>
        <p:spPr>
          <a:xfrm>
            <a:off x="914400" y="1600200"/>
            <a:ext cx="731520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600200"/>
            <a:ext cx="6949440" cy="685800"/>
          </a:xfrm>
          <a:prstGeom prst="rect">
            <a:avLst/>
          </a:prstGeom>
          <a:noFill/>
        </p:spPr>
        <p:txBody>
          <a:bodyPr wrap="square" anchor="ctr">
            <a:spAutoFit/>
          </a:bodyPr>
          <a:lstStyle/>
          <a:p>
            <a:pPr algn="ctr">
              <a:lnSpc>
                <a:spcPct val="100000"/>
              </a:lnSpc>
            </a:pPr>
            <a:r>
              <a:rPr sz="2000" b="1" i="0">
                <a:solidFill>
                  <a:srgbClr val="3D1F5C"/>
                </a:solidFill>
                <a:latin typeface="Arial"/>
              </a:rPr>
              <a:t>1 time</a:t>
            </a:r>
          </a:p>
        </p:txBody>
      </p:sp>
      <p:sp>
        <p:nvSpPr>
          <p:cNvPr id="6" name="Rounded Rectangle 5"/>
          <p:cNvSpPr/>
          <p:nvPr/>
        </p:nvSpPr>
        <p:spPr>
          <a:xfrm>
            <a:off x="914400" y="2377440"/>
            <a:ext cx="731520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377440"/>
            <a:ext cx="6949440" cy="685800"/>
          </a:xfrm>
          <a:prstGeom prst="rect">
            <a:avLst/>
          </a:prstGeom>
          <a:noFill/>
        </p:spPr>
        <p:txBody>
          <a:bodyPr wrap="square" anchor="ctr">
            <a:spAutoFit/>
          </a:bodyPr>
          <a:lstStyle/>
          <a:p>
            <a:pPr algn="ctr">
              <a:lnSpc>
                <a:spcPct val="100000"/>
              </a:lnSpc>
            </a:pPr>
            <a:r>
              <a:rPr sz="2000" b="1" i="0">
                <a:solidFill>
                  <a:srgbClr val="3D1F5C"/>
                </a:solidFill>
                <a:latin typeface="Arial"/>
              </a:rPr>
              <a:t>5 past activities</a:t>
            </a:r>
          </a:p>
        </p:txBody>
      </p:sp>
      <p:sp>
        <p:nvSpPr>
          <p:cNvPr id="8" name="Rounded Rectangle 7"/>
          <p:cNvSpPr/>
          <p:nvPr/>
        </p:nvSpPr>
        <p:spPr>
          <a:xfrm>
            <a:off x="914400" y="3154680"/>
            <a:ext cx="731520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154680"/>
            <a:ext cx="6949440" cy="685800"/>
          </a:xfrm>
          <a:prstGeom prst="rect">
            <a:avLst/>
          </a:prstGeom>
          <a:noFill/>
        </p:spPr>
        <p:txBody>
          <a:bodyPr wrap="square" anchor="ctr">
            <a:spAutoFit/>
          </a:bodyPr>
          <a:lstStyle/>
          <a:p>
            <a:pPr algn="ctr">
              <a:lnSpc>
                <a:spcPct val="100000"/>
              </a:lnSpc>
            </a:pPr>
            <a:r>
              <a:rPr sz="2000" b="1" i="0">
                <a:solidFill>
                  <a:srgbClr val="3D1F5C"/>
                </a:solidFill>
                <a:latin typeface="Arial"/>
              </a:rPr>
              <a:t>2 irregular verbs</a:t>
            </a:r>
          </a:p>
        </p:txBody>
      </p:sp>
      <p:sp>
        <p:nvSpPr>
          <p:cNvPr id="10" name="Rounded Rectangle 9"/>
          <p:cNvSpPr/>
          <p:nvPr/>
        </p:nvSpPr>
        <p:spPr>
          <a:xfrm>
            <a:off x="914400" y="3931920"/>
            <a:ext cx="731520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931920"/>
            <a:ext cx="6949440" cy="685800"/>
          </a:xfrm>
          <a:prstGeom prst="rect">
            <a:avLst/>
          </a:prstGeom>
          <a:noFill/>
        </p:spPr>
        <p:txBody>
          <a:bodyPr wrap="square" anchor="ctr">
            <a:spAutoFit/>
          </a:bodyPr>
          <a:lstStyle/>
          <a:p>
            <a:pPr algn="ctr">
              <a:lnSpc>
                <a:spcPct val="100000"/>
              </a:lnSpc>
            </a:pPr>
            <a:r>
              <a:rPr sz="2000" b="1" i="0">
                <a:solidFill>
                  <a:srgbClr val="3D1F5C"/>
                </a:solidFill>
                <a:latin typeface="Arial"/>
              </a:rPr>
              <a:t>1 negative sentence</a:t>
            </a:r>
          </a:p>
        </p:txBody>
      </p:sp>
      <p:sp>
        <p:nvSpPr>
          <p:cNvPr id="12" name="Rounded Rectangle 11"/>
          <p:cNvSpPr/>
          <p:nvPr/>
        </p:nvSpPr>
        <p:spPr>
          <a:xfrm>
            <a:off x="914400" y="4709159"/>
            <a:ext cx="731520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709159"/>
            <a:ext cx="6949440" cy="685800"/>
          </a:xfrm>
          <a:prstGeom prst="rect">
            <a:avLst/>
          </a:prstGeom>
          <a:noFill/>
        </p:spPr>
        <p:txBody>
          <a:bodyPr wrap="square" anchor="ctr">
            <a:spAutoFit/>
          </a:bodyPr>
          <a:lstStyle/>
          <a:p>
            <a:pPr algn="ctr">
              <a:lnSpc>
                <a:spcPct val="100000"/>
              </a:lnSpc>
            </a:pPr>
            <a:r>
              <a:rPr sz="2000" b="1" i="0">
                <a:solidFill>
                  <a:srgbClr val="3D1F5C"/>
                </a:solidFill>
                <a:latin typeface="Arial"/>
              </a:rPr>
              <a:t>1 was/were sentence</a:t>
            </a:r>
          </a:p>
        </p:txBody>
      </p:sp>
      <p:sp>
        <p:nvSpPr>
          <p:cNvPr id="14" name="Rounded Rectangle 13"/>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Speak 1-2 minutes. No memorization.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26</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WRITING — Requirements</a:t>
            </a:r>
          </a:p>
        </p:txBody>
      </p:sp>
      <p:sp>
        <p:nvSpPr>
          <p:cNvPr id="4" name="Rounded Rectangle 3"/>
          <p:cNvSpPr/>
          <p:nvPr/>
        </p:nvSpPr>
        <p:spPr>
          <a:xfrm>
            <a:off x="548640" y="1508760"/>
            <a:ext cx="3931920" cy="10058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3657600" cy="365760"/>
          </a:xfrm>
          <a:prstGeom prst="rect">
            <a:avLst/>
          </a:prstGeom>
          <a:noFill/>
        </p:spPr>
        <p:txBody>
          <a:bodyPr wrap="square" anchor="ctr">
            <a:spAutoFit/>
          </a:bodyPr>
          <a:lstStyle/>
          <a:p>
            <a:pPr algn="l">
              <a:lnSpc>
                <a:spcPct val="100000"/>
              </a:lnSpc>
            </a:pPr>
            <a:r>
              <a:rPr sz="2000" b="1" i="0">
                <a:solidFill>
                  <a:srgbClr val="FF6B35"/>
                </a:solidFill>
                <a:latin typeface="Arial"/>
              </a:rPr>
              <a:t>60-80 WORDS</a:t>
            </a:r>
          </a:p>
        </p:txBody>
      </p:sp>
      <p:sp>
        <p:nvSpPr>
          <p:cNvPr id="6" name="TextBox 5"/>
          <p:cNvSpPr txBox="1"/>
          <p:nvPr/>
        </p:nvSpPr>
        <p:spPr>
          <a:xfrm>
            <a:off x="731520" y="2011680"/>
            <a:ext cx="3657600" cy="365760"/>
          </a:xfrm>
          <a:prstGeom prst="rect">
            <a:avLst/>
          </a:prstGeom>
          <a:noFill/>
        </p:spPr>
        <p:txBody>
          <a:bodyPr wrap="square" anchor="ctr">
            <a:spAutoFit/>
          </a:bodyPr>
          <a:lstStyle/>
          <a:p>
            <a:pPr algn="l">
              <a:lnSpc>
                <a:spcPct val="100000"/>
              </a:lnSpc>
            </a:pPr>
            <a:r>
              <a:rPr sz="1800" b="0" i="0">
                <a:solidFill>
                  <a:srgbClr val="000000"/>
                </a:solidFill>
                <a:latin typeface="Arial"/>
              </a:rPr>
              <a:t>TIME: 20 min</a:t>
            </a:r>
          </a:p>
        </p:txBody>
      </p:sp>
      <p:sp>
        <p:nvSpPr>
          <p:cNvPr id="7" name="Rounded Rectangle 6"/>
          <p:cNvSpPr/>
          <p:nvPr/>
        </p:nvSpPr>
        <p:spPr>
          <a:xfrm>
            <a:off x="4663440" y="1508760"/>
            <a:ext cx="3931920" cy="100584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0" y="1554480"/>
            <a:ext cx="3657600" cy="320040"/>
          </a:xfrm>
          <a:prstGeom prst="rect">
            <a:avLst/>
          </a:prstGeom>
          <a:noFill/>
        </p:spPr>
        <p:txBody>
          <a:bodyPr wrap="square" anchor="ctr">
            <a:spAutoFit/>
          </a:bodyPr>
          <a:lstStyle/>
          <a:p>
            <a:pPr algn="l">
              <a:lnSpc>
                <a:spcPct val="100000"/>
              </a:lnSpc>
            </a:pPr>
            <a:r>
              <a:rPr sz="1600" b="1" i="0">
                <a:solidFill>
                  <a:srgbClr val="FF6B35"/>
                </a:solidFill>
                <a:latin typeface="Arial"/>
              </a:rPr>
              <a:t>FOCUS</a:t>
            </a:r>
          </a:p>
        </p:txBody>
      </p:sp>
      <p:sp>
        <p:nvSpPr>
          <p:cNvPr id="9" name="TextBox 8"/>
          <p:cNvSpPr txBox="1"/>
          <p:nvPr/>
        </p:nvSpPr>
        <p:spPr>
          <a:xfrm>
            <a:off x="4846320" y="1920240"/>
            <a:ext cx="3657600" cy="502920"/>
          </a:xfrm>
          <a:prstGeom prst="rect">
            <a:avLst/>
          </a:prstGeom>
          <a:noFill/>
        </p:spPr>
        <p:txBody>
          <a:bodyPr wrap="square" anchor="ctr">
            <a:spAutoFit/>
          </a:bodyPr>
          <a:lstStyle/>
          <a:p>
            <a:pPr algn="ctr">
              <a:lnSpc>
                <a:spcPct val="100000"/>
              </a:lnSpc>
            </a:pPr>
            <a:r>
              <a:rPr sz="1600" b="0" i="0">
                <a:solidFill>
                  <a:srgbClr val="FFFFFF"/>
                </a:solidFill>
                <a:latin typeface="Arial"/>
              </a:rPr>
              <a:t>Past Simple</a:t>
            </a:r>
          </a:p>
        </p:txBody>
      </p:sp>
      <p:sp>
        <p:nvSpPr>
          <p:cNvPr id="10" name="Rounded Rectangle 9"/>
          <p:cNvSpPr/>
          <p:nvPr/>
        </p:nvSpPr>
        <p:spPr>
          <a:xfrm>
            <a:off x="548640" y="2697480"/>
            <a:ext cx="8046720" cy="3063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743200"/>
            <a:ext cx="7680960" cy="365760"/>
          </a:xfrm>
          <a:prstGeom prst="rect">
            <a:avLst/>
          </a:prstGeom>
          <a:noFill/>
        </p:spPr>
        <p:txBody>
          <a:bodyPr wrap="square" anchor="t">
            <a:spAutoFit/>
          </a:bodyPr>
          <a:lstStyle/>
          <a:p>
            <a:pPr algn="l">
              <a:lnSpc>
                <a:spcPct val="100000"/>
              </a:lnSpc>
            </a:pPr>
            <a:r>
              <a:rPr sz="1800" b="1" i="0">
                <a:solidFill>
                  <a:srgbClr val="FF6B35"/>
                </a:solidFill>
                <a:latin typeface="Arial"/>
              </a:rPr>
              <a:t>REQUIREMENTS</a:t>
            </a:r>
          </a:p>
        </p:txBody>
      </p:sp>
      <p:sp>
        <p:nvSpPr>
          <p:cNvPr id="12" name="TextBox 11"/>
          <p:cNvSpPr txBox="1"/>
          <p:nvPr/>
        </p:nvSpPr>
        <p:spPr>
          <a:xfrm>
            <a:off x="822959" y="3200400"/>
            <a:ext cx="7589520" cy="2468880"/>
          </a:xfrm>
          <a:prstGeom prst="rect">
            <a:avLst/>
          </a:prstGeom>
          <a:noFill/>
        </p:spPr>
        <p:txBody>
          <a:bodyPr wrap="square" anchor="t">
            <a:spAutoFit/>
          </a:bodyPr>
          <a:lstStyle/>
          <a:p>
            <a:pPr algn="l">
              <a:lnSpc>
                <a:spcPct val="130000"/>
              </a:lnSpc>
            </a:pPr>
            <a:r>
              <a:rPr sz="2000" b="0" i="0">
                <a:solidFill>
                  <a:srgbClr val="000000"/>
                </a:solidFill>
                <a:latin typeface="Arial"/>
              </a:rPr>
              <a:t>- 5 Past Simple verbs</a:t>
            </a:r>
          </a:p>
          <a:p>
            <a:pPr algn="l">
              <a:lnSpc>
                <a:spcPct val="130000"/>
              </a:lnSpc>
            </a:pPr>
            <a:r>
              <a:rPr sz="2000" b="0" i="0">
                <a:solidFill>
                  <a:srgbClr val="000000"/>
                </a:solidFill>
                <a:latin typeface="Arial"/>
              </a:rPr>
              <a:t>- 2 irregular verbs</a:t>
            </a:r>
          </a:p>
          <a:p>
            <a:pPr algn="l">
              <a:lnSpc>
                <a:spcPct val="130000"/>
              </a:lnSpc>
            </a:pPr>
            <a:r>
              <a:rPr sz="2000" b="0" i="0">
                <a:solidFill>
                  <a:srgbClr val="000000"/>
                </a:solidFill>
                <a:latin typeface="Arial"/>
              </a:rPr>
              <a:t>- 1 negative sentence</a:t>
            </a:r>
          </a:p>
          <a:p>
            <a:pPr algn="l">
              <a:lnSpc>
                <a:spcPct val="130000"/>
              </a:lnSpc>
            </a:pPr>
            <a:r>
              <a:rPr sz="2000" b="0" i="0">
                <a:solidFill>
                  <a:srgbClr val="000000"/>
                </a:solidFill>
                <a:latin typeface="Arial"/>
              </a:rPr>
              <a:t>- 1 was/were sentence</a:t>
            </a:r>
          </a:p>
        </p:txBody>
      </p:sp>
      <p:sp>
        <p:nvSpPr>
          <p:cNvPr id="13" name="Rounded Rectangle 12"/>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Follow the requirements.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27</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WRITING — Template</a:t>
            </a:r>
          </a:p>
        </p:txBody>
      </p:sp>
      <p:sp>
        <p:nvSpPr>
          <p:cNvPr id="4" name="Rounded Rectangle 3"/>
          <p:cNvSpPr/>
          <p:nvPr/>
        </p:nvSpPr>
        <p:spPr>
          <a:xfrm>
            <a:off x="548640" y="1463040"/>
            <a:ext cx="8046720" cy="4343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7406640" cy="3977639"/>
          </a:xfrm>
          <a:prstGeom prst="rect">
            <a:avLst/>
          </a:prstGeom>
          <a:noFill/>
        </p:spPr>
        <p:txBody>
          <a:bodyPr wrap="square" anchor="ctr">
            <a:spAutoFit/>
          </a:bodyPr>
          <a:lstStyle/>
          <a:p>
            <a:pPr algn="l">
              <a:lnSpc>
                <a:spcPct val="125000"/>
              </a:lnSpc>
            </a:pPr>
            <a:r>
              <a:rPr sz="2100" b="0" i="0">
                <a:solidFill>
                  <a:srgbClr val="000000"/>
                </a:solidFill>
                <a:latin typeface="Arial"/>
              </a:rPr>
              <a:t>MY YESTERDAY   —   By: ____________</a:t>
            </a:r>
          </a:p>
          <a:p>
            <a:pPr algn="l">
              <a:lnSpc>
                <a:spcPct val="125000"/>
              </a:lnSpc>
            </a:pPr>
          </a:p>
          <a:p>
            <a:pPr algn="l">
              <a:lnSpc>
                <a:spcPct val="125000"/>
              </a:lnSpc>
            </a:pPr>
            <a:r>
              <a:rPr sz="2100" b="0" i="0">
                <a:solidFill>
                  <a:srgbClr val="000000"/>
                </a:solidFill>
                <a:latin typeface="Arial"/>
              </a:rPr>
              <a:t>Yesterday, I woke up at ____________.</a:t>
            </a:r>
          </a:p>
          <a:p>
            <a:pPr algn="l">
              <a:lnSpc>
                <a:spcPct val="125000"/>
              </a:lnSpc>
            </a:pPr>
            <a:r>
              <a:rPr sz="2100" b="0" i="0">
                <a:solidFill>
                  <a:srgbClr val="000000"/>
                </a:solidFill>
                <a:latin typeface="Arial"/>
              </a:rPr>
              <a:t>I had ____________ for breakfast.</a:t>
            </a:r>
          </a:p>
          <a:p>
            <a:pPr algn="l">
              <a:lnSpc>
                <a:spcPct val="125000"/>
              </a:lnSpc>
            </a:pPr>
            <a:r>
              <a:rPr sz="2100" b="0" i="0">
                <a:solidFill>
                  <a:srgbClr val="000000"/>
                </a:solidFill>
                <a:latin typeface="Arial"/>
              </a:rPr>
              <a:t>I went to ____________.</a:t>
            </a:r>
          </a:p>
          <a:p>
            <a:pPr algn="l">
              <a:lnSpc>
                <a:spcPct val="125000"/>
              </a:lnSpc>
            </a:pPr>
            <a:r>
              <a:rPr sz="2100" b="0" i="0">
                <a:solidFill>
                  <a:srgbClr val="000000"/>
                </a:solidFill>
                <a:latin typeface="Arial"/>
              </a:rPr>
              <a:t>I didn't ____________.</a:t>
            </a:r>
          </a:p>
          <a:p>
            <a:pPr algn="l">
              <a:lnSpc>
                <a:spcPct val="125000"/>
              </a:lnSpc>
            </a:pPr>
          </a:p>
          <a:p>
            <a:pPr algn="l">
              <a:lnSpc>
                <a:spcPct val="125000"/>
              </a:lnSpc>
            </a:pPr>
            <a:r>
              <a:rPr sz="2100" b="0" i="0">
                <a:solidFill>
                  <a:srgbClr val="000000"/>
                </a:solidFill>
                <a:latin typeface="Arial"/>
              </a:rPr>
              <a:t>In the afternoon, I ____________.</a:t>
            </a:r>
          </a:p>
          <a:p>
            <a:pPr algn="l">
              <a:lnSpc>
                <a:spcPct val="125000"/>
              </a:lnSpc>
            </a:pPr>
            <a:r>
              <a:rPr sz="2100" b="0" i="0">
                <a:solidFill>
                  <a:srgbClr val="000000"/>
                </a:solidFill>
                <a:latin typeface="Arial"/>
              </a:rPr>
              <a:t>Then, I ____________.</a:t>
            </a:r>
          </a:p>
          <a:p>
            <a:pPr algn="l">
              <a:lnSpc>
                <a:spcPct val="125000"/>
              </a:lnSpc>
            </a:pPr>
          </a:p>
          <a:p>
            <a:pPr algn="l">
              <a:lnSpc>
                <a:spcPct val="125000"/>
              </a:lnSpc>
            </a:pPr>
            <a:r>
              <a:rPr sz="2100" b="0" i="0">
                <a:solidFill>
                  <a:srgbClr val="000000"/>
                </a:solidFill>
                <a:latin typeface="Arial"/>
              </a:rPr>
              <a:t>I was ____________, but I was ____________.</a:t>
            </a:r>
          </a:p>
        </p:txBody>
      </p:sp>
      <p:sp>
        <p:nvSpPr>
          <p:cNvPr id="6" name="Rounded Rectangle 5"/>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Use this template to write.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28</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CHECKPOINT — Rate your progress</a:t>
            </a:r>
          </a:p>
        </p:txBody>
      </p:sp>
      <p:sp>
        <p:nvSpPr>
          <p:cNvPr id="4" name="Rounded Rectangle 3"/>
          <p:cNvSpPr/>
          <p:nvPr/>
        </p:nvSpPr>
        <p:spPr>
          <a:xfrm>
            <a:off x="548640" y="1600200"/>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I can form Past Simple (-ed)</a:t>
            </a:r>
          </a:p>
        </p:txBody>
      </p:sp>
      <p:sp>
        <p:nvSpPr>
          <p:cNvPr id="6" name="Rounded Rectangle 5"/>
          <p:cNvSpPr/>
          <p:nvPr/>
        </p:nvSpPr>
        <p:spPr>
          <a:xfrm>
            <a:off x="548640" y="2404872"/>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04872"/>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I know 7 irregular verbs</a:t>
            </a:r>
          </a:p>
        </p:txBody>
      </p:sp>
      <p:sp>
        <p:nvSpPr>
          <p:cNvPr id="8" name="Rounded Rectangle 7"/>
          <p:cNvSpPr/>
          <p:nvPr/>
        </p:nvSpPr>
        <p:spPr>
          <a:xfrm>
            <a:off x="548640" y="3209544"/>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209544"/>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I can make negatives with didn't</a:t>
            </a:r>
          </a:p>
        </p:txBody>
      </p:sp>
      <p:sp>
        <p:nvSpPr>
          <p:cNvPr id="10" name="Rounded Rectangle 9"/>
          <p:cNvSpPr/>
          <p:nvPr/>
        </p:nvSpPr>
        <p:spPr>
          <a:xfrm>
            <a:off x="548640" y="4014215"/>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014215"/>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I can ask questions with Did</a:t>
            </a:r>
          </a:p>
        </p:txBody>
      </p:sp>
      <p:sp>
        <p:nvSpPr>
          <p:cNvPr id="12" name="Rounded Rectangle 11"/>
          <p:cNvSpPr/>
          <p:nvPr/>
        </p:nvSpPr>
        <p:spPr>
          <a:xfrm>
            <a:off x="548640" y="4818888"/>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818888"/>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I can use was/were</a:t>
            </a:r>
          </a:p>
        </p:txBody>
      </p:sp>
      <p:sp>
        <p:nvSpPr>
          <p:cNvPr id="14" name="Rounded Rectangle 13"/>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Be honest with yourself.</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29</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SELF-EVALUATION — Rate (1-4)</a:t>
            </a:r>
          </a:p>
        </p:txBody>
      </p:sp>
      <p:sp>
        <p:nvSpPr>
          <p:cNvPr id="4" name="Rounded Rectangle 3"/>
          <p:cNvSpPr/>
          <p:nvPr/>
        </p:nvSpPr>
        <p:spPr>
          <a:xfrm>
            <a:off x="548640" y="1600200"/>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4023360" cy="731520"/>
          </a:xfrm>
          <a:prstGeom prst="rect">
            <a:avLst/>
          </a:prstGeom>
          <a:noFill/>
        </p:spPr>
        <p:txBody>
          <a:bodyPr wrap="square" anchor="ctr">
            <a:spAutoFit/>
          </a:bodyPr>
          <a:lstStyle/>
          <a:p>
            <a:pPr algn="l">
              <a:lnSpc>
                <a:spcPct val="100000"/>
              </a:lnSpc>
            </a:pPr>
            <a:r>
              <a:rPr sz="2000" b="0" i="0">
                <a:solidFill>
                  <a:srgbClr val="000000"/>
                </a:solidFill>
                <a:latin typeface="Arial"/>
              </a:rPr>
              <a:t>Vocabulary</a:t>
            </a:r>
          </a:p>
        </p:txBody>
      </p:sp>
      <p:sp>
        <p:nvSpPr>
          <p:cNvPr id="6" name="TextBox 5"/>
          <p:cNvSpPr txBox="1"/>
          <p:nvPr/>
        </p:nvSpPr>
        <p:spPr>
          <a:xfrm>
            <a:off x="5212080" y="1600200"/>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1</a:t>
            </a:r>
          </a:p>
        </p:txBody>
      </p:sp>
      <p:sp>
        <p:nvSpPr>
          <p:cNvPr id="7" name="TextBox 6"/>
          <p:cNvSpPr txBox="1"/>
          <p:nvPr/>
        </p:nvSpPr>
        <p:spPr>
          <a:xfrm>
            <a:off x="6126480" y="1600200"/>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2</a:t>
            </a:r>
          </a:p>
        </p:txBody>
      </p:sp>
      <p:sp>
        <p:nvSpPr>
          <p:cNvPr id="8" name="TextBox 7"/>
          <p:cNvSpPr txBox="1"/>
          <p:nvPr/>
        </p:nvSpPr>
        <p:spPr>
          <a:xfrm>
            <a:off x="7040880" y="1600200"/>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3</a:t>
            </a:r>
          </a:p>
        </p:txBody>
      </p:sp>
      <p:sp>
        <p:nvSpPr>
          <p:cNvPr id="9" name="TextBox 8"/>
          <p:cNvSpPr txBox="1"/>
          <p:nvPr/>
        </p:nvSpPr>
        <p:spPr>
          <a:xfrm>
            <a:off x="7955279" y="1600200"/>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4</a:t>
            </a:r>
          </a:p>
        </p:txBody>
      </p:sp>
      <p:sp>
        <p:nvSpPr>
          <p:cNvPr id="10" name="Rounded Rectangle 9"/>
          <p:cNvSpPr/>
          <p:nvPr/>
        </p:nvSpPr>
        <p:spPr>
          <a:xfrm>
            <a:off x="548640" y="2404872"/>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04872"/>
            <a:ext cx="4023360" cy="731520"/>
          </a:xfrm>
          <a:prstGeom prst="rect">
            <a:avLst/>
          </a:prstGeom>
          <a:noFill/>
        </p:spPr>
        <p:txBody>
          <a:bodyPr wrap="square" anchor="ctr">
            <a:spAutoFit/>
          </a:bodyPr>
          <a:lstStyle/>
          <a:p>
            <a:pPr algn="l">
              <a:lnSpc>
                <a:spcPct val="100000"/>
              </a:lnSpc>
            </a:pPr>
            <a:r>
              <a:rPr sz="2000" b="0" i="0">
                <a:solidFill>
                  <a:srgbClr val="000000"/>
                </a:solidFill>
                <a:latin typeface="Arial"/>
              </a:rPr>
              <a:t>Past Simple</a:t>
            </a:r>
          </a:p>
        </p:txBody>
      </p:sp>
      <p:sp>
        <p:nvSpPr>
          <p:cNvPr id="12" name="TextBox 11"/>
          <p:cNvSpPr txBox="1"/>
          <p:nvPr/>
        </p:nvSpPr>
        <p:spPr>
          <a:xfrm>
            <a:off x="5212080" y="2404872"/>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1</a:t>
            </a:r>
          </a:p>
        </p:txBody>
      </p:sp>
      <p:sp>
        <p:nvSpPr>
          <p:cNvPr id="13" name="TextBox 12"/>
          <p:cNvSpPr txBox="1"/>
          <p:nvPr/>
        </p:nvSpPr>
        <p:spPr>
          <a:xfrm>
            <a:off x="6126480" y="2404872"/>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2</a:t>
            </a:r>
          </a:p>
        </p:txBody>
      </p:sp>
      <p:sp>
        <p:nvSpPr>
          <p:cNvPr id="14" name="TextBox 13"/>
          <p:cNvSpPr txBox="1"/>
          <p:nvPr/>
        </p:nvSpPr>
        <p:spPr>
          <a:xfrm>
            <a:off x="7040880" y="2404872"/>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3</a:t>
            </a:r>
          </a:p>
        </p:txBody>
      </p:sp>
      <p:sp>
        <p:nvSpPr>
          <p:cNvPr id="15" name="TextBox 14"/>
          <p:cNvSpPr txBox="1"/>
          <p:nvPr/>
        </p:nvSpPr>
        <p:spPr>
          <a:xfrm>
            <a:off x="7955279" y="2404872"/>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4</a:t>
            </a:r>
          </a:p>
        </p:txBody>
      </p:sp>
      <p:sp>
        <p:nvSpPr>
          <p:cNvPr id="16" name="Rounded Rectangle 15"/>
          <p:cNvSpPr/>
          <p:nvPr/>
        </p:nvSpPr>
        <p:spPr>
          <a:xfrm>
            <a:off x="548640" y="3209544"/>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209544"/>
            <a:ext cx="4023360" cy="731520"/>
          </a:xfrm>
          <a:prstGeom prst="rect">
            <a:avLst/>
          </a:prstGeom>
          <a:noFill/>
        </p:spPr>
        <p:txBody>
          <a:bodyPr wrap="square" anchor="ctr">
            <a:spAutoFit/>
          </a:bodyPr>
          <a:lstStyle/>
          <a:p>
            <a:pPr algn="l">
              <a:lnSpc>
                <a:spcPct val="100000"/>
              </a:lnSpc>
            </a:pPr>
            <a:r>
              <a:rPr sz="2000" b="0" i="0">
                <a:solidFill>
                  <a:srgbClr val="000000"/>
                </a:solidFill>
                <a:latin typeface="Arial"/>
              </a:rPr>
              <a:t>Irregular verbs</a:t>
            </a:r>
          </a:p>
        </p:txBody>
      </p:sp>
      <p:sp>
        <p:nvSpPr>
          <p:cNvPr id="18" name="TextBox 17"/>
          <p:cNvSpPr txBox="1"/>
          <p:nvPr/>
        </p:nvSpPr>
        <p:spPr>
          <a:xfrm>
            <a:off x="5212080" y="3209544"/>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1</a:t>
            </a:r>
          </a:p>
        </p:txBody>
      </p:sp>
      <p:sp>
        <p:nvSpPr>
          <p:cNvPr id="19" name="TextBox 18"/>
          <p:cNvSpPr txBox="1"/>
          <p:nvPr/>
        </p:nvSpPr>
        <p:spPr>
          <a:xfrm>
            <a:off x="6126480" y="3209544"/>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2</a:t>
            </a:r>
          </a:p>
        </p:txBody>
      </p:sp>
      <p:sp>
        <p:nvSpPr>
          <p:cNvPr id="20" name="TextBox 19"/>
          <p:cNvSpPr txBox="1"/>
          <p:nvPr/>
        </p:nvSpPr>
        <p:spPr>
          <a:xfrm>
            <a:off x="7040880" y="3209544"/>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3</a:t>
            </a:r>
          </a:p>
        </p:txBody>
      </p:sp>
      <p:sp>
        <p:nvSpPr>
          <p:cNvPr id="21" name="TextBox 20"/>
          <p:cNvSpPr txBox="1"/>
          <p:nvPr/>
        </p:nvSpPr>
        <p:spPr>
          <a:xfrm>
            <a:off x="7955279" y="3209544"/>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4</a:t>
            </a:r>
          </a:p>
        </p:txBody>
      </p:sp>
      <p:sp>
        <p:nvSpPr>
          <p:cNvPr id="22" name="Rounded Rectangle 21"/>
          <p:cNvSpPr/>
          <p:nvPr/>
        </p:nvSpPr>
        <p:spPr>
          <a:xfrm>
            <a:off x="548640" y="4014215"/>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014215"/>
            <a:ext cx="4023360" cy="731520"/>
          </a:xfrm>
          <a:prstGeom prst="rect">
            <a:avLst/>
          </a:prstGeom>
          <a:noFill/>
        </p:spPr>
        <p:txBody>
          <a:bodyPr wrap="square" anchor="ctr">
            <a:spAutoFit/>
          </a:bodyPr>
          <a:lstStyle/>
          <a:p>
            <a:pPr algn="l">
              <a:lnSpc>
                <a:spcPct val="100000"/>
              </a:lnSpc>
            </a:pPr>
            <a:r>
              <a:rPr sz="2000" b="0" i="0">
                <a:solidFill>
                  <a:srgbClr val="000000"/>
                </a:solidFill>
                <a:latin typeface="Arial"/>
              </a:rPr>
              <a:t>Did/Didn't</a:t>
            </a:r>
          </a:p>
        </p:txBody>
      </p:sp>
      <p:sp>
        <p:nvSpPr>
          <p:cNvPr id="24" name="TextBox 23"/>
          <p:cNvSpPr txBox="1"/>
          <p:nvPr/>
        </p:nvSpPr>
        <p:spPr>
          <a:xfrm>
            <a:off x="5212080" y="4014215"/>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1</a:t>
            </a:r>
          </a:p>
        </p:txBody>
      </p:sp>
      <p:sp>
        <p:nvSpPr>
          <p:cNvPr id="25" name="TextBox 24"/>
          <p:cNvSpPr txBox="1"/>
          <p:nvPr/>
        </p:nvSpPr>
        <p:spPr>
          <a:xfrm>
            <a:off x="6126480" y="4014215"/>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2</a:t>
            </a:r>
          </a:p>
        </p:txBody>
      </p:sp>
      <p:sp>
        <p:nvSpPr>
          <p:cNvPr id="26" name="TextBox 25"/>
          <p:cNvSpPr txBox="1"/>
          <p:nvPr/>
        </p:nvSpPr>
        <p:spPr>
          <a:xfrm>
            <a:off x="7040880" y="4014215"/>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3</a:t>
            </a:r>
          </a:p>
        </p:txBody>
      </p:sp>
      <p:sp>
        <p:nvSpPr>
          <p:cNvPr id="27" name="TextBox 26"/>
          <p:cNvSpPr txBox="1"/>
          <p:nvPr/>
        </p:nvSpPr>
        <p:spPr>
          <a:xfrm>
            <a:off x="7955279" y="4014215"/>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4</a:t>
            </a:r>
          </a:p>
        </p:txBody>
      </p:sp>
      <p:sp>
        <p:nvSpPr>
          <p:cNvPr id="28" name="Rounded Rectangle 27"/>
          <p:cNvSpPr/>
          <p:nvPr/>
        </p:nvSpPr>
        <p:spPr>
          <a:xfrm>
            <a:off x="548640" y="4818888"/>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818888"/>
            <a:ext cx="4023360" cy="731520"/>
          </a:xfrm>
          <a:prstGeom prst="rect">
            <a:avLst/>
          </a:prstGeom>
          <a:noFill/>
        </p:spPr>
        <p:txBody>
          <a:bodyPr wrap="square" anchor="ctr">
            <a:spAutoFit/>
          </a:bodyPr>
          <a:lstStyle/>
          <a:p>
            <a:pPr algn="l">
              <a:lnSpc>
                <a:spcPct val="100000"/>
              </a:lnSpc>
            </a:pPr>
            <a:r>
              <a:rPr sz="2000" b="0" i="0">
                <a:solidFill>
                  <a:srgbClr val="000000"/>
                </a:solidFill>
                <a:latin typeface="Arial"/>
              </a:rPr>
              <a:t>Was/Were</a:t>
            </a:r>
          </a:p>
        </p:txBody>
      </p:sp>
      <p:sp>
        <p:nvSpPr>
          <p:cNvPr id="30" name="TextBox 29"/>
          <p:cNvSpPr txBox="1"/>
          <p:nvPr/>
        </p:nvSpPr>
        <p:spPr>
          <a:xfrm>
            <a:off x="5212080" y="4818888"/>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1</a:t>
            </a:r>
          </a:p>
        </p:txBody>
      </p:sp>
      <p:sp>
        <p:nvSpPr>
          <p:cNvPr id="31" name="TextBox 30"/>
          <p:cNvSpPr txBox="1"/>
          <p:nvPr/>
        </p:nvSpPr>
        <p:spPr>
          <a:xfrm>
            <a:off x="6126480" y="4818888"/>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2</a:t>
            </a:r>
          </a:p>
        </p:txBody>
      </p:sp>
      <p:sp>
        <p:nvSpPr>
          <p:cNvPr id="32" name="TextBox 31"/>
          <p:cNvSpPr txBox="1"/>
          <p:nvPr/>
        </p:nvSpPr>
        <p:spPr>
          <a:xfrm>
            <a:off x="7040880" y="4818888"/>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3</a:t>
            </a:r>
          </a:p>
        </p:txBody>
      </p:sp>
      <p:sp>
        <p:nvSpPr>
          <p:cNvPr id="33" name="TextBox 32"/>
          <p:cNvSpPr txBox="1"/>
          <p:nvPr/>
        </p:nvSpPr>
        <p:spPr>
          <a:xfrm>
            <a:off x="7955279" y="4818888"/>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4</a:t>
            </a:r>
          </a:p>
        </p:txBody>
      </p:sp>
      <p:sp>
        <p:nvSpPr>
          <p:cNvPr id="34" name="Rounded Rectangle 33"/>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Reflect on your learning.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30</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RESOURCES — Keep learning</a:t>
            </a:r>
          </a:p>
        </p:txBody>
      </p:sp>
      <p:sp>
        <p:nvSpPr>
          <p:cNvPr id="4" name="Rounded Rectangle 3"/>
          <p:cNvSpPr/>
          <p:nvPr/>
        </p:nvSpPr>
        <p:spPr>
          <a:xfrm>
            <a:off x="548640" y="1508760"/>
            <a:ext cx="8046720" cy="45720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08760"/>
            <a:ext cx="7680960" cy="457200"/>
          </a:xfrm>
          <a:prstGeom prst="rect">
            <a:avLst/>
          </a:prstGeom>
          <a:noFill/>
        </p:spPr>
        <p:txBody>
          <a:bodyPr wrap="square" anchor="ctr">
            <a:spAutoFit/>
          </a:bodyPr>
          <a:lstStyle/>
          <a:p>
            <a:pPr algn="l">
              <a:lnSpc>
                <a:spcPct val="100000"/>
              </a:lnSpc>
            </a:pPr>
            <a:r>
              <a:rPr sz="1800" b="1" i="0">
                <a:solidFill>
                  <a:srgbClr val="FFFFFF"/>
                </a:solidFill>
                <a:latin typeface="Arial"/>
              </a:rPr>
              <a:t>PODCASTS</a:t>
            </a:r>
          </a:p>
        </p:txBody>
      </p:sp>
      <p:sp>
        <p:nvSpPr>
          <p:cNvPr id="6" name="TextBox 5"/>
          <p:cNvSpPr txBox="1"/>
          <p:nvPr/>
        </p:nvSpPr>
        <p:spPr>
          <a:xfrm>
            <a:off x="822959" y="2011680"/>
            <a:ext cx="7589520" cy="365760"/>
          </a:xfrm>
          <a:prstGeom prst="rect">
            <a:avLst/>
          </a:prstGeom>
          <a:noFill/>
        </p:spPr>
        <p:txBody>
          <a:bodyPr wrap="square" anchor="ctr">
            <a:spAutoFit/>
          </a:bodyPr>
          <a:lstStyle/>
          <a:p>
            <a:pPr algn="l">
              <a:lnSpc>
                <a:spcPct val="100000"/>
              </a:lnSpc>
            </a:pPr>
            <a:r>
              <a:rPr sz="1600" b="0" i="0">
                <a:solidFill>
                  <a:srgbClr val="000000"/>
                </a:solidFill>
                <a:latin typeface="Arial"/>
              </a:rPr>
              <a:t>- One Day in The Past</a:t>
            </a:r>
          </a:p>
        </p:txBody>
      </p:sp>
      <p:sp>
        <p:nvSpPr>
          <p:cNvPr id="7" name="TextBox 6"/>
          <p:cNvSpPr txBox="1"/>
          <p:nvPr/>
        </p:nvSpPr>
        <p:spPr>
          <a:xfrm>
            <a:off x="822959" y="2377440"/>
            <a:ext cx="7589520" cy="365760"/>
          </a:xfrm>
          <a:prstGeom prst="rect">
            <a:avLst/>
          </a:prstGeom>
          <a:noFill/>
        </p:spPr>
        <p:txBody>
          <a:bodyPr wrap="square" anchor="ctr">
            <a:spAutoFit/>
          </a:bodyPr>
          <a:lstStyle/>
          <a:p>
            <a:pPr algn="l">
              <a:lnSpc>
                <a:spcPct val="100000"/>
              </a:lnSpc>
            </a:pPr>
            <a:r>
              <a:rPr sz="1600" b="0" i="0">
                <a:solidFill>
                  <a:srgbClr val="000000"/>
                </a:solidFill>
                <a:latin typeface="Arial"/>
              </a:rPr>
              <a:t>- Real English Stories</a:t>
            </a:r>
          </a:p>
        </p:txBody>
      </p:sp>
      <p:sp>
        <p:nvSpPr>
          <p:cNvPr id="8" name="Rounded Rectangle 7"/>
          <p:cNvSpPr/>
          <p:nvPr/>
        </p:nvSpPr>
        <p:spPr>
          <a:xfrm>
            <a:off x="548640" y="2834640"/>
            <a:ext cx="8046720" cy="45720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834640"/>
            <a:ext cx="7680960" cy="457200"/>
          </a:xfrm>
          <a:prstGeom prst="rect">
            <a:avLst/>
          </a:prstGeom>
          <a:noFill/>
        </p:spPr>
        <p:txBody>
          <a:bodyPr wrap="square" anchor="ctr">
            <a:spAutoFit/>
          </a:bodyPr>
          <a:lstStyle/>
          <a:p>
            <a:pPr algn="l">
              <a:lnSpc>
                <a:spcPct val="100000"/>
              </a:lnSpc>
            </a:pPr>
            <a:r>
              <a:rPr sz="1800" b="1" i="0">
                <a:solidFill>
                  <a:srgbClr val="FFFFFF"/>
                </a:solidFill>
                <a:latin typeface="Arial"/>
              </a:rPr>
              <a:t>VIDEOS</a:t>
            </a:r>
          </a:p>
        </p:txBody>
      </p:sp>
      <p:sp>
        <p:nvSpPr>
          <p:cNvPr id="10" name="TextBox 9"/>
          <p:cNvSpPr txBox="1"/>
          <p:nvPr/>
        </p:nvSpPr>
        <p:spPr>
          <a:xfrm>
            <a:off x="822959" y="3337560"/>
            <a:ext cx="7589520" cy="365760"/>
          </a:xfrm>
          <a:prstGeom prst="rect">
            <a:avLst/>
          </a:prstGeom>
          <a:noFill/>
        </p:spPr>
        <p:txBody>
          <a:bodyPr wrap="square" anchor="ctr">
            <a:spAutoFit/>
          </a:bodyPr>
          <a:lstStyle/>
          <a:p>
            <a:pPr algn="l">
              <a:lnSpc>
                <a:spcPct val="100000"/>
              </a:lnSpc>
            </a:pPr>
            <a:r>
              <a:rPr sz="1600" b="0" i="0">
                <a:solidFill>
                  <a:srgbClr val="000000"/>
                </a:solidFill>
                <a:latin typeface="Arial"/>
              </a:rPr>
              <a:t>- English with Lucy — Past Simple</a:t>
            </a:r>
          </a:p>
        </p:txBody>
      </p:sp>
      <p:sp>
        <p:nvSpPr>
          <p:cNvPr id="11" name="Rounded Rectangle 10"/>
          <p:cNvSpPr/>
          <p:nvPr/>
        </p:nvSpPr>
        <p:spPr>
          <a:xfrm>
            <a:off x="548640" y="3794760"/>
            <a:ext cx="8046720" cy="45720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794760"/>
            <a:ext cx="7680960" cy="457200"/>
          </a:xfrm>
          <a:prstGeom prst="rect">
            <a:avLst/>
          </a:prstGeom>
          <a:noFill/>
        </p:spPr>
        <p:txBody>
          <a:bodyPr wrap="square" anchor="ctr">
            <a:spAutoFit/>
          </a:bodyPr>
          <a:lstStyle/>
          <a:p>
            <a:pPr algn="l">
              <a:lnSpc>
                <a:spcPct val="100000"/>
              </a:lnSpc>
            </a:pPr>
            <a:r>
              <a:rPr sz="1800" b="1" i="0">
                <a:solidFill>
                  <a:srgbClr val="FFFFFF"/>
                </a:solidFill>
                <a:latin typeface="Arial"/>
              </a:rPr>
              <a:t>APPS</a:t>
            </a:r>
          </a:p>
        </p:txBody>
      </p:sp>
      <p:sp>
        <p:nvSpPr>
          <p:cNvPr id="13" name="TextBox 12"/>
          <p:cNvSpPr txBox="1"/>
          <p:nvPr/>
        </p:nvSpPr>
        <p:spPr>
          <a:xfrm>
            <a:off x="822959" y="4297680"/>
            <a:ext cx="7589520" cy="365760"/>
          </a:xfrm>
          <a:prstGeom prst="rect">
            <a:avLst/>
          </a:prstGeom>
          <a:noFill/>
        </p:spPr>
        <p:txBody>
          <a:bodyPr wrap="square" anchor="ctr">
            <a:spAutoFit/>
          </a:bodyPr>
          <a:lstStyle/>
          <a:p>
            <a:pPr algn="l">
              <a:lnSpc>
                <a:spcPct val="100000"/>
              </a:lnSpc>
            </a:pPr>
            <a:r>
              <a:rPr sz="1600" b="0" i="0">
                <a:solidFill>
                  <a:srgbClr val="000000"/>
                </a:solidFill>
                <a:latin typeface="Arial"/>
              </a:rPr>
              <a:t>- Duolingo</a:t>
            </a:r>
          </a:p>
        </p:txBody>
      </p:sp>
      <p:sp>
        <p:nvSpPr>
          <p:cNvPr id="14" name="TextBox 13"/>
          <p:cNvSpPr txBox="1"/>
          <p:nvPr/>
        </p:nvSpPr>
        <p:spPr>
          <a:xfrm>
            <a:off x="822959" y="4663440"/>
            <a:ext cx="7589520" cy="365760"/>
          </a:xfrm>
          <a:prstGeom prst="rect">
            <a:avLst/>
          </a:prstGeom>
          <a:noFill/>
        </p:spPr>
        <p:txBody>
          <a:bodyPr wrap="square" anchor="ctr">
            <a:spAutoFit/>
          </a:bodyPr>
          <a:lstStyle/>
          <a:p>
            <a:pPr algn="l">
              <a:lnSpc>
                <a:spcPct val="100000"/>
              </a:lnSpc>
            </a:pPr>
            <a:r>
              <a:rPr sz="1600" b="0" i="0">
                <a:solidFill>
                  <a:srgbClr val="000000"/>
                </a:solidFill>
                <a:latin typeface="Arial"/>
              </a:rPr>
              <a:t>- Quizlet</a:t>
            </a:r>
          </a:p>
        </p:txBody>
      </p:sp>
      <p:sp>
        <p:nvSpPr>
          <p:cNvPr id="15" name="Rounded Rectangle 14"/>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Practice every day.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31</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HOMEWORK — Your tasks</a:t>
            </a:r>
          </a:p>
        </p:txBody>
      </p:sp>
      <p:sp>
        <p:nvSpPr>
          <p:cNvPr id="4" name="Rounded Rectangle 3"/>
          <p:cNvSpPr/>
          <p:nvPr/>
        </p:nvSpPr>
        <p:spPr>
          <a:xfrm>
            <a:off x="548640" y="1600200"/>
            <a:ext cx="8046720" cy="50292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1800" b="1" i="0">
                <a:solidFill>
                  <a:srgbClr val="FFFFFF"/>
                </a:solidFill>
                <a:latin typeface="Arial"/>
              </a:rPr>
              <a:t>WRITING</a:t>
            </a:r>
          </a:p>
        </p:txBody>
      </p:sp>
      <p:sp>
        <p:nvSpPr>
          <p:cNvPr id="6" name="TextBox 5"/>
          <p:cNvSpPr txBox="1"/>
          <p:nvPr/>
        </p:nvSpPr>
        <p:spPr>
          <a:xfrm>
            <a:off x="822959" y="2148840"/>
            <a:ext cx="7589520" cy="411480"/>
          </a:xfrm>
          <a:prstGeom prst="rect">
            <a:avLst/>
          </a:prstGeom>
          <a:noFill/>
        </p:spPr>
        <p:txBody>
          <a:bodyPr wrap="square" anchor="ctr">
            <a:spAutoFit/>
          </a:bodyPr>
          <a:lstStyle/>
          <a:p>
            <a:pPr algn="l">
              <a:lnSpc>
                <a:spcPct val="100000"/>
              </a:lnSpc>
            </a:pPr>
            <a:r>
              <a:rPr sz="1600" b="0" i="0">
                <a:solidFill>
                  <a:srgbClr val="000000"/>
                </a:solidFill>
                <a:latin typeface="Arial"/>
              </a:rPr>
              <a:t>Write 10 sentences about yesterday.</a:t>
            </a:r>
          </a:p>
        </p:txBody>
      </p:sp>
      <p:sp>
        <p:nvSpPr>
          <p:cNvPr id="7" name="Rounded Rectangle 6"/>
          <p:cNvSpPr/>
          <p:nvPr/>
        </p:nvSpPr>
        <p:spPr>
          <a:xfrm>
            <a:off x="548640" y="2651760"/>
            <a:ext cx="8046720" cy="50292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651760"/>
            <a:ext cx="7680960" cy="502920"/>
          </a:xfrm>
          <a:prstGeom prst="rect">
            <a:avLst/>
          </a:prstGeom>
          <a:noFill/>
        </p:spPr>
        <p:txBody>
          <a:bodyPr wrap="square" anchor="ctr">
            <a:spAutoFit/>
          </a:bodyPr>
          <a:lstStyle/>
          <a:p>
            <a:pPr algn="l">
              <a:lnSpc>
                <a:spcPct val="100000"/>
              </a:lnSpc>
            </a:pPr>
            <a:r>
              <a:rPr sz="1800" b="1" i="0">
                <a:solidFill>
                  <a:srgbClr val="FFFFFF"/>
                </a:solidFill>
                <a:latin typeface="Arial"/>
              </a:rPr>
              <a:t>SPEAKING</a:t>
            </a:r>
          </a:p>
        </p:txBody>
      </p:sp>
      <p:sp>
        <p:nvSpPr>
          <p:cNvPr id="9" name="TextBox 8"/>
          <p:cNvSpPr txBox="1"/>
          <p:nvPr/>
        </p:nvSpPr>
        <p:spPr>
          <a:xfrm>
            <a:off x="822959" y="3200400"/>
            <a:ext cx="7589520" cy="411480"/>
          </a:xfrm>
          <a:prstGeom prst="rect">
            <a:avLst/>
          </a:prstGeom>
          <a:noFill/>
        </p:spPr>
        <p:txBody>
          <a:bodyPr wrap="square" anchor="ctr">
            <a:spAutoFit/>
          </a:bodyPr>
          <a:lstStyle/>
          <a:p>
            <a:pPr algn="l">
              <a:lnSpc>
                <a:spcPct val="100000"/>
              </a:lnSpc>
            </a:pPr>
            <a:r>
              <a:rPr sz="1600" b="0" i="0">
                <a:solidFill>
                  <a:srgbClr val="000000"/>
                </a:solidFill>
                <a:latin typeface="Arial"/>
              </a:rPr>
              <a:t>Record yourself (1-2 min).</a:t>
            </a:r>
          </a:p>
        </p:txBody>
      </p:sp>
      <p:sp>
        <p:nvSpPr>
          <p:cNvPr id="10" name="Rounded Rectangle 9"/>
          <p:cNvSpPr/>
          <p:nvPr/>
        </p:nvSpPr>
        <p:spPr>
          <a:xfrm>
            <a:off x="548640" y="3703320"/>
            <a:ext cx="8046720" cy="50292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703320"/>
            <a:ext cx="7680960" cy="502920"/>
          </a:xfrm>
          <a:prstGeom prst="rect">
            <a:avLst/>
          </a:prstGeom>
          <a:noFill/>
        </p:spPr>
        <p:txBody>
          <a:bodyPr wrap="square" anchor="ctr">
            <a:spAutoFit/>
          </a:bodyPr>
          <a:lstStyle/>
          <a:p>
            <a:pPr algn="l">
              <a:lnSpc>
                <a:spcPct val="100000"/>
              </a:lnSpc>
            </a:pPr>
            <a:r>
              <a:rPr sz="1800" b="1" i="0">
                <a:solidFill>
                  <a:srgbClr val="FFFFFF"/>
                </a:solidFill>
                <a:latin typeface="Arial"/>
              </a:rPr>
              <a:t>PRONUNCIATION</a:t>
            </a:r>
          </a:p>
        </p:txBody>
      </p:sp>
      <p:sp>
        <p:nvSpPr>
          <p:cNvPr id="12" name="TextBox 11"/>
          <p:cNvSpPr txBox="1"/>
          <p:nvPr/>
        </p:nvSpPr>
        <p:spPr>
          <a:xfrm>
            <a:off x="822959" y="4251960"/>
            <a:ext cx="7589520" cy="411480"/>
          </a:xfrm>
          <a:prstGeom prst="rect">
            <a:avLst/>
          </a:prstGeom>
          <a:noFill/>
        </p:spPr>
        <p:txBody>
          <a:bodyPr wrap="square" anchor="ctr">
            <a:spAutoFit/>
          </a:bodyPr>
          <a:lstStyle/>
          <a:p>
            <a:pPr algn="l">
              <a:lnSpc>
                <a:spcPct val="100000"/>
              </a:lnSpc>
            </a:pPr>
            <a:r>
              <a:rPr sz="1600" b="0" i="0">
                <a:solidFill>
                  <a:srgbClr val="000000"/>
                </a:solidFill>
                <a:latin typeface="Arial"/>
              </a:rPr>
              <a:t>Practice -ed pronunciation.</a:t>
            </a:r>
          </a:p>
        </p:txBody>
      </p:sp>
      <p:sp>
        <p:nvSpPr>
          <p:cNvPr id="13" name="Rounded Rectangle 12"/>
          <p:cNvSpPr/>
          <p:nvPr/>
        </p:nvSpPr>
        <p:spPr>
          <a:xfrm>
            <a:off x="548640" y="4754880"/>
            <a:ext cx="8046720" cy="50292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754880"/>
            <a:ext cx="7680960" cy="502920"/>
          </a:xfrm>
          <a:prstGeom prst="rect">
            <a:avLst/>
          </a:prstGeom>
          <a:noFill/>
        </p:spPr>
        <p:txBody>
          <a:bodyPr wrap="square" anchor="ctr">
            <a:spAutoFit/>
          </a:bodyPr>
          <a:lstStyle/>
          <a:p>
            <a:pPr algn="l">
              <a:lnSpc>
                <a:spcPct val="100000"/>
              </a:lnSpc>
            </a:pPr>
            <a:r>
              <a:rPr sz="1800" b="1" i="0">
                <a:solidFill>
                  <a:srgbClr val="FFFFFF"/>
                </a:solidFill>
                <a:latin typeface="Arial"/>
              </a:rPr>
              <a:t>APP</a:t>
            </a:r>
          </a:p>
        </p:txBody>
      </p:sp>
      <p:sp>
        <p:nvSpPr>
          <p:cNvPr id="15" name="TextBox 14"/>
          <p:cNvSpPr txBox="1"/>
          <p:nvPr/>
        </p:nvSpPr>
        <p:spPr>
          <a:xfrm>
            <a:off x="822959" y="5303520"/>
            <a:ext cx="7589520" cy="411480"/>
          </a:xfrm>
          <a:prstGeom prst="rect">
            <a:avLst/>
          </a:prstGeom>
          <a:noFill/>
        </p:spPr>
        <p:txBody>
          <a:bodyPr wrap="square" anchor="ctr">
            <a:spAutoFit/>
          </a:bodyPr>
          <a:lstStyle/>
          <a:p>
            <a:pPr algn="l">
              <a:lnSpc>
                <a:spcPct val="100000"/>
              </a:lnSpc>
            </a:pPr>
            <a:r>
              <a:rPr sz="1600" b="0" i="0">
                <a:solidFill>
                  <a:srgbClr val="000000"/>
                </a:solidFill>
                <a:latin typeface="Arial"/>
              </a:rPr>
              <a:t>Practice Past Simple.</a:t>
            </a:r>
          </a:p>
        </p:txBody>
      </p:sp>
      <p:sp>
        <p:nvSpPr>
          <p:cNvPr id="16" name="Rounded Rectangle 15"/>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Deadline: ____________</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32</a:t>
            </a:r>
          </a:p>
        </p:txBody>
      </p:sp>
      <p:sp>
        <p:nvSpPr>
          <p:cNvPr id="3" name="Rounded Rectangle 2"/>
          <p:cNvSpPr/>
          <p:nvPr/>
        </p:nvSpPr>
        <p:spPr>
          <a:xfrm>
            <a:off x="1371600" y="1371600"/>
            <a:ext cx="6400800" cy="164592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371600"/>
            <a:ext cx="6400800" cy="1645920"/>
          </a:xfrm>
          <a:prstGeom prst="rect">
            <a:avLst/>
          </a:prstGeom>
          <a:noFill/>
        </p:spPr>
        <p:txBody>
          <a:bodyPr wrap="square" anchor="ctr">
            <a:spAutoFit/>
          </a:bodyPr>
          <a:lstStyle/>
          <a:p>
            <a:pPr algn="ctr">
              <a:lnSpc>
                <a:spcPct val="100000"/>
              </a:lnSpc>
            </a:pPr>
            <a:r>
              <a:rPr sz="5400" b="1" i="0">
                <a:solidFill>
                  <a:srgbClr val="FFFFFF"/>
                </a:solidFill>
                <a:latin typeface="Arial"/>
              </a:rPr>
              <a:t>GRACIAS</a:t>
            </a:r>
          </a:p>
        </p:txBody>
      </p:sp>
      <p:sp>
        <p:nvSpPr>
          <p:cNvPr id="5" name="TextBox 4"/>
          <p:cNvSpPr txBox="1"/>
          <p:nvPr/>
        </p:nvSpPr>
        <p:spPr>
          <a:xfrm>
            <a:off x="548640" y="3291840"/>
            <a:ext cx="8046720" cy="731520"/>
          </a:xfrm>
          <a:prstGeom prst="rect">
            <a:avLst/>
          </a:prstGeom>
          <a:noFill/>
        </p:spPr>
        <p:txBody>
          <a:bodyPr wrap="square" anchor="ctr">
            <a:spAutoFit/>
          </a:bodyPr>
          <a:lstStyle/>
          <a:p>
            <a:pPr algn="ctr">
              <a:lnSpc>
                <a:spcPct val="100000"/>
              </a:lnSpc>
            </a:pPr>
            <a:r>
              <a:rPr sz="3600" b="1" i="0">
                <a:solidFill>
                  <a:srgbClr val="3D1F5C"/>
                </a:solidFill>
                <a:latin typeface="Arial"/>
              </a:rPr>
              <a:t>THANK YOU</a:t>
            </a:r>
          </a:p>
        </p:txBody>
      </p:sp>
      <p:sp>
        <p:nvSpPr>
          <p:cNvPr id="6" name="TextBox 5"/>
          <p:cNvSpPr txBox="1"/>
          <p:nvPr/>
        </p:nvSpPr>
        <p:spPr>
          <a:xfrm>
            <a:off x="548640" y="4206240"/>
            <a:ext cx="8046720" cy="548640"/>
          </a:xfrm>
          <a:prstGeom prst="rect">
            <a:avLst/>
          </a:prstGeom>
          <a:noFill/>
        </p:spPr>
        <p:txBody>
          <a:bodyPr wrap="square" anchor="ctr">
            <a:spAutoFit/>
          </a:bodyPr>
          <a:lstStyle/>
          <a:p>
            <a:pPr algn="ctr">
              <a:lnSpc>
                <a:spcPct val="100000"/>
              </a:lnSpc>
            </a:pPr>
            <a:r>
              <a:rPr sz="2200" b="0" i="1">
                <a:solidFill>
                  <a:srgbClr val="000000"/>
                </a:solidFill>
                <a:latin typeface="Arial"/>
              </a:rPr>
              <a:t>You've completed this class!</a:t>
            </a:r>
          </a:p>
        </p:txBody>
      </p:sp>
      <p:sp>
        <p:nvSpPr>
          <p:cNvPr id="7" name="Rounded Rectangle 6"/>
          <p:cNvSpPr/>
          <p:nvPr/>
        </p:nvSpPr>
        <p:spPr>
          <a:xfrm>
            <a:off x="1371600" y="5029200"/>
            <a:ext cx="6400800" cy="7315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5029200"/>
            <a:ext cx="6400800" cy="731520"/>
          </a:xfrm>
          <a:prstGeom prst="rect">
            <a:avLst/>
          </a:prstGeom>
          <a:noFill/>
        </p:spPr>
        <p:txBody>
          <a:bodyPr wrap="square" anchor="ctr">
            <a:spAutoFit/>
          </a:bodyPr>
          <a:lstStyle/>
          <a:p>
            <a:pPr algn="ctr">
              <a:lnSpc>
                <a:spcPct val="100000"/>
              </a:lnSpc>
            </a:pPr>
            <a:r>
              <a:rPr sz="2200" b="1" i="0">
                <a:solidFill>
                  <a:srgbClr val="FFFFFF"/>
                </a:solidFill>
                <a:latin typeface="Arial"/>
              </a:rPr>
              <a:t>NEXT: CLASS 03</a:t>
            </a:r>
          </a:p>
        </p:txBody>
      </p:sp>
      <p:sp>
        <p:nvSpPr>
          <p:cNvPr id="9" name="Rounded Rectangle 8"/>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Congratulations!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