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COVER (Class 12)</a:t>
            </a:r>
          </a:p>
          <a:p/>
          <a:p>
            <a:r>
              <a:rPr sz="1000">
                <a:latin typeface="Arial"/>
              </a:rPr>
              <a:t>ROLE : Ouverture.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"Hello Ingrid! Welcome to Class 12.</a:t>
            </a:r>
          </a:p>
          <a:p>
            <a:r>
              <a:rPr sz="1000">
                <a:latin typeface="Arial"/>
              </a:rPr>
              <a:t>Today: First Conditional. Ready?"</a:t>
            </a:r>
          </a:p>
          <a:p/>
          <a:p>
            <a:r>
              <a:rPr sz="1000">
                <a:latin typeface="Arial"/>
              </a:rPr>
              <a:t>ACTIONS :</a:t>
            </a:r>
          </a:p>
          <a:p>
            <a:r>
              <a:rPr sz="1000">
                <a:latin typeface="Arial"/>
              </a:rPr>
              <a:t>- Verifier Teams</a:t>
            </a:r>
          </a:p>
          <a:p>
            <a:r>
              <a:rPr sz="1000">
                <a:latin typeface="Arial"/>
              </a:rPr>
              <a:t>- Small talk 30 sec</a:t>
            </a:r>
          </a:p>
          <a:p>
            <a:r>
              <a:rPr sz="1000">
                <a:latin typeface="Arial"/>
              </a:rPr>
              <a:t>- Annoncer 90 min</a:t>
            </a:r>
          </a:p>
          <a:p/>
          <a:p>
            <a:r>
              <a:rPr sz="1000">
                <a:latin typeface="Arial"/>
              </a:rPr>
              <a:t>TRANSITION : "Let's start with the objectives."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OVERVIEW</a:t>
            </a:r>
          </a:p>
          <a:p/>
          <a:p>
            <a:r>
              <a:rPr sz="1000">
                <a:latin typeface="Arial"/>
              </a:rPr>
              <a:t>ROLE : Annoncer objectifs.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Lire chaque objectif a voix haute.</a:t>
            </a:r>
          </a:p>
          <a:p>
            <a:r>
              <a:rPr sz="1000">
                <a:latin typeface="Arial"/>
              </a:rPr>
              <a:t>Ne pas expliquer.</a:t>
            </a:r>
          </a:p>
          <a:p/>
          <a:p>
            <a:r>
              <a:rPr sz="1000">
                <a:latin typeface="Arial"/>
              </a:rPr>
              <a:t>DIRE : "By the end of today, you will be able to do all of this."</a:t>
            </a:r>
          </a:p>
          <a:p/>
          <a:p>
            <a:r>
              <a:rPr sz="1000">
                <a:latin typeface="Arial"/>
              </a:rPr>
              <a:t>TRANSITION : "Let's start with a warm-up."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(2)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COMMON MISTAKES (Trampas)</a:t>
            </a:r>
          </a:p>
          <a:p/>
          <a:p>
            <a:r>
              <a:rPr sz="1000">
                <a:latin typeface="Arial"/>
              </a:rPr>
              <a:t>ROLE : Erreurs frequentes hispanophones.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Montrer l'erreur (X)</a:t>
            </a:r>
          </a:p>
          <a:p>
            <a:r>
              <a:rPr sz="1000">
                <a:latin typeface="Arial"/>
              </a:rPr>
              <a:t>2. Demander : "Esta correcto?"</a:t>
            </a:r>
          </a:p>
          <a:p>
            <a:r>
              <a:rPr sz="1000">
                <a:latin typeface="Arial"/>
              </a:rPr>
              <a:t>3. Ingrid corrige</a:t>
            </a:r>
          </a:p>
          <a:p>
            <a:r>
              <a:rPr sz="1000">
                <a:latin typeface="Arial"/>
              </a:rPr>
              <a:t>4. Montrer la correction (OK)</a:t>
            </a:r>
          </a:p>
          <a:p>
            <a:r>
              <a:rPr sz="1000">
                <a:latin typeface="Arial"/>
              </a:rPr>
              <a:t>5. Lire l'explication en espagnol</a:t>
            </a:r>
          </a:p>
          <a:p>
            <a:r>
              <a:rPr sz="1000">
                <a:latin typeface="Arial"/>
              </a:rPr>
              <a:t>6. Repetir 3x la forme correcte</a:t>
            </a:r>
          </a:p>
          <a:p/>
          <a:p>
            <a:r>
              <a:rPr sz="1000">
                <a:latin typeface="Arial"/>
              </a:rPr>
              <a:t>FRASES UTILES :</a:t>
            </a:r>
          </a:p>
          <a:p>
            <a:r>
              <a:rPr sz="1000">
                <a:latin typeface="Arial"/>
              </a:rPr>
              <a:t>- "Esta es una trampa muy comun."</a:t>
            </a:r>
          </a:p>
          <a:p>
            <a:r>
              <a:rPr sz="1000">
                <a:latin typeface="Arial"/>
              </a:rPr>
              <a:t>- "Cuidado con esta palabra."</a:t>
            </a:r>
          </a:p>
          <a:p>
            <a:r>
              <a:rPr sz="1000">
                <a:latin typeface="Arial"/>
              </a:rPr>
              <a:t>- "Repite conmigo 3 veces."</a:t>
            </a:r>
          </a:p>
          <a:p/>
          <a:p>
            <a:r>
              <a:rPr sz="1000">
                <a:latin typeface="Arial"/>
              </a:rPr>
              <a:t>NE PAS juger les erreurs.</a:t>
            </a:r>
          </a:p>
          <a:p>
            <a:r>
              <a:rPr sz="1000">
                <a:latin typeface="Arial"/>
              </a:rPr>
              <a:t>ENCOURAGER : "Es normal, todos lo hacemos."</a:t>
            </a:r>
          </a:p>
          <a:p/>
          <a:p>
            <a:r>
              <a:rPr sz="1000">
                <a:latin typeface="Arial"/>
              </a:rPr>
              <a:t>TRANSITION : "Ahora veamos expresiones completas."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EXPRESSIONS &amp; YOUR TURN</a:t>
            </a:r>
          </a:p>
          <a:p/>
          <a:p>
            <a:r>
              <a:rPr sz="1000">
                <a:latin typeface="Arial"/>
              </a:rPr>
              <a:t>ROLE : Blocs lexicaux + production.</a:t>
            </a:r>
          </a:p>
          <a:p>
            <a:r>
              <a:rPr sz="1000">
                <a:latin typeface="Arial"/>
              </a:rPr>
              <a:t>DUREE : 8 min</a:t>
            </a:r>
          </a:p>
          <a:p/>
          <a:p>
            <a:r>
              <a:rPr sz="1000">
                <a:latin typeface="Arial"/>
              </a:rPr>
              <a:t>PARTIE 1 - EXPRESSIONS (4 min) :</a:t>
            </a:r>
          </a:p>
          <a:p>
            <a:r>
              <a:rPr sz="1000">
                <a:latin typeface="Arial"/>
              </a:rPr>
              <a:t>1. Lire chaque expression</a:t>
            </a:r>
          </a:p>
          <a:p>
            <a:r>
              <a:rPr sz="1000">
                <a:latin typeface="Arial"/>
              </a:rPr>
              <a:t>2. Ingrid repete</a:t>
            </a:r>
          </a:p>
          <a:p>
            <a:r>
              <a:rPr sz="1000">
                <a:latin typeface="Arial"/>
              </a:rPr>
              <a:t>3. Demander : "When do you use this?"</a:t>
            </a:r>
          </a:p>
          <a:p/>
          <a:p>
            <a:r>
              <a:rPr sz="1000">
                <a:latin typeface="Arial"/>
              </a:rPr>
              <a:t>PARTIE 2 - YOUR TURN (4 min) :</a:t>
            </a:r>
          </a:p>
          <a:p>
            <a:r>
              <a:rPr sz="1000">
                <a:latin typeface="Arial"/>
              </a:rPr>
              <a:t>1. Lire la consigne</a:t>
            </a:r>
          </a:p>
          <a:p>
            <a:r>
              <a:rPr sz="1000">
                <a:latin typeface="Arial"/>
              </a:rPr>
              <a:t>2. Ingrid ecrit 1 phrase par mot</a:t>
            </a:r>
          </a:p>
          <a:p>
            <a:r>
              <a:rPr sz="1000">
                <a:latin typeface="Arial"/>
              </a:rPr>
              <a:t>3. Verifier oralement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>
            <a:r>
              <a:rPr sz="1000">
                <a:latin typeface="Arial"/>
              </a:rPr>
              <a:t>CORRIGER 2-3 erreurs max.</a:t>
            </a:r>
          </a:p>
          <a:p/>
          <a:p>
            <a:r>
              <a:rPr sz="1000">
                <a:latin typeface="Arial"/>
              </a:rPr>
              <a:t>TRANSITION : "Now let's look at the grammar."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if + present, will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Presente despues de if, futuro en la principal.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if + present, will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Presente despues de if, futuro en la principal.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if + present, will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Presente despues de if, futuro en la principal.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if + present, will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Presente despues de if, futuro en la principal.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if + present, will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Presente despues de if, futuro en la principal.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if + present, will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Presente despues de if, futuro en la principal.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SOUND : /aɪ/ vs /eɪ/</a:t>
            </a:r>
          </a:p>
          <a:p/>
          <a:p>
            <a:r>
              <a:rPr sz="1000">
                <a:latin typeface="Arial"/>
              </a:rPr>
              <a:t>ROLE : Focus phonetique.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ECOUTER : prof prononce</a:t>
            </a:r>
          </a:p>
          <a:p>
            <a:r>
              <a:rPr sz="1000">
                <a:latin typeface="Arial"/>
              </a:rPr>
              <a:t>2. DISTINGUER : Ingrid identifie</a:t>
            </a:r>
          </a:p>
          <a:p>
            <a:r>
              <a:rPr sz="1000">
                <a:latin typeface="Arial"/>
              </a:rPr>
              <a:t>3. REPETER</a:t>
            </a:r>
          </a:p>
          <a:p/>
          <a:p>
            <a:r>
              <a:rPr sz="1000">
                <a:latin typeface="Arial"/>
              </a:rPr>
              <a:t>NE PAS enseigner theorie.</a:t>
            </a:r>
          </a:p>
          <a:p/>
          <a:p>
            <a:r>
              <a:rPr sz="1000">
                <a:latin typeface="Arial"/>
              </a:rPr>
              <a:t>TRANSITION : "Now let's practice in words."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(1)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(2)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TEXT : Text</a:t>
            </a:r>
          </a:p>
          <a:p/>
          <a:p>
            <a:r>
              <a:rPr sz="1000">
                <a:latin typeface="Arial"/>
              </a:rPr>
              <a:t>ROLE : Comprehension.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2 LECTURES :</a:t>
            </a:r>
          </a:p>
          <a:p>
            <a:r>
              <a:rPr sz="1000">
                <a:latin typeface="Arial"/>
              </a:rPr>
              <a:t>1ere : GLOBALE (sans ecrire)</a:t>
            </a:r>
          </a:p>
          <a:p>
            <a:r>
              <a:rPr sz="1000">
                <a:latin typeface="Arial"/>
              </a:rPr>
              <a:t>2eme : DETAILLEE</a:t>
            </a:r>
          </a:p>
          <a:p/>
          <a:p>
            <a:r>
              <a:rPr sz="1000">
                <a:latin typeface="Arial"/>
              </a:rPr>
              <a:t>NE PAS montrer le texte.</a:t>
            </a:r>
          </a:p>
          <a:p>
            <a:r>
              <a:rPr sz="1000">
                <a:latin typeface="Arial"/>
              </a:rPr>
              <a:t>LIRE lentement.</a:t>
            </a:r>
          </a:p>
          <a:p/>
          <a:p>
            <a:r>
              <a:rPr sz="1000">
                <a:latin typeface="Arial"/>
              </a:rPr>
              <a:t>TRANSITION : "Now let's answer the questions."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QUESTIONS</a:t>
            </a:r>
          </a:p>
          <a:p/>
          <a:p>
            <a:r>
              <a:rPr sz="1000">
                <a:latin typeface="Arial"/>
              </a:rPr>
              <a:t>ROLE : Comprehension detaillee.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Ingrid repond en PHRASE COMPLETE.</a:t>
            </a:r>
          </a:p>
          <a:p>
            <a:r>
              <a:rPr sz="1000">
                <a:latin typeface="Arial"/>
              </a:rPr>
              <a:t>Corriger apres.</a:t>
            </a:r>
          </a:p>
          <a:p/>
          <a:p>
            <a:r>
              <a:rPr sz="1000">
                <a:latin typeface="Arial"/>
              </a:rPr>
              <a:t>TRANSITION : "Now it's your turn to speak."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SPEAKING CHALLENGE : Challenge</a:t>
            </a:r>
          </a:p>
          <a:p/>
          <a:p>
            <a:r>
              <a:rPr sz="1000">
                <a:latin typeface="Arial"/>
              </a:rPr>
              <a:t>ROLE : Production orale.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TIMING :</a:t>
            </a:r>
          </a:p>
          <a:p>
            <a:r>
              <a:rPr sz="1000">
                <a:latin typeface="Arial"/>
              </a:rPr>
              <a:t>- 0:45 Explication</a:t>
            </a:r>
          </a:p>
          <a:p>
            <a:r>
              <a:rPr sz="1000">
                <a:latin typeface="Arial"/>
              </a:rPr>
              <a:t>- 0:45 Preparation mentale (silence)</a:t>
            </a:r>
          </a:p>
          <a:p>
            <a:r>
              <a:rPr sz="1000">
                <a:latin typeface="Arial"/>
              </a:rPr>
              <a:t>- 2:00 Monologue</a:t>
            </a:r>
          </a:p>
          <a:p>
            <a:r>
              <a:rPr sz="1000">
                <a:latin typeface="Arial"/>
              </a:rPr>
              <a:t>- 2:00 Feedback (2+1)</a:t>
            </a:r>
          </a:p>
          <a:p>
            <a:r>
              <a:rPr sz="1000">
                <a:latin typeface="Arial"/>
              </a:rPr>
              <a:t>- 0:30 Re-record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"Okay Ingrid, YOUR turn.</a:t>
            </a:r>
          </a:p>
          <a:p>
            <a:r>
              <a:rPr sz="1000">
                <a:latin typeface="Arial"/>
              </a:rPr>
              <a:t>Talk for 1 minutes.</a:t>
            </a:r>
          </a:p>
          <a:p>
            <a:r>
              <a:rPr sz="1000">
                <a:latin typeface="Arial"/>
              </a:rPr>
              <a:t>Use: if + present, will and Time clauses.</a:t>
            </a:r>
          </a:p>
          <a:p>
            <a:r>
              <a:rPr sz="1000">
                <a:latin typeface="Arial"/>
              </a:rPr>
              <a:t>Take 45 sec to think. Ready?"</a:t>
            </a:r>
          </a:p>
          <a:p/>
          <a:p>
            <a:r>
              <a:rPr sz="1000">
                <a:latin typeface="Arial"/>
              </a:rPr>
              <a:t>OBSERVER :</a:t>
            </a:r>
          </a:p>
          <a:p>
            <a:r>
              <a:rPr sz="1000">
                <a:latin typeface="Arial"/>
              </a:rPr>
              <a:t>- if + present, will min 3 fois</a:t>
            </a:r>
          </a:p>
          <a:p>
            <a:r>
              <a:rPr sz="1000">
                <a:latin typeface="Arial"/>
              </a:rPr>
              <a:t>- Time clauses min 3 fois</a:t>
            </a:r>
          </a:p>
          <a:p>
            <a:r>
              <a:rPr sz="1000">
                <a:latin typeface="Arial"/>
              </a:rPr>
              <a:t>- Duree 60-90 sec</a:t>
            </a:r>
          </a:p>
          <a:p>
            <a:r>
              <a:rPr sz="1000">
                <a:latin typeface="Arial"/>
              </a:rPr>
              <a:t>- Pauses &lt; 5 sec</a:t>
            </a:r>
          </a:p>
          <a:p/>
          <a:p>
            <a:r>
              <a:rPr sz="1000">
                <a:latin typeface="Arial"/>
              </a:rPr>
              <a:t>FEEDBACK (2+1) :</a:t>
            </a:r>
          </a:p>
          <a:p>
            <a:r>
              <a:rPr sz="1000">
                <a:latin typeface="Arial"/>
              </a:rPr>
              <a:t>1. Compliment CONCRET</a:t>
            </a:r>
          </a:p>
          <a:p>
            <a:r>
              <a:rPr sz="1000">
                <a:latin typeface="Arial"/>
              </a:rPr>
              <a:t>2. Compliment CONCRET</a:t>
            </a:r>
          </a:p>
          <a:p>
            <a:r>
              <a:rPr sz="1000">
                <a:latin typeface="Arial"/>
              </a:rPr>
              <a:t>3. UNE correction -&gt; repeter 2 fois</a:t>
            </a:r>
          </a:p>
          <a:p/>
          <a:p>
            <a:r>
              <a:rPr sz="1000">
                <a:latin typeface="Arial"/>
              </a:rPr>
              <a:t>NE PAS interrompre.</a:t>
            </a:r>
          </a:p>
          <a:p/>
          <a:p>
            <a:r>
              <a:rPr sz="1000">
                <a:latin typeface="Arial"/>
              </a:rPr>
              <a:t>TRANSITION : "Now let's write about this."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REQUIREMENTS</a:t>
            </a:r>
          </a:p>
          <a:p/>
          <a:p>
            <a:r>
              <a:rPr sz="1000">
                <a:latin typeface="Arial"/>
              </a:rPr>
              <a:t>ROLE : Preparer ecrit.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5 ETAPES :</a:t>
            </a:r>
          </a:p>
          <a:p>
            <a:r>
              <a:rPr sz="1000">
                <a:latin typeface="Arial"/>
              </a:rPr>
              <a:t>1. Brainstorming (3 min)</a:t>
            </a:r>
          </a:p>
          <a:p>
            <a:r>
              <a:rPr sz="1000">
                <a:latin typeface="Arial"/>
              </a:rPr>
              <a:t>2. Borrador (10 min)</a:t>
            </a:r>
          </a:p>
          <a:p>
            <a:r>
              <a:rPr sz="1000">
                <a:latin typeface="Arial"/>
              </a:rPr>
              <a:t>3. Revision (5 min)</a:t>
            </a:r>
          </a:p>
          <a:p>
            <a:r>
              <a:rPr sz="1000">
                <a:latin typeface="Arial"/>
              </a:rPr>
              <a:t>4. Edicion (5 min)</a:t>
            </a:r>
          </a:p>
          <a:p>
            <a:r>
              <a:rPr sz="1000">
                <a:latin typeface="Arial"/>
              </a:rPr>
              <a:t>5. Publicacion (5 min)</a:t>
            </a:r>
          </a:p>
          <a:p/>
          <a:p>
            <a:r>
              <a:rPr sz="1000">
                <a:latin typeface="Arial"/>
              </a:rPr>
              <a:t>FOCUS : if + present, will + Time clauses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/>
          <a:p>
            <a:r>
              <a:rPr sz="1000">
                <a:latin typeface="Arial"/>
              </a:rPr>
              <a:t>TRANSITION : "Now let's look at the template."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TEMPLATE</a:t>
            </a:r>
          </a:p>
          <a:p/>
          <a:p>
            <a:r>
              <a:rPr sz="1000">
                <a:latin typeface="Arial"/>
              </a:rPr>
              <a:t>ROLE : Guide structurel.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Ingrid ecrit sur papier.</a:t>
            </a:r>
          </a:p>
          <a:p>
            <a:r>
              <a:rPr sz="1000">
                <a:latin typeface="Arial"/>
              </a:rPr>
              <a:t>Suit le template.</a:t>
            </a:r>
          </a:p>
          <a:p>
            <a:r>
              <a:rPr sz="1000">
                <a:latin typeface="Arial"/>
              </a:rPr>
              <a:t>Complete les blancs.</a:t>
            </a:r>
          </a:p>
          <a:p/>
          <a:p>
            <a:r>
              <a:rPr sz="1000">
                <a:latin typeface="Arial"/>
              </a:rPr>
              <a:t>VERIFIER a la fin.</a:t>
            </a:r>
          </a:p>
          <a:p/>
          <a:p>
            <a:r>
              <a:rPr sz="1000">
                <a:latin typeface="Arial"/>
              </a:rPr>
              <a:t>TRANSITION : "Now let's check your progress."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CHECKPOINT</a:t>
            </a:r>
          </a:p>
          <a:p/>
          <a:p>
            <a:r>
              <a:rPr sz="1000">
                <a:latin typeface="Arial"/>
              </a:rPr>
              <a:t>ROLE : Auto-evaluation.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Lire chaque critere.</a:t>
            </a:r>
          </a:p>
          <a:p>
            <a:r>
              <a:rPr sz="1000">
                <a:latin typeface="Arial"/>
              </a:rPr>
              <a:t>Ingrid repond honnetement.</a:t>
            </a:r>
          </a:p>
          <a:p/>
          <a:p>
            <a:r>
              <a:rPr sz="1000">
                <a:latin typeface="Arial"/>
              </a:rPr>
              <a:t>NE PAS juger.</a:t>
            </a:r>
          </a:p>
          <a:p/>
          <a:p>
            <a:r>
              <a:rPr sz="1000">
                <a:latin typeface="Arial"/>
              </a:rPr>
              <a:t>TRANSITION : "Now let's reflect."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PRACTICE (1)</a:t>
            </a:r>
          </a:p>
          <a:p/>
          <a:p>
            <a:r>
              <a:rPr sz="1000">
                <a:latin typeface="Arial"/>
              </a:rPr>
              <a:t>ROLE : Pratique controlee.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1. ORAL d'abord</a:t>
            </a:r>
          </a:p>
          <a:p>
            <a:r>
              <a:rPr sz="1000">
                <a:latin typeface="Arial"/>
              </a:rPr>
              <a:t>2. ECRIT ensuite</a:t>
            </a:r>
          </a:p>
          <a:p>
            <a:r>
              <a:rPr sz="1000">
                <a:latin typeface="Arial"/>
              </a:rPr>
              <a:t>3. CORRECTION en temps reel</a:t>
            </a:r>
          </a:p>
          <a:p/>
          <a:p>
            <a:r>
              <a:rPr sz="1000">
                <a:latin typeface="Arial"/>
              </a:rPr>
              <a:t>Ne pas donner la reponse.</a:t>
            </a:r>
          </a:p>
          <a:p>
            <a:r>
              <a:rPr sz="1000">
                <a:latin typeface="Arial"/>
              </a:rPr>
              <a:t>Laisser 5-10 secondes.</a:t>
            </a:r>
          </a:p>
          <a:p>
            <a:r>
              <a:rPr sz="1000">
                <a:latin typeface="Arial"/>
              </a:rPr>
              <a:t>MAX 3 corrections.</a:t>
            </a:r>
          </a:p>
          <a:p/>
          <a:p>
            <a:r>
              <a:rPr sz="1000">
                <a:latin typeface="Arial"/>
              </a:rPr>
              <a:t>TRANSITION : "Now let's use these in conversation."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THANKS</a:t>
            </a:r>
          </a:p>
          <a:p/>
          <a:p>
            <a:r>
              <a:rPr sz="1000">
                <a:latin typeface="Arial"/>
              </a:rPr>
              <a:t>ROLE : Cloture.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"Excellent work today, Ingrid!</a:t>
            </a:r>
          </a:p>
          <a:p>
            <a:r>
              <a:rPr sz="1000">
                <a:latin typeface="Arial"/>
              </a:rPr>
              <a:t>You've completed Class 12.</a:t>
            </a:r>
          </a:p>
          <a:p>
            <a:r>
              <a:rPr sz="1000">
                <a:latin typeface="Arial"/>
              </a:rPr>
              <a:t>See you next time."</a:t>
            </a:r>
          </a:p>
          <a:p/>
          <a:p>
            <a:r>
              <a:rPr sz="1000">
                <a:latin typeface="Arial"/>
              </a:rPr>
              <a:t>Rappeler : Class 13</a:t>
            </a:r>
          </a:p>
          <a:p/>
          <a:p>
            <a:r>
              <a:rPr sz="1000">
                <a:latin typeface="Arial"/>
              </a:rPr>
              <a:t>TERMINER sur une note positive.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3D1F5C"/>
                </a:solidFill>
                <a:latin typeface="Arial"/>
              </a:rPr>
              <a:t>IF IT RAINS, I WILL...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Ingrid - English - Class 12</a:t>
            </a:r>
          </a:p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Profesor: Jean Thomas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Welcome!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OVERVIEW — Today's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the First Conditional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21992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21992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time clauses with when, as soon as, before, 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35224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35224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Talk about real future possibilities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48456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48456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Distinguish if and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361688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Make promises, predictions, plans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07492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Talk about conditional plans in 60-90 sec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GOAL: Speak with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Answer orally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will you do if it rains tomorrow?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0591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0591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will you do if you pass your exams?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46703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46703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will you do if you have free time?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42816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42816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Where will you go if you travel?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8927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7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will you eat if you go to a restaurant?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without looking at your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Future Activities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pass an exam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aprobar un examen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pass an exam easily  + pass the English exam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"If I study hard, I will pass the exam."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'approve an exam'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fail an exam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suspender un examen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fail an exam badly  + fail the math exam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"If I don't study, I will fail the exam."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'suspend an exam'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get a job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conseguir trabajo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get a new job  + get a job abroad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"If I finish university, I will get a job."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'find to a job'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Future Activities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save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ahorrar dinero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save money every month  + save money for a trip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"If I save money, I will travel to Europe."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'save the money' (generic)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mudarse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move to another city  + move abroad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"If I get a good job, I will move to Madrid."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'move me to Madrid'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travel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viajar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travel abroad  + travel around the world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"If I have time, I will travel this summer."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'travel to abroad'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⚠️  COMMON MISTAKES — Avoid these!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If it will rain, I will stay home.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If it rains, I will stay home.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Nunca se usa 'will' después de 'if'.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When it rains, I will stay home. (posibilidad)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If it rains, I will stay home.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'If' = posibilidad. 'When' = certeza.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So soon as I arrive, I will call.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As soon as I arrive, I will call.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2569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Se dice 'as soon as', no 'so soon as'.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When I will finish, I will call you.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8464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When I finish, I will call you.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Después de 'when' no se usa 'will'.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Repeat after me. Don't make these mistakes!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EXPRESSIONS &amp; YOUR TURN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EXPRESSIONS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If it rains, I will stay home.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13432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If I study hard, I will pass.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60903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As soon as I arrive, I will call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08375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When I finish work, I will text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55847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If I don't hurry, I won't catch the bus.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8046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0507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🎯  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389120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1.  If it rains, I will     -&gt; 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70915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2.  If I study, I will      -&gt; 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02919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3.  I won't ____ if ____.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34923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4.  As soon as I ____, I will ____.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6927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5.  When I ____, I will ____.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Write your own sentences.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First Conditional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IF + PRESENT SIMPLE, WILL + BASE VERB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Present after if, future in main clause.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First Conditional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AFFIRMATIVE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If it rains, I will stay home.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If I study hard, I will pass.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Present after if, future in main clause.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First Conditional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NEGATIVE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If it doesn't rain, I won't stay home.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Present after if, future in main clause.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First Conditional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GOLDEN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Never 'will' after 'if'!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Present after if, future in main clause.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If vs When &amp; Time Clauses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IF vs WHEN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IF = possibility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WHEN = certainty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If it rains, I will stay home. (maybe)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When it rains, I stay home. (sure)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No 'will' in the time clause.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If vs When &amp; Time Clauses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TIME CLAUSES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WHEN/AS SOON AS/BEFORE/AFTER + PRESENT, WILL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When I finish work, I will call you.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As soon as I arrive, I will text you.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Before I go to bed, I will read.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After I eat, I will study.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No 'will' in the time clause.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SOUND — /aɪ/ vs /eɪ/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my - may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50008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50008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buy - bay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08376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08376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lie - lay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66744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666744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pie - pay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25112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325112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die - 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/aɪ/ vs /eɪ/ diphthongs.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PRONUNCIATION — Practice /aɪ/ vs /eɪ/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/maɪ/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may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/meɪ/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buy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/baɪ/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bay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/beɪ/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Record yourself and compare.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1. If it ___ (rain), I ___ (stay) home.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2. If I ___ (study), I ___ (pass).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3. She ___ (come) if you ___ (invite) 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4. If we ___ (not hurry), we ___ (miss) the train.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5. If you ___ (help) me, I ___ (help)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6. ___ I finish work, I will call you. (If/When)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7. ___ it rains, I will stay home. (If/When)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8. ___ I go to Paris, I will visit the Louvre.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will you do if it rains?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If it rains, I will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will you do if you pass?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If I pass, I will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if you have free time?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If I have free time, I will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Where will you go if you travel?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If I travel, I will go to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will you eat if you go out?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If I go out, I will eat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if you win the lottery?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If I win, I will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Next Weekend Plans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74980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Next weekend, I have many plans. If it is sunny, I will go to the beach with my friends. If it rains, we will stay home and watch movies. On Saturday morning, I will clean my room. After that, I will go shopping. If I find a nice dress, I will buy it. On Sunday, I will study English. If I finish early, I will call my grandmother.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Listen carefully to the text.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Answer the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1. What will the speaker do if sunny?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2. What if it rains?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3. What on Saturday morning?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4. What if she finds a dress?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5. What if she finishes early?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in complete sentences.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CHALLENGE — My Conditional Plans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4 First Conditional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2 time clauses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5468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negative with won't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question What will you do if...?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09159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59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60-90 seconds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1-2 minutes. No memorization.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6B35"/>
                </a:solidFill>
                <a:latin typeface="Arial"/>
              </a:rPr>
              <a:t>120-150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TIME: 30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508760"/>
            <a:ext cx="3931920" cy="100584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6B35"/>
                </a:solidFill>
                <a:latin typeface="Arial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Arial"/>
              </a:rPr>
              <a:t>First Conditional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0467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00400"/>
            <a:ext cx="7589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- 4 if + present, will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when/as soon as/before/after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negative with won't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question What will you do if...?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Follow the requirements.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80467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406640" cy="3977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MY CONDITIONAL PLANS   —   By: ____________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Next ____________, I will ____________ if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If I ____________, I will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If it ____________, I will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 will ____________ as soon as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When I ____________, I will ____________.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If I don't ____________, I won't ____________.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What will you do if ____________?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this template to write.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CHECKPOINT — Rate your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if + present, will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make negatives with won't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ask What will you do if...?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when, as soon as, before, after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distinguish if and when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Be honest with yourself.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SELF-EVALUATION — Rate (1-4)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If + present +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09544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Negatives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14215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Time clauses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18888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Fluency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Reflect on your learning.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RESOURCES — Keep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PODCASTS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Lost on a Desert Island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Coffee Break English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756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English with Lucy — First Conditional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97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Duolingo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63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Quizlet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Practice every day.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HOMEWORK — Your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Write 8-10 sentences about conditional plans.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0040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Record yourself talking about conditional plans.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PRONUNCIATION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5196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/aɪ/ vs /eɪ/.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30352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First Conditional.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Deadline: ____________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1645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D1F5C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1">
                <a:solidFill>
                  <a:srgbClr val="000000"/>
                </a:solidFill>
                <a:latin typeface="Arial"/>
              </a:rPr>
              <a:t>You've completed this class!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6400800" cy="7315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NEXT: CLASS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Congratulations!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