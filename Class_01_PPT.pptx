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COVER (Class 01)</a:t>
            </a:r>
          </a:p>
          <a:p/>
          <a:p>
            <a:r>
              <a:rPr sz="1000">
                <a:latin typeface="Arial"/>
              </a:rPr>
              <a:t>ROLE : Ouverture.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"Hello Ingrid! Welcome to Class 01.</a:t>
            </a:r>
          </a:p>
          <a:p>
            <a:r>
              <a:rPr sz="1000">
                <a:latin typeface="Arial"/>
              </a:rPr>
              <a:t>Today: Present Simple, rutina diaria. Ready?"</a:t>
            </a:r>
          </a:p>
          <a:p/>
          <a:p>
            <a:r>
              <a:rPr sz="1000">
                <a:latin typeface="Arial"/>
              </a:rPr>
              <a:t>ACTIONS :</a:t>
            </a:r>
          </a:p>
          <a:p>
            <a:r>
              <a:rPr sz="1000">
                <a:latin typeface="Arial"/>
              </a:rPr>
              <a:t>- Verifier Teams</a:t>
            </a:r>
          </a:p>
          <a:p>
            <a:r>
              <a:rPr sz="1000">
                <a:latin typeface="Arial"/>
              </a:rPr>
              <a:t>- Small talk 30 sec</a:t>
            </a:r>
          </a:p>
          <a:p>
            <a:r>
              <a:rPr sz="1000">
                <a:latin typeface="Arial"/>
              </a:rPr>
              <a:t>- Annoncer 90 min</a:t>
            </a:r>
          </a:p>
          <a:p/>
          <a:p>
            <a:r>
              <a:rPr sz="1000">
                <a:latin typeface="Arial"/>
              </a:rPr>
              <a:t>TRANSITION : "Let's start with the objectives."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OVERVIEW</a:t>
            </a:r>
          </a:p>
          <a:p/>
          <a:p>
            <a:r>
              <a:rPr sz="1000">
                <a:latin typeface="Arial"/>
              </a:rPr>
              <a:t>ROLE : Annoncer objectifs.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Lire chaque objectif a voix haute.</a:t>
            </a:r>
          </a:p>
          <a:p>
            <a:r>
              <a:rPr sz="1000">
                <a:latin typeface="Arial"/>
              </a:rPr>
              <a:t>Ne pas expliquer.</a:t>
            </a:r>
          </a:p>
          <a:p/>
          <a:p>
            <a:r>
              <a:rPr sz="1000">
                <a:latin typeface="Arial"/>
              </a:rPr>
              <a:t>DIRE : "By the end of today, you will be able to do all of this."</a:t>
            </a:r>
          </a:p>
          <a:p/>
          <a:p>
            <a:r>
              <a:rPr sz="1000">
                <a:latin typeface="Arial"/>
              </a:rPr>
              <a:t>TRANSITION : "Let's start with a warm-up."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(2)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(3)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(4)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COMMON MISTAKES (Trampas)</a:t>
            </a:r>
          </a:p>
          <a:p/>
          <a:p>
            <a:r>
              <a:rPr sz="1000">
                <a:latin typeface="Arial"/>
              </a:rPr>
              <a:t>ROLE : Erreurs frequentes hispanophones.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Montrer l'erreur (X)</a:t>
            </a:r>
          </a:p>
          <a:p>
            <a:r>
              <a:rPr sz="1000">
                <a:latin typeface="Arial"/>
              </a:rPr>
              <a:t>2. Demander : "Esta correcto?"</a:t>
            </a:r>
          </a:p>
          <a:p>
            <a:r>
              <a:rPr sz="1000">
                <a:latin typeface="Arial"/>
              </a:rPr>
              <a:t>3. Ingrid corrige</a:t>
            </a:r>
          </a:p>
          <a:p>
            <a:r>
              <a:rPr sz="1000">
                <a:latin typeface="Arial"/>
              </a:rPr>
              <a:t>4. Montrer la correction (OK)</a:t>
            </a:r>
          </a:p>
          <a:p>
            <a:r>
              <a:rPr sz="1000">
                <a:latin typeface="Arial"/>
              </a:rPr>
              <a:t>5. Lire l'explication en espagnol</a:t>
            </a:r>
          </a:p>
          <a:p>
            <a:r>
              <a:rPr sz="1000">
                <a:latin typeface="Arial"/>
              </a:rPr>
              <a:t>6. Repetir 3x la forme correcte</a:t>
            </a:r>
          </a:p>
          <a:p/>
          <a:p>
            <a:r>
              <a:rPr sz="1000">
                <a:latin typeface="Arial"/>
              </a:rPr>
              <a:t>FRASES UTILES :</a:t>
            </a:r>
          </a:p>
          <a:p>
            <a:r>
              <a:rPr sz="1000">
                <a:latin typeface="Arial"/>
              </a:rPr>
              <a:t>- "Esta es una trampa muy comun."</a:t>
            </a:r>
          </a:p>
          <a:p>
            <a:r>
              <a:rPr sz="1000">
                <a:latin typeface="Arial"/>
              </a:rPr>
              <a:t>- "Cuidado con esta palabra."</a:t>
            </a:r>
          </a:p>
          <a:p>
            <a:r>
              <a:rPr sz="1000">
                <a:latin typeface="Arial"/>
              </a:rPr>
              <a:t>- "Repite conmigo 3 veces."</a:t>
            </a:r>
          </a:p>
          <a:p/>
          <a:p>
            <a:r>
              <a:rPr sz="1000">
                <a:latin typeface="Arial"/>
              </a:rPr>
              <a:t>NE PAS juger les erreurs.</a:t>
            </a:r>
          </a:p>
          <a:p>
            <a:r>
              <a:rPr sz="1000">
                <a:latin typeface="Arial"/>
              </a:rPr>
              <a:t>ENCOURAGER : "Es normal, todos lo hacemos."</a:t>
            </a:r>
          </a:p>
          <a:p/>
          <a:p>
            <a:r>
              <a:rPr sz="1000">
                <a:latin typeface="Arial"/>
              </a:rPr>
              <a:t>TRANSITION : "Ahora veamos expresiones completas."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EXPRESSIONS &amp; YOUR TURN</a:t>
            </a:r>
          </a:p>
          <a:p/>
          <a:p>
            <a:r>
              <a:rPr sz="1000">
                <a:latin typeface="Arial"/>
              </a:rPr>
              <a:t>ROLE : Blocs lexicaux + production.</a:t>
            </a:r>
          </a:p>
          <a:p>
            <a:r>
              <a:rPr sz="1000">
                <a:latin typeface="Arial"/>
              </a:rPr>
              <a:t>DUREE : 8 min</a:t>
            </a:r>
          </a:p>
          <a:p/>
          <a:p>
            <a:r>
              <a:rPr sz="1000">
                <a:latin typeface="Arial"/>
              </a:rPr>
              <a:t>PARTIE 1 - EXPRESSIONS (4 min) :</a:t>
            </a:r>
          </a:p>
          <a:p>
            <a:r>
              <a:rPr sz="1000">
                <a:latin typeface="Arial"/>
              </a:rPr>
              <a:t>1. Lire chaque expression</a:t>
            </a:r>
          </a:p>
          <a:p>
            <a:r>
              <a:rPr sz="1000">
                <a:latin typeface="Arial"/>
              </a:rPr>
              <a:t>2. Ingrid repete</a:t>
            </a:r>
          </a:p>
          <a:p>
            <a:r>
              <a:rPr sz="1000">
                <a:latin typeface="Arial"/>
              </a:rPr>
              <a:t>3. Demander : "When do you use this?"</a:t>
            </a:r>
          </a:p>
          <a:p/>
          <a:p>
            <a:r>
              <a:rPr sz="1000">
                <a:latin typeface="Arial"/>
              </a:rPr>
              <a:t>PARTIE 2 - YOUR TURN (4 min) :</a:t>
            </a:r>
          </a:p>
          <a:p>
            <a:r>
              <a:rPr sz="1000">
                <a:latin typeface="Arial"/>
              </a:rPr>
              <a:t>1. Lire la consigne</a:t>
            </a:r>
          </a:p>
          <a:p>
            <a:r>
              <a:rPr sz="1000">
                <a:latin typeface="Arial"/>
              </a:rPr>
              <a:t>2. Ingrid ecrit 1 phrase par mot</a:t>
            </a:r>
          </a:p>
          <a:p>
            <a:r>
              <a:rPr sz="1000">
                <a:latin typeface="Arial"/>
              </a:rPr>
              <a:t>3. Verifier oralement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>
            <a:r>
              <a:rPr sz="1000">
                <a:latin typeface="Arial"/>
              </a:rPr>
              <a:t>CORRIGER 2-3 erreurs max.</a:t>
            </a:r>
          </a:p>
          <a:p/>
          <a:p>
            <a:r>
              <a:rPr sz="1000">
                <a:latin typeface="Arial"/>
              </a:rPr>
              <a:t>TRANSITION : "Now let's look at the grammar."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Present Simple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Present Simple = rutinas y habitos.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Present Simple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Present Simple = rutinas y habitos.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Present Simple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Present Simple = rutinas y habitos.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Present Simple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Present Simple = rutinas y habitos.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Present Simple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Present Simple = rutinas y habitos.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SOUND : /I/ vs /i:/</a:t>
            </a:r>
          </a:p>
          <a:p/>
          <a:p>
            <a:r>
              <a:rPr sz="1000">
                <a:latin typeface="Arial"/>
              </a:rPr>
              <a:t>ROLE : Focus phonetique.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ECOUTER : prof prononce</a:t>
            </a:r>
          </a:p>
          <a:p>
            <a:r>
              <a:rPr sz="1000">
                <a:latin typeface="Arial"/>
              </a:rPr>
              <a:t>2. DISTINGUER : Ingrid identifie</a:t>
            </a:r>
          </a:p>
          <a:p>
            <a:r>
              <a:rPr sz="1000">
                <a:latin typeface="Arial"/>
              </a:rPr>
              <a:t>3. REPETER</a:t>
            </a:r>
          </a:p>
          <a:p/>
          <a:p>
            <a:r>
              <a:rPr sz="1000">
                <a:latin typeface="Arial"/>
              </a:rPr>
              <a:t>NE PAS enseigner theorie.</a:t>
            </a:r>
          </a:p>
          <a:p/>
          <a:p>
            <a:r>
              <a:rPr sz="1000">
                <a:latin typeface="Arial"/>
              </a:rPr>
              <a:t>TRANSITION : "Now let's practice in words."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(1)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(2)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TEXT : Text</a:t>
            </a:r>
          </a:p>
          <a:p/>
          <a:p>
            <a:r>
              <a:rPr sz="1000">
                <a:latin typeface="Arial"/>
              </a:rPr>
              <a:t>ROLE : Comprehension.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2 LECTURES :</a:t>
            </a:r>
          </a:p>
          <a:p>
            <a:r>
              <a:rPr sz="1000">
                <a:latin typeface="Arial"/>
              </a:rPr>
              <a:t>1ere : GLOBALE (sans ecrire)</a:t>
            </a:r>
          </a:p>
          <a:p>
            <a:r>
              <a:rPr sz="1000">
                <a:latin typeface="Arial"/>
              </a:rPr>
              <a:t>2eme : DETAILLEE</a:t>
            </a:r>
          </a:p>
          <a:p/>
          <a:p>
            <a:r>
              <a:rPr sz="1000">
                <a:latin typeface="Arial"/>
              </a:rPr>
              <a:t>NE PAS montrer le texte.</a:t>
            </a:r>
          </a:p>
          <a:p>
            <a:r>
              <a:rPr sz="1000">
                <a:latin typeface="Arial"/>
              </a:rPr>
              <a:t>LIRE lentement.</a:t>
            </a:r>
          </a:p>
          <a:p/>
          <a:p>
            <a:r>
              <a:rPr sz="1000">
                <a:latin typeface="Arial"/>
              </a:rPr>
              <a:t>TRANSITION : "Now let's answer the questions."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QUESTIONS</a:t>
            </a:r>
          </a:p>
          <a:p/>
          <a:p>
            <a:r>
              <a:rPr sz="1000">
                <a:latin typeface="Arial"/>
              </a:rPr>
              <a:t>ROLE : Comprehension detaillee.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Ingrid repond en PHRASE COMPLETE.</a:t>
            </a:r>
          </a:p>
          <a:p>
            <a:r>
              <a:rPr sz="1000">
                <a:latin typeface="Arial"/>
              </a:rPr>
              <a:t>Corriger apres.</a:t>
            </a:r>
          </a:p>
          <a:p/>
          <a:p>
            <a:r>
              <a:rPr sz="1000">
                <a:latin typeface="Arial"/>
              </a:rPr>
              <a:t>TRANSITION : "Now it's your turn to speak."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SPEAKING CHALLENGE : Challenge</a:t>
            </a:r>
          </a:p>
          <a:p/>
          <a:p>
            <a:r>
              <a:rPr sz="1000">
                <a:latin typeface="Arial"/>
              </a:rPr>
              <a:t>ROLE : Production orale.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TIMING :</a:t>
            </a:r>
          </a:p>
          <a:p>
            <a:r>
              <a:rPr sz="1000">
                <a:latin typeface="Arial"/>
              </a:rPr>
              <a:t>- 0:45 Explication</a:t>
            </a:r>
          </a:p>
          <a:p>
            <a:r>
              <a:rPr sz="1000">
                <a:latin typeface="Arial"/>
              </a:rPr>
              <a:t>- 0:45 Preparation mentale (silence)</a:t>
            </a:r>
          </a:p>
          <a:p>
            <a:r>
              <a:rPr sz="1000">
                <a:latin typeface="Arial"/>
              </a:rPr>
              <a:t>- 2:00 Monologue</a:t>
            </a:r>
          </a:p>
          <a:p>
            <a:r>
              <a:rPr sz="1000">
                <a:latin typeface="Arial"/>
              </a:rPr>
              <a:t>- 2:00 Feedback (2+1)</a:t>
            </a:r>
          </a:p>
          <a:p>
            <a:r>
              <a:rPr sz="1000">
                <a:latin typeface="Arial"/>
              </a:rPr>
              <a:t>- 0:30 Re-record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"Okay Ingrid, YOUR turn.</a:t>
            </a:r>
          </a:p>
          <a:p>
            <a:r>
              <a:rPr sz="1000">
                <a:latin typeface="Arial"/>
              </a:rPr>
              <a:t>Talk for 1 minutes.</a:t>
            </a:r>
          </a:p>
          <a:p>
            <a:r>
              <a:rPr sz="1000">
                <a:latin typeface="Arial"/>
              </a:rPr>
              <a:t>Use: Present Simple and He/She + verb-s.</a:t>
            </a:r>
          </a:p>
          <a:p>
            <a:r>
              <a:rPr sz="1000">
                <a:latin typeface="Arial"/>
              </a:rPr>
              <a:t>Take 45 sec to think. Ready?"</a:t>
            </a:r>
          </a:p>
          <a:p/>
          <a:p>
            <a:r>
              <a:rPr sz="1000">
                <a:latin typeface="Arial"/>
              </a:rPr>
              <a:t>OBSERVER :</a:t>
            </a:r>
          </a:p>
          <a:p>
            <a:r>
              <a:rPr sz="1000">
                <a:latin typeface="Arial"/>
              </a:rPr>
              <a:t>- Present Simple min 3 fois</a:t>
            </a:r>
          </a:p>
          <a:p>
            <a:r>
              <a:rPr sz="1000">
                <a:latin typeface="Arial"/>
              </a:rPr>
              <a:t>- He/She + verb-s min 3 fois</a:t>
            </a:r>
          </a:p>
          <a:p>
            <a:r>
              <a:rPr sz="1000">
                <a:latin typeface="Arial"/>
              </a:rPr>
              <a:t>- Duree 60-90 sec</a:t>
            </a:r>
          </a:p>
          <a:p>
            <a:r>
              <a:rPr sz="1000">
                <a:latin typeface="Arial"/>
              </a:rPr>
              <a:t>- Pauses &lt; 5 sec</a:t>
            </a:r>
          </a:p>
          <a:p/>
          <a:p>
            <a:r>
              <a:rPr sz="1000">
                <a:latin typeface="Arial"/>
              </a:rPr>
              <a:t>FEEDBACK (2+1) :</a:t>
            </a:r>
          </a:p>
          <a:p>
            <a:r>
              <a:rPr sz="1000">
                <a:latin typeface="Arial"/>
              </a:rPr>
              <a:t>1. Compliment CONCRET</a:t>
            </a:r>
          </a:p>
          <a:p>
            <a:r>
              <a:rPr sz="1000">
                <a:latin typeface="Arial"/>
              </a:rPr>
              <a:t>2. Compliment CONCRET</a:t>
            </a:r>
          </a:p>
          <a:p>
            <a:r>
              <a:rPr sz="1000">
                <a:latin typeface="Arial"/>
              </a:rPr>
              <a:t>3. UNE correction -&gt; repeter 2 fois</a:t>
            </a:r>
          </a:p>
          <a:p/>
          <a:p>
            <a:r>
              <a:rPr sz="1000">
                <a:latin typeface="Arial"/>
              </a:rPr>
              <a:t>NE PAS interrompre.</a:t>
            </a:r>
          </a:p>
          <a:p/>
          <a:p>
            <a:r>
              <a:rPr sz="1000">
                <a:latin typeface="Arial"/>
              </a:rPr>
              <a:t>TRANSITION : "Now let's write about this."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REQUIREMENTS</a:t>
            </a:r>
          </a:p>
          <a:p/>
          <a:p>
            <a:r>
              <a:rPr sz="1000">
                <a:latin typeface="Arial"/>
              </a:rPr>
              <a:t>ROLE : Preparer ecrit.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5 ETAPES :</a:t>
            </a:r>
          </a:p>
          <a:p>
            <a:r>
              <a:rPr sz="1000">
                <a:latin typeface="Arial"/>
              </a:rPr>
              <a:t>1. Brainstorming (3 min)</a:t>
            </a:r>
          </a:p>
          <a:p>
            <a:r>
              <a:rPr sz="1000">
                <a:latin typeface="Arial"/>
              </a:rPr>
              <a:t>2. Borrador (10 min)</a:t>
            </a:r>
          </a:p>
          <a:p>
            <a:r>
              <a:rPr sz="1000">
                <a:latin typeface="Arial"/>
              </a:rPr>
              <a:t>3. Revision (5 min)</a:t>
            </a:r>
          </a:p>
          <a:p>
            <a:r>
              <a:rPr sz="1000">
                <a:latin typeface="Arial"/>
              </a:rPr>
              <a:t>4. Edicion (5 min)</a:t>
            </a:r>
          </a:p>
          <a:p>
            <a:r>
              <a:rPr sz="1000">
                <a:latin typeface="Arial"/>
              </a:rPr>
              <a:t>5. Publicacion (5 min)</a:t>
            </a:r>
          </a:p>
          <a:p/>
          <a:p>
            <a:r>
              <a:rPr sz="1000">
                <a:latin typeface="Arial"/>
              </a:rPr>
              <a:t>FOCUS : Present Simple + He/She + verb-s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/>
          <a:p>
            <a:r>
              <a:rPr sz="1000">
                <a:latin typeface="Arial"/>
              </a:rPr>
              <a:t>TRANSITION : "Now let's look at the template."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TEMPLATE</a:t>
            </a:r>
          </a:p>
          <a:p/>
          <a:p>
            <a:r>
              <a:rPr sz="1000">
                <a:latin typeface="Arial"/>
              </a:rPr>
              <a:t>ROLE : Guide structurel.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Ingrid ecrit sur papier.</a:t>
            </a:r>
          </a:p>
          <a:p>
            <a:r>
              <a:rPr sz="1000">
                <a:latin typeface="Arial"/>
              </a:rPr>
              <a:t>Suit le template.</a:t>
            </a:r>
          </a:p>
          <a:p>
            <a:r>
              <a:rPr sz="1000">
                <a:latin typeface="Arial"/>
              </a:rPr>
              <a:t>Complete les blancs.</a:t>
            </a:r>
          </a:p>
          <a:p/>
          <a:p>
            <a:r>
              <a:rPr sz="1000">
                <a:latin typeface="Arial"/>
              </a:rPr>
              <a:t>VERIFIER a la fin.</a:t>
            </a:r>
          </a:p>
          <a:p/>
          <a:p>
            <a:r>
              <a:rPr sz="1000">
                <a:latin typeface="Arial"/>
              </a:rPr>
              <a:t>TRANSITION : "Now let's check your progress."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CHECKPOINT</a:t>
            </a:r>
          </a:p>
          <a:p/>
          <a:p>
            <a:r>
              <a:rPr sz="1000">
                <a:latin typeface="Arial"/>
              </a:rPr>
              <a:t>ROLE : Auto-evaluation.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Lire chaque critere.</a:t>
            </a:r>
          </a:p>
          <a:p>
            <a:r>
              <a:rPr sz="1000">
                <a:latin typeface="Arial"/>
              </a:rPr>
              <a:t>Ingrid repond honnetement.</a:t>
            </a:r>
          </a:p>
          <a:p/>
          <a:p>
            <a:r>
              <a:rPr sz="1000">
                <a:latin typeface="Arial"/>
              </a:rPr>
              <a:t>NE PAS juger.</a:t>
            </a:r>
          </a:p>
          <a:p/>
          <a:p>
            <a:r>
              <a:rPr sz="1000">
                <a:latin typeface="Arial"/>
              </a:rPr>
              <a:t>TRANSITION : "Now let's reflect."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PRACTICE (1)</a:t>
            </a:r>
          </a:p>
          <a:p/>
          <a:p>
            <a:r>
              <a:rPr sz="1000">
                <a:latin typeface="Arial"/>
              </a:rPr>
              <a:t>ROLE : Pratique controlee.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1. ORAL d'abord</a:t>
            </a:r>
          </a:p>
          <a:p>
            <a:r>
              <a:rPr sz="1000">
                <a:latin typeface="Arial"/>
              </a:rPr>
              <a:t>2. ECRIT ensuite</a:t>
            </a:r>
          </a:p>
          <a:p>
            <a:r>
              <a:rPr sz="1000">
                <a:latin typeface="Arial"/>
              </a:rPr>
              <a:t>3. CORRECTION en temps reel</a:t>
            </a:r>
          </a:p>
          <a:p/>
          <a:p>
            <a:r>
              <a:rPr sz="1000">
                <a:latin typeface="Arial"/>
              </a:rPr>
              <a:t>Ne pas donner la reponse.</a:t>
            </a:r>
          </a:p>
          <a:p>
            <a:r>
              <a:rPr sz="1000">
                <a:latin typeface="Arial"/>
              </a:rPr>
              <a:t>Laisser 5-10 secondes.</a:t>
            </a:r>
          </a:p>
          <a:p>
            <a:r>
              <a:rPr sz="1000">
                <a:latin typeface="Arial"/>
              </a:rPr>
              <a:t>MAX 3 corrections.</a:t>
            </a:r>
          </a:p>
          <a:p/>
          <a:p>
            <a:r>
              <a:rPr sz="1000">
                <a:latin typeface="Arial"/>
              </a:rPr>
              <a:t>TRANSITION : "Now let's use these in conversation."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THANKS</a:t>
            </a:r>
          </a:p>
          <a:p/>
          <a:p>
            <a:r>
              <a:rPr sz="1000">
                <a:latin typeface="Arial"/>
              </a:rPr>
              <a:t>ROLE : Cloture.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"Excellent work today, Ingrid!</a:t>
            </a:r>
          </a:p>
          <a:p>
            <a:r>
              <a:rPr sz="1000">
                <a:latin typeface="Arial"/>
              </a:rPr>
              <a:t>You've completed Class 01.</a:t>
            </a:r>
          </a:p>
          <a:p>
            <a:r>
              <a:rPr sz="1000">
                <a:latin typeface="Arial"/>
              </a:rPr>
              <a:t>See you next time."</a:t>
            </a:r>
          </a:p>
          <a:p/>
          <a:p>
            <a:r>
              <a:rPr sz="1000">
                <a:latin typeface="Arial"/>
              </a:rPr>
              <a:t>Rappeler : Class 02</a:t>
            </a:r>
          </a:p>
          <a:p/>
          <a:p>
            <a:r>
              <a:rPr sz="1000">
                <a:latin typeface="Arial"/>
              </a:rPr>
              <a:t>TERMINER sur une note positive.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01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3D1F5C"/>
                </a:solidFill>
                <a:latin typeface="Arial" panose="020B0604020202020204"/>
              </a:rPr>
              <a:t>MY DAILY ROUTINE</a:t>
            </a:r>
            <a:endParaRPr sz="4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Ingrid - English - Class 01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Profesor: Jean Thomas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Welcome!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02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OVERVIEW — Today's Objectives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 panose="020B0604020202020204"/>
              </a:rPr>
              <a:t>01.</a:t>
            </a:r>
            <a:endParaRPr sz="22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Talk about my daily routine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221992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 panose="020B0604020202020204"/>
              </a:rPr>
              <a:t>02.</a:t>
            </a:r>
            <a:endParaRPr sz="22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3040" y="2221992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Use the Present Simple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935224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 panose="020B0604020202020204"/>
              </a:rPr>
              <a:t>03.</a:t>
            </a:r>
            <a:endParaRPr sz="22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3040" y="2935224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Use He/She + verb-s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 panose="020B0604020202020204"/>
              </a:rPr>
              <a:t>04.</a:t>
            </a:r>
            <a:endParaRPr sz="22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3040" y="3648456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Ask questions with Do/Does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 panose="020B0604020202020204"/>
              </a:rPr>
              <a:t>05.</a:t>
            </a:r>
            <a:endParaRPr sz="22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4361688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Use adverbs of frequency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 panose="020B0604020202020204"/>
              </a:rPr>
              <a:t>06.</a:t>
            </a:r>
            <a:endParaRPr sz="22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63040" y="507492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Speak 1-2 min about my day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GOAL: Speak with confidence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03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SPEAKING — Answer orally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-  What time do you wake up?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450591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-  What do you do in the morning?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3346703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46703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-  Do you have breakfast?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242816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42816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-  What do you do after school?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7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7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-  What time do you go to bed?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Speak without looking at your notes.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04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VOCABULARY — Daily Activities (1/4)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wake up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— despertarse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ESSENTIAL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 panose="020B0604020202020204"/>
              </a:rPr>
              <a:t>+ wake up early  + wake up late</a:t>
            </a:r>
            <a:endParaRPr sz="1300" b="0" i="0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 panose="020B0604020202020204"/>
              </a:rPr>
              <a:t>  "I wake up at 7 on weekdays."</a:t>
            </a:r>
            <a:endParaRPr sz="14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 panose="020B0604020202020204"/>
              </a:rPr>
              <a:t>  NOT 'wake up to 7'</a:t>
            </a:r>
            <a:endParaRPr sz="13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get up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— levantarse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ESSENTIAL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 panose="020B0604020202020204"/>
              </a:rPr>
              <a:t>+ get up at 7:15  + get up early</a:t>
            </a:r>
            <a:endParaRPr sz="1300" b="0" i="0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 panose="020B0604020202020204"/>
              </a:rPr>
              <a:t>  "I hate getting up early."</a:t>
            </a:r>
            <a:endParaRPr sz="14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 panose="020B0604020202020204"/>
              </a:rPr>
              <a:t>  NOT 'get up me'</a:t>
            </a:r>
            <a:endParaRPr sz="13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have breakfast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— desayunar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ESSENTIAL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 panose="020B0604020202020204"/>
              </a:rPr>
              <a:t>+ have breakfast with family  + have breakfast at 8</a:t>
            </a:r>
            <a:endParaRPr sz="1300" b="0" i="0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 panose="020B0604020202020204"/>
              </a:rPr>
              <a:t>  "I usually have breakfast with my family."</a:t>
            </a:r>
            <a:endParaRPr sz="14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 panose="020B0604020202020204"/>
              </a:rPr>
              <a:t>  NOT 'take breakfast'</a:t>
            </a:r>
            <a:endParaRPr sz="13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Read aloud. Practice collocations.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05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VOCABULARY — Daily Activities (2/4)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go to school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— ir a la escuela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ESSENTIAL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 panose="020B0604020202020204"/>
              </a:rPr>
              <a:t>+ go to school by bus  + go to school on foot</a:t>
            </a:r>
            <a:endParaRPr sz="1300" b="0" i="0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 panose="020B0604020202020204"/>
              </a:rPr>
              <a:t>  "I go to school at 8 o'clock."</a:t>
            </a:r>
            <a:endParaRPr sz="14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 panose="020B0604020202020204"/>
              </a:rPr>
              <a:t>  NOT 'go at school'</a:t>
            </a:r>
            <a:endParaRPr sz="13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study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— estudiar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ESSENTIAL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 panose="020B0604020202020204"/>
              </a:rPr>
              <a:t>+ study English  + study for an exam</a:t>
            </a:r>
            <a:endParaRPr sz="1300" b="0" i="0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 panose="020B0604020202020204"/>
              </a:rPr>
              <a:t>  "I study every evening."</a:t>
            </a:r>
            <a:endParaRPr sz="14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 panose="020B0604020202020204"/>
              </a:rPr>
              <a:t>  NOT 'study to English'</a:t>
            </a:r>
            <a:endParaRPr sz="13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come home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— regresar a casa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IMPORTANT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 panose="020B0604020202020204"/>
              </a:rPr>
              <a:t>+ come home late  + come home after school</a:t>
            </a:r>
            <a:endParaRPr sz="1300" b="0" i="0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 panose="020B0604020202020204"/>
              </a:rPr>
              <a:t>  "I come home at 3:30."</a:t>
            </a:r>
            <a:endParaRPr sz="14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 panose="020B0604020202020204"/>
              </a:rPr>
              <a:t>  NOT 'come to home'</a:t>
            </a:r>
            <a:endParaRPr sz="13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Read aloud. Practice collocations.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06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VOCABULARY — Daily Activities (3/4)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do homework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— hacer la tarea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ESSENTIAL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 panose="020B0604020202020204"/>
              </a:rPr>
              <a:t>+ do homework after school  + do my homework</a:t>
            </a:r>
            <a:endParaRPr sz="1300" b="0" i="0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 panose="020B0604020202020204"/>
              </a:rPr>
              <a:t>  "I do my homework at 4 p.m."</a:t>
            </a:r>
            <a:endParaRPr sz="14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 panose="020B0604020202020204"/>
              </a:rPr>
              <a:t>  NOT 'make homework'</a:t>
            </a:r>
            <a:endParaRPr sz="13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listen to music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— escuchar musica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ESSENTIAL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 panose="020B0604020202020204"/>
              </a:rPr>
              <a:t>+ listen TO music  + listen in the evening</a:t>
            </a:r>
            <a:endParaRPr sz="1300" b="0" i="0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 panose="020B0604020202020204"/>
              </a:rPr>
              <a:t>  "I listen to music every night."</a:t>
            </a:r>
            <a:endParaRPr sz="14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 panose="020B0604020202020204"/>
              </a:rPr>
              <a:t>  NOT 'listen music'</a:t>
            </a:r>
            <a:endParaRPr sz="13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watch movies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— ver peliculas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IMPORTANT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 panose="020B0604020202020204"/>
              </a:rPr>
              <a:t>+ watch movies on weekends  + watch a movie</a:t>
            </a:r>
            <a:endParaRPr sz="1300" b="0" i="0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 panose="020B0604020202020204"/>
              </a:rPr>
              <a:t>  "I watch movies on Sundays."</a:t>
            </a:r>
            <a:endParaRPr sz="14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 panose="020B0604020202020204"/>
              </a:rPr>
              <a:t>  NOT 'see movies' (nuance differente)</a:t>
            </a:r>
            <a:endParaRPr sz="13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Read aloud. Practice collocations.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07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VOCABULARY — Daily Activities (4/4)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have dinner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— cenar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ESSENTIAL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 panose="020B0604020202020204"/>
              </a:rPr>
              <a:t>+ have dinner at 8  + have dinner with family</a:t>
            </a:r>
            <a:endParaRPr sz="1300" b="0" i="0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 panose="020B0604020202020204"/>
              </a:rPr>
              <a:t>  "We have dinner at 8 every day."</a:t>
            </a:r>
            <a:endParaRPr sz="14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 panose="020B0604020202020204"/>
              </a:rPr>
              <a:t>  NOT 'take dinner'</a:t>
            </a:r>
            <a:endParaRPr sz="13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go out with friends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— salir con amigos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IMPORTANT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 panose="020B0604020202020204"/>
              </a:rPr>
              <a:t>+ go out on weekends  + go out with friends</a:t>
            </a:r>
            <a:endParaRPr sz="1300" b="0" i="0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 panose="020B0604020202020204"/>
              </a:rPr>
              <a:t>  "I go out with friends on Saturdays."</a:t>
            </a:r>
            <a:endParaRPr sz="14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 panose="020B0604020202020204"/>
              </a:rPr>
              <a:t>  NOT 'go out to friends'</a:t>
            </a:r>
            <a:endParaRPr sz="13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go to bed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— ir a dormir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ESSENTIAL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 panose="020B0604020202020204"/>
              </a:rPr>
              <a:t>+ go to bed early  + go to bed at 10:30</a:t>
            </a:r>
            <a:endParaRPr sz="1300" b="0" i="0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 panose="020B0604020202020204"/>
              </a:rPr>
              <a:t>  "I go to bed at 10:30."</a:t>
            </a:r>
            <a:endParaRPr sz="14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 panose="020B0604020202020204"/>
              </a:rPr>
              <a:t>  NOT 'go to the bed'</a:t>
            </a:r>
            <a:endParaRPr sz="13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Read aloud. Practice collocations.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08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⚠️  COMMON MISTAKES — Avoid these!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 panose="020B0604020202020204"/>
              </a:rPr>
              <a:t>❌  She go to school at 8.</a:t>
            </a:r>
            <a:endParaRPr sz="17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 panose="020B0604020202020204"/>
              </a:rPr>
              <a:t>✓   She goes to school at 8.</a:t>
            </a:r>
            <a:endParaRPr sz="1700" b="1" i="0">
              <a:solidFill>
                <a:srgbClr val="2E7D32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 panose="020B0604020202020204"/>
              </a:rPr>
              <a:t>      Con he/she/it, el verbo lleva -s en Present Simple.</a:t>
            </a:r>
            <a:endParaRPr sz="1300" b="0" i="1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 panose="020B0604020202020204"/>
              </a:rPr>
              <a:t>❌  I take breakfast at 8.</a:t>
            </a:r>
            <a:endParaRPr sz="17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 panose="020B0604020202020204"/>
              </a:rPr>
              <a:t>✓   I have breakfast at 8.</a:t>
            </a:r>
            <a:endParaRPr sz="1700" b="1" i="0">
              <a:solidFill>
                <a:srgbClr val="2E7D3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 panose="020B0604020202020204"/>
              </a:rPr>
              <a:t>      En inglés se dice 'have breakfast', no 'take'.</a:t>
            </a:r>
            <a:endParaRPr sz="1300" b="0" i="1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 panose="020B0604020202020204"/>
              </a:rPr>
              <a:t>❌  I go to the bed at 10.</a:t>
            </a:r>
            <a:endParaRPr sz="17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 panose="020B0604020202020204"/>
              </a:rPr>
              <a:t>✓   I go to bed at 10.</a:t>
            </a:r>
            <a:endParaRPr sz="1700" b="1" i="0">
              <a:solidFill>
                <a:srgbClr val="2E7D3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442569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 panose="020B0604020202020204"/>
              </a:rPr>
              <a:t>      No se usa 'the' con bed, school, home, work.</a:t>
            </a:r>
            <a:endParaRPr sz="1300" b="0" i="1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 panose="020B0604020202020204"/>
              </a:rPr>
              <a:t>❌  I wake up at 7 hours.</a:t>
            </a:r>
            <a:endParaRPr sz="17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518464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 panose="020B0604020202020204"/>
              </a:rPr>
              <a:t>✓   I wake up at 7 o'clock.</a:t>
            </a:r>
            <a:endParaRPr sz="1700" b="1" i="0">
              <a:solidFill>
                <a:srgbClr val="2E7D32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 panose="020B0604020202020204"/>
              </a:rPr>
              <a:t>      Se dice 'o'clock', no 'hours'.</a:t>
            </a:r>
            <a:endParaRPr sz="1300" b="0" i="1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Repeat after me. Don't make these mistakes!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09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EXPRESSIONS &amp; YOUR TURN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7820"/>
            <a:ext cx="8046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 panose="020B0604020202020204"/>
              </a:rPr>
              <a:t>EXPRESSIONS</a:t>
            </a:r>
            <a:endParaRPr sz="18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▸  have breakfast with family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59" y="231343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▸  go to school by bus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59" y="2660903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▸  come home late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3008375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▸  listen to music in the evening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59" y="3355847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▸  go out with friends on weekends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9" y="3703320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▸  go to bed early / late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4080510"/>
            <a:ext cx="8046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 panose="020B0604020202020204"/>
              </a:rPr>
              <a:t>🎯  YOUR TURN</a:t>
            </a:r>
            <a:endParaRPr sz="18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59" y="4389120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1.  wake up         -&gt; ________________________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59" y="470915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2.  get up          -&gt; ________________________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" y="502919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3.  have breakfast  -&gt; ________________________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" y="534923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4.  go to school    -&gt; ________________________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59" y="566927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5.  go to bed       -&gt; ________________________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Write your own sentences.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10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GRAMMAR — Present Simple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 panose="020B0604020202020204"/>
              </a:rPr>
              <a:t>USE</a:t>
            </a:r>
            <a:endParaRPr sz="2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Routines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Habits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Regular activities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Present Simple = routines &amp; habits.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11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GRAMMAR — Present Simple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 panose="020B0604020202020204"/>
              </a:rPr>
              <a:t>FORMULA</a:t>
            </a:r>
            <a:endParaRPr sz="2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I / You / We / They  +  VERB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He / She / It  +  VERB + S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Present Simple = routines &amp; habits.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12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GRAMMAR — Present Simple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 panose="020B0604020202020204"/>
              </a:rPr>
              <a:t>EXAMPLES</a:t>
            </a:r>
            <a:endParaRPr sz="2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I study English. -&gt; She studies English.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I watch TV. -&gt; He watches TV.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I go to school. -&gt; She goes to school.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Present Simple = routines &amp; habits.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13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GRAMMAR — Neg &amp; Questions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 panose="020B0604020202020204"/>
              </a:rPr>
              <a:t>NEGATIVE</a:t>
            </a:r>
            <a:endParaRPr sz="2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I / You / We / They + don't + VERB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He / She / It + doesn't + VERB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I don't drink coffee.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She doesn't eat meat.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don't / doesn't + BASE verb.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14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GRAMMAR — Neg &amp; Questions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 panose="020B0604020202020204"/>
              </a:rPr>
              <a:t>QUESTIONS</a:t>
            </a:r>
            <a:endParaRPr sz="2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Do you study? Yes, I do. / No, I don't.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Does she study? Yes, she does. / No, she doesn't.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After DOES -&gt; base verb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don't / doesn't + BASE verb.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15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SOUND — /I/ vs /i:/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ship - sheep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350008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50008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sit - seat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3008376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08376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fit - feet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3666744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666744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live - leave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4325112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325112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it - eat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Short vs long vowel.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16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PRONUNCIATION — Practice /I/ vs /i:/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ship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 panose="020B0604020202020204"/>
              </a:rPr>
              <a:t>/ʃɪp/</a:t>
            </a:r>
            <a:endParaRPr sz="1800" b="0" i="1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sheep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 panose="020B0604020202020204"/>
              </a:rPr>
              <a:t>/ʃiːp/</a:t>
            </a:r>
            <a:endParaRPr sz="1800" b="0" i="1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live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 panose="020B0604020202020204"/>
              </a:rPr>
              <a:t>/lɪv/</a:t>
            </a:r>
            <a:endParaRPr sz="1800" b="0" i="1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leave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 panose="020B0604020202020204"/>
              </a:rPr>
              <a:t>/liːv/</a:t>
            </a:r>
            <a:endParaRPr sz="1800" b="0" i="1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Record yourself and compare.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17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PRACTICE — Complete (1/2)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1. I ___ (wake up) at 7.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2. She ___ (have) breakfast.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3. They ___ (go) to school.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4. He ___ (study) English.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Answer orally first.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18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PRACTICE — Complete (2/2)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5. We ___ (watch) movies.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6. She ___ (listen) to music.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7. I ___ (do) my homework.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8. He ___ (go) to bed at 10:30.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Answer orally first.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19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SPEAKING — Conversation (1/2)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What time do you wake up?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-&gt;  I wake up at ____.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What do you do in the morning?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-&gt;  I ____.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Do you have breakfast?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-&gt;  Yes, I do. / No, I don't.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Speak naturally.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20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SPEAKING — Conversation (2/2)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What do you do after school?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-&gt;  I usually ____.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Do you listen to music daily?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-&gt;  Yes, I do. / No, I don't.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What time do you go to bed?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-&gt;  I go to bed at ____.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Speak naturally.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21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LISTENING — Emma's Routine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 panose="020B0604020202020204"/>
              </a:rPr>
              <a:t>TEXT</a:t>
            </a:r>
            <a:endParaRPr sz="18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74980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Hi! My name is Emma. I usually wake up at 7 o'clock. I have breakfast with my family and then I go to school. I come home at 3:30. In the afternoon, I do my homework and listen to music. I sometimes go out with my friends. In the evening, I have dinner with my family. I usually go to bed at 10:30.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Listen carefully to the text.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22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LISTENING — Answer the questions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1. What time does Emma wake up?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2. Who does she have breakfast with?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3. What time does she come home?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4. What does she do in the afternoon?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5. What time does she go to bed?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Answer in complete sentences.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23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SPEAKING CHALLENGE — My Typical Day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5 activities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3 times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2 frequency words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1 negative sentence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4400" y="4709159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59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then / after that / finally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Speak 1-2 minutes. No memorization.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24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WRITING — Requirements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6B35"/>
                </a:solidFill>
                <a:latin typeface="Arial" panose="020B0604020202020204"/>
              </a:rPr>
              <a:t>60-80 WORDS</a:t>
            </a:r>
            <a:endParaRPr sz="20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TIME: 20 min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63440" y="1508760"/>
            <a:ext cx="3931920" cy="100584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6B35"/>
                </a:solidFill>
                <a:latin typeface="Arial" panose="020B0604020202020204"/>
              </a:rPr>
              <a:t>FOCUS</a:t>
            </a:r>
            <a:endParaRPr sz="16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Arial" panose="020B0604020202020204"/>
              </a:rPr>
              <a:t>Present Simple + adverbs</a:t>
            </a:r>
            <a:endParaRPr sz="1600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046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 panose="020B0604020202020204"/>
              </a:rPr>
              <a:t>REQUIREMENTS</a:t>
            </a:r>
            <a:endParaRPr sz="18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3200400"/>
            <a:ext cx="7589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- 3 times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- 3 frequency adverbs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- 2 negative sentences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- 1 'because'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- then/after that/finally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Follow the requirements.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25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WRITING — Template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80467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406640" cy="3977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 panose="020B0604020202020204"/>
              </a:rPr>
              <a:t>MY DAILY ROUTINE   —   By: ____________</a:t>
            </a:r>
            <a:endParaRPr sz="21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 panose="020B0604020202020204"/>
              </a:rPr>
              <a:t>Hello! My name is ____________.</a:t>
            </a:r>
            <a:endParaRPr sz="21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 panose="020B0604020202020204"/>
              </a:rPr>
              <a:t>I usually wake up at ____________.</a:t>
            </a:r>
            <a:endParaRPr sz="21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 panose="020B0604020202020204"/>
              </a:rPr>
              <a:t>I always ____________. Then, I ____________.</a:t>
            </a:r>
            <a:endParaRPr sz="21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 panose="020B0604020202020204"/>
              </a:rPr>
              <a:t>In the afternoon, I ____________.</a:t>
            </a:r>
            <a:endParaRPr sz="21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 panose="020B0604020202020204"/>
              </a:rPr>
              <a:t>I don't ____________.</a:t>
            </a:r>
            <a:endParaRPr sz="21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 panose="020B0604020202020204"/>
              </a:rPr>
              <a:t>Finally, I go to bed at ____________.</a:t>
            </a:r>
            <a:endParaRPr sz="21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Use this template to write.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26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CHECKPOINT — Rate your progress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I can name 10 daily activities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I can use Present Simple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I can change I study -&gt; She studies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I can ask questions with Do/Does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I can make negative sentences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Be honest with yourself.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27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SELF-EVALUATION — Rate (1-4)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Vocabulary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3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4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Present Simple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120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64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408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3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55279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4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9544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He/She + s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120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264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408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3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55279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4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14215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Do/Does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120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264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408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3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55279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4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18888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Fluency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120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264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408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3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955279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4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Reflect on your learning.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28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RESOURCES — Keep learning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PODCASTS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- Everyday English Academy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- English Unbound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- 6 Minute English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VIDEOS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9" y="370332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- English with Lucy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40690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- Easy English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452628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APPS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59" y="502920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- Duolingo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" y="539496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- Anki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Practice every day.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29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HOMEWORK — Your tasks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WRITING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Write 10 sentences about your routine.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SPEAKING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Record yourself talking (1-2 min).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PRONUNCIATION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425196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Practice /I/ vs /i:/ (10 pairs).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APP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59" y="530352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Practice vocabulary + Present Simple.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Deadline: ____________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30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1645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 panose="020B0604020202020204"/>
              </a:rPr>
              <a:t>GRACIAS</a:t>
            </a:r>
            <a:endParaRPr sz="5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D1F5C"/>
                </a:solidFill>
                <a:latin typeface="Arial" panose="020B0604020202020204"/>
              </a:rPr>
              <a:t>THANK YOU</a:t>
            </a:r>
            <a:endParaRPr sz="3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1">
                <a:solidFill>
                  <a:srgbClr val="000000"/>
                </a:solidFill>
                <a:latin typeface="Arial" panose="020B0604020202020204"/>
              </a:rPr>
              <a:t>You've completed this class!</a:t>
            </a:r>
            <a:endParaRPr sz="22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 panose="020B0604020202020204"/>
              </a:rPr>
              <a:t>NEXT: CLASS 02</a:t>
            </a:r>
            <a:endParaRPr sz="22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Congratulations!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6938</Words>
  <Application>WPS Presentation</Application>
  <PresentationFormat>On-screen Show (4:3)</PresentationFormat>
  <Paragraphs>661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Jean Thomas Montezuma Montreui</cp:lastModifiedBy>
  <cp:revision>2</cp:revision>
  <dcterms:created xsi:type="dcterms:W3CDTF">2013-01-27T09:14:00Z</dcterms:created>
  <dcterms:modified xsi:type="dcterms:W3CDTF">2026-09-17T06:48:24Z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952BB76CBB7647ADA758153EA30CC6FC_12</vt:lpwstr>
  </property>
  <property fmtid="{D5CDD505-2E9C-101B-9397-08002B2CF9AE}" pid="3" name="KSOProductBuildVer">
    <vt:lpwstr>3084-12.1.0.28485</vt:lpwstr>
  </property>
</Properties>
</file>