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COVER (Class 07)</a:t>
            </a:r>
          </a:p>
          <a:p/>
          <a:p>
            <a:r>
              <a:rPr sz="1000">
                <a:latin typeface="Arial"/>
              </a:rPr>
              <a:t>ROLE : Ouverture.</a:t>
            </a:r>
          </a:p>
          <a:p>
            <a:r>
              <a:rPr sz="1000">
                <a:latin typeface="Arial"/>
              </a:rPr>
              <a:t>DUREE : 2 min</a:t>
            </a:r>
          </a:p>
          <a:p/>
          <a:p>
            <a:r>
              <a:rPr sz="1000">
                <a:latin typeface="Arial"/>
              </a:rPr>
              <a:t>SCRIPT :</a:t>
            </a:r>
          </a:p>
          <a:p>
            <a:r>
              <a:rPr sz="1000">
                <a:latin typeface="Arial"/>
              </a:rPr>
              <a:t>"Hello Ingrid! Welcome to Class 07.</a:t>
            </a:r>
          </a:p>
          <a:p>
            <a:r>
              <a:rPr sz="1000">
                <a:latin typeface="Arial"/>
              </a:rPr>
              <a:t>Today: For/Since/Ago. Ready?"</a:t>
            </a:r>
          </a:p>
          <a:p/>
          <a:p>
            <a:r>
              <a:rPr sz="1000">
                <a:latin typeface="Arial"/>
              </a:rPr>
              <a:t>ACTIONS :</a:t>
            </a:r>
          </a:p>
          <a:p>
            <a:r>
              <a:rPr sz="1000">
                <a:latin typeface="Arial"/>
              </a:rPr>
              <a:t>- Verifier Teams</a:t>
            </a:r>
          </a:p>
          <a:p>
            <a:r>
              <a:rPr sz="1000">
                <a:latin typeface="Arial"/>
              </a:rPr>
              <a:t>- Small talk 30 sec</a:t>
            </a:r>
          </a:p>
          <a:p>
            <a:r>
              <a:rPr sz="1000">
                <a:latin typeface="Arial"/>
              </a:rPr>
              <a:t>- Annoncer 90 min</a:t>
            </a:r>
          </a:p>
          <a:p/>
          <a:p>
            <a:r>
              <a:rPr sz="1000">
                <a:latin typeface="Arial"/>
              </a:rPr>
              <a:t>TRANSITION : "Let's start with the objectives."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OVERVIEW</a:t>
            </a:r>
          </a:p>
          <a:p/>
          <a:p>
            <a:r>
              <a:rPr sz="1000">
                <a:latin typeface="Arial"/>
              </a:rPr>
              <a:t>ROLE : Annoncer objectifs.</a:t>
            </a:r>
          </a:p>
          <a:p>
            <a:r>
              <a:rPr sz="1000">
                <a:latin typeface="Arial"/>
              </a:rPr>
              <a:t>DUREE : 3 min</a:t>
            </a:r>
          </a:p>
          <a:p/>
          <a:p>
            <a:r>
              <a:rPr sz="1000">
                <a:latin typeface="Arial"/>
              </a:rPr>
              <a:t>Lire chaque objectif a voix haute.</a:t>
            </a:r>
          </a:p>
          <a:p>
            <a:r>
              <a:rPr sz="1000">
                <a:latin typeface="Arial"/>
              </a:rPr>
              <a:t>Ne pas expliquer.</a:t>
            </a:r>
          </a:p>
          <a:p/>
          <a:p>
            <a:r>
              <a:rPr sz="1000">
                <a:latin typeface="Arial"/>
              </a:rPr>
              <a:t>DIRE : "By the end of today, you will be able to do all of this."</a:t>
            </a:r>
          </a:p>
          <a:p/>
          <a:p>
            <a:r>
              <a:rPr sz="1000">
                <a:latin typeface="Arial"/>
              </a:rPr>
              <a:t>TRANSITION : "Let's start with a warm-up."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WARM-UP</a:t>
            </a:r>
          </a:p>
          <a:p/>
          <a:p>
            <a:r>
              <a:rPr sz="1000">
                <a:latin typeface="Arial"/>
              </a:rPr>
              <a:t>ROLE : Activer connaissances.</a:t>
            </a:r>
          </a:p>
          <a:p>
            <a:r>
              <a:rPr sz="1000">
                <a:latin typeface="Arial"/>
              </a:rPr>
              <a:t>DUREE : 10 min</a:t>
            </a:r>
          </a:p>
          <a:p/>
          <a:p>
            <a:r>
              <a:rPr sz="1000">
                <a:latin typeface="Arial"/>
              </a:rPr>
              <a:t>Ingrid repond ORALEMENT sans notes.</a:t>
            </a:r>
          </a:p>
          <a:p>
            <a:r>
              <a:rPr sz="1000">
                <a:latin typeface="Arial"/>
              </a:rPr>
              <a:t>Ne pas interrompre.</a:t>
            </a:r>
          </a:p>
          <a:p>
            <a:r>
              <a:rPr sz="1000">
                <a:latin typeface="Arial"/>
              </a:rPr>
              <a:t>Max 2-3 corrections apres.</a:t>
            </a:r>
          </a:p>
          <a:p/>
          <a:p>
            <a:r>
              <a:rPr sz="1000">
                <a:latin typeface="Arial"/>
              </a:rPr>
              <a:t>TRANSITION : "Now let's look at new vocabulary."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VOCABULARY (1)</a:t>
            </a:r>
          </a:p>
          <a:p/>
          <a:p>
            <a:r>
              <a:rPr sz="1000">
                <a:latin typeface="Arial"/>
              </a:rPr>
              <a:t>ROLE : Introduire vocabulaire.</a:t>
            </a:r>
          </a:p>
          <a:p>
            <a:r>
              <a:rPr sz="1000">
                <a:latin typeface="Arial"/>
              </a:rPr>
              <a:t>DUREE : 8-10 min</a:t>
            </a:r>
          </a:p>
          <a:p/>
          <a:p>
            <a:r>
              <a:rPr sz="1000">
                <a:latin typeface="Arial"/>
              </a:rPr>
              <a:t>METHODE 3 ETAPES :</a:t>
            </a:r>
          </a:p>
          <a:p>
            <a:r>
              <a:rPr sz="1000">
                <a:latin typeface="Arial"/>
              </a:rPr>
              <a:t>1. Prof dit -&gt; Ingrid repete</a:t>
            </a:r>
          </a:p>
          <a:p>
            <a:r>
              <a:rPr sz="1000">
                <a:latin typeface="Arial"/>
              </a:rPr>
              <a:t>2. Prof traduit</a:t>
            </a:r>
          </a:p>
          <a:p>
            <a:r>
              <a:rPr sz="1000">
                <a:latin typeface="Arial"/>
              </a:rPr>
              <a:t>3. Ingrid fait une phrase</a:t>
            </a:r>
          </a:p>
          <a:p/>
          <a:p>
            <a:r>
              <a:rPr sz="1000">
                <a:latin typeface="Arial"/>
              </a:rPr>
              <a:t>NE PAS lire simplement.</a:t>
            </a:r>
          </a:p>
          <a:p>
            <a:r>
              <a:rPr sz="1000">
                <a:latin typeface="Arial"/>
              </a:rPr>
              <a:t>TOUJOURS prononcer + utiliser.</a:t>
            </a:r>
          </a:p>
          <a:p/>
          <a:p>
            <a:r>
              <a:rPr sz="1000">
                <a:latin typeface="Arial"/>
              </a:rPr>
              <a:t>TRANSITION : "Now let's look at common mistakes."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VOCABULARY (2)</a:t>
            </a:r>
          </a:p>
          <a:p/>
          <a:p>
            <a:r>
              <a:rPr sz="1000">
                <a:latin typeface="Arial"/>
              </a:rPr>
              <a:t>ROLE : Introduire vocabulaire.</a:t>
            </a:r>
          </a:p>
          <a:p>
            <a:r>
              <a:rPr sz="1000">
                <a:latin typeface="Arial"/>
              </a:rPr>
              <a:t>DUREE : 8-10 min</a:t>
            </a:r>
          </a:p>
          <a:p/>
          <a:p>
            <a:r>
              <a:rPr sz="1000">
                <a:latin typeface="Arial"/>
              </a:rPr>
              <a:t>METHODE 3 ETAPES :</a:t>
            </a:r>
          </a:p>
          <a:p>
            <a:r>
              <a:rPr sz="1000">
                <a:latin typeface="Arial"/>
              </a:rPr>
              <a:t>1. Prof dit -&gt; Ingrid repete</a:t>
            </a:r>
          </a:p>
          <a:p>
            <a:r>
              <a:rPr sz="1000">
                <a:latin typeface="Arial"/>
              </a:rPr>
              <a:t>2. Prof traduit</a:t>
            </a:r>
          </a:p>
          <a:p>
            <a:r>
              <a:rPr sz="1000">
                <a:latin typeface="Arial"/>
              </a:rPr>
              <a:t>3. Ingrid fait une phrase</a:t>
            </a:r>
          </a:p>
          <a:p/>
          <a:p>
            <a:r>
              <a:rPr sz="1000">
                <a:latin typeface="Arial"/>
              </a:rPr>
              <a:t>NE PAS lire simplement.</a:t>
            </a:r>
          </a:p>
          <a:p>
            <a:r>
              <a:rPr sz="1000">
                <a:latin typeface="Arial"/>
              </a:rPr>
              <a:t>TOUJOURS prononcer + utiliser.</a:t>
            </a:r>
          </a:p>
          <a:p/>
          <a:p>
            <a:r>
              <a:rPr sz="1000">
                <a:latin typeface="Arial"/>
              </a:rPr>
              <a:t>TRANSITION : "Now let's look at common mistakes."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VOCABULARY (3)</a:t>
            </a:r>
          </a:p>
          <a:p/>
          <a:p>
            <a:r>
              <a:rPr sz="1000">
                <a:latin typeface="Arial"/>
              </a:rPr>
              <a:t>ROLE : Introduire vocabulaire.</a:t>
            </a:r>
          </a:p>
          <a:p>
            <a:r>
              <a:rPr sz="1000">
                <a:latin typeface="Arial"/>
              </a:rPr>
              <a:t>DUREE : 8-10 min</a:t>
            </a:r>
          </a:p>
          <a:p/>
          <a:p>
            <a:r>
              <a:rPr sz="1000">
                <a:latin typeface="Arial"/>
              </a:rPr>
              <a:t>METHODE 3 ETAPES :</a:t>
            </a:r>
          </a:p>
          <a:p>
            <a:r>
              <a:rPr sz="1000">
                <a:latin typeface="Arial"/>
              </a:rPr>
              <a:t>1. Prof dit -&gt; Ingrid repete</a:t>
            </a:r>
          </a:p>
          <a:p>
            <a:r>
              <a:rPr sz="1000">
                <a:latin typeface="Arial"/>
              </a:rPr>
              <a:t>2. Prof traduit</a:t>
            </a:r>
          </a:p>
          <a:p>
            <a:r>
              <a:rPr sz="1000">
                <a:latin typeface="Arial"/>
              </a:rPr>
              <a:t>3. Ingrid fait une phrase</a:t>
            </a:r>
          </a:p>
          <a:p/>
          <a:p>
            <a:r>
              <a:rPr sz="1000">
                <a:latin typeface="Arial"/>
              </a:rPr>
              <a:t>NE PAS lire simplement.</a:t>
            </a:r>
          </a:p>
          <a:p>
            <a:r>
              <a:rPr sz="1000">
                <a:latin typeface="Arial"/>
              </a:rPr>
              <a:t>TOUJOURS prononcer + utiliser.</a:t>
            </a:r>
          </a:p>
          <a:p/>
          <a:p>
            <a:r>
              <a:rPr sz="1000">
                <a:latin typeface="Arial"/>
              </a:rPr>
              <a:t>TRANSITION : "Now let's look at common mistakes."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COMMON MISTAKES (Trampas)</a:t>
            </a:r>
          </a:p>
          <a:p/>
          <a:p>
            <a:r>
              <a:rPr sz="1000">
                <a:latin typeface="Arial"/>
              </a:rPr>
              <a:t>ROLE : Erreurs frequentes hispanophones.</a:t>
            </a:r>
          </a:p>
          <a:p>
            <a:r>
              <a:rPr sz="1000">
                <a:latin typeface="Arial"/>
              </a:rPr>
              <a:t>DUREE : 5 min</a:t>
            </a:r>
          </a:p>
          <a:p/>
          <a:p>
            <a:r>
              <a:rPr sz="1000">
                <a:latin typeface="Arial"/>
              </a:rPr>
              <a:t>METHODE :</a:t>
            </a:r>
          </a:p>
          <a:p>
            <a:r>
              <a:rPr sz="1000">
                <a:latin typeface="Arial"/>
              </a:rPr>
              <a:t>1. Montrer l'erreur (X)</a:t>
            </a:r>
          </a:p>
          <a:p>
            <a:r>
              <a:rPr sz="1000">
                <a:latin typeface="Arial"/>
              </a:rPr>
              <a:t>2. Demander : "Esta correcto?"</a:t>
            </a:r>
          </a:p>
          <a:p>
            <a:r>
              <a:rPr sz="1000">
                <a:latin typeface="Arial"/>
              </a:rPr>
              <a:t>3. Ingrid corrige</a:t>
            </a:r>
          </a:p>
          <a:p>
            <a:r>
              <a:rPr sz="1000">
                <a:latin typeface="Arial"/>
              </a:rPr>
              <a:t>4. Montrer la correction (OK)</a:t>
            </a:r>
          </a:p>
          <a:p>
            <a:r>
              <a:rPr sz="1000">
                <a:latin typeface="Arial"/>
              </a:rPr>
              <a:t>5. Lire l'explication en espagnol</a:t>
            </a:r>
          </a:p>
          <a:p>
            <a:r>
              <a:rPr sz="1000">
                <a:latin typeface="Arial"/>
              </a:rPr>
              <a:t>6. Repetir 3x la forme correcte</a:t>
            </a:r>
          </a:p>
          <a:p/>
          <a:p>
            <a:r>
              <a:rPr sz="1000">
                <a:latin typeface="Arial"/>
              </a:rPr>
              <a:t>FRASES UTILES :</a:t>
            </a:r>
          </a:p>
          <a:p>
            <a:r>
              <a:rPr sz="1000">
                <a:latin typeface="Arial"/>
              </a:rPr>
              <a:t>- "Esta es una trampa muy comun."</a:t>
            </a:r>
          </a:p>
          <a:p>
            <a:r>
              <a:rPr sz="1000">
                <a:latin typeface="Arial"/>
              </a:rPr>
              <a:t>- "Cuidado con esta palabra."</a:t>
            </a:r>
          </a:p>
          <a:p>
            <a:r>
              <a:rPr sz="1000">
                <a:latin typeface="Arial"/>
              </a:rPr>
              <a:t>- "Repite conmigo 3 veces."</a:t>
            </a:r>
          </a:p>
          <a:p/>
          <a:p>
            <a:r>
              <a:rPr sz="1000">
                <a:latin typeface="Arial"/>
              </a:rPr>
              <a:t>NE PAS juger les erreurs.</a:t>
            </a:r>
          </a:p>
          <a:p>
            <a:r>
              <a:rPr sz="1000">
                <a:latin typeface="Arial"/>
              </a:rPr>
              <a:t>ENCOURAGER : "Es normal, todos lo hacemos."</a:t>
            </a:r>
          </a:p>
          <a:p/>
          <a:p>
            <a:r>
              <a:rPr sz="1000">
                <a:latin typeface="Arial"/>
              </a:rPr>
              <a:t>TRANSITION : "Ahora veamos expresiones completas."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EXPRESSIONS &amp; YOUR TURN</a:t>
            </a:r>
          </a:p>
          <a:p/>
          <a:p>
            <a:r>
              <a:rPr sz="1000">
                <a:latin typeface="Arial"/>
              </a:rPr>
              <a:t>ROLE : Blocs lexicaux + production.</a:t>
            </a:r>
          </a:p>
          <a:p>
            <a:r>
              <a:rPr sz="1000">
                <a:latin typeface="Arial"/>
              </a:rPr>
              <a:t>DUREE : 8 min</a:t>
            </a:r>
          </a:p>
          <a:p/>
          <a:p>
            <a:r>
              <a:rPr sz="1000">
                <a:latin typeface="Arial"/>
              </a:rPr>
              <a:t>PARTIE 1 - EXPRESSIONS (4 min) :</a:t>
            </a:r>
          </a:p>
          <a:p>
            <a:r>
              <a:rPr sz="1000">
                <a:latin typeface="Arial"/>
              </a:rPr>
              <a:t>1. Lire chaque expression</a:t>
            </a:r>
          </a:p>
          <a:p>
            <a:r>
              <a:rPr sz="1000">
                <a:latin typeface="Arial"/>
              </a:rPr>
              <a:t>2. Ingrid repete</a:t>
            </a:r>
          </a:p>
          <a:p>
            <a:r>
              <a:rPr sz="1000">
                <a:latin typeface="Arial"/>
              </a:rPr>
              <a:t>3. Demander : "When do you use this?"</a:t>
            </a:r>
          </a:p>
          <a:p/>
          <a:p>
            <a:r>
              <a:rPr sz="1000">
                <a:latin typeface="Arial"/>
              </a:rPr>
              <a:t>PARTIE 2 - YOUR TURN (4 min) :</a:t>
            </a:r>
          </a:p>
          <a:p>
            <a:r>
              <a:rPr sz="1000">
                <a:latin typeface="Arial"/>
              </a:rPr>
              <a:t>1. Lire la consigne</a:t>
            </a:r>
          </a:p>
          <a:p>
            <a:r>
              <a:rPr sz="1000">
                <a:latin typeface="Arial"/>
              </a:rPr>
              <a:t>2. Ingrid ecrit 1 phrase par mot</a:t>
            </a:r>
          </a:p>
          <a:p>
            <a:r>
              <a:rPr sz="1000">
                <a:latin typeface="Arial"/>
              </a:rPr>
              <a:t>3. Verifier oralement</a:t>
            </a:r>
          </a:p>
          <a:p/>
          <a:p>
            <a:r>
              <a:rPr sz="1000">
                <a:latin typeface="Arial"/>
              </a:rPr>
              <a:t>NE PAS ecrire a sa place.</a:t>
            </a:r>
          </a:p>
          <a:p>
            <a:r>
              <a:rPr sz="1000">
                <a:latin typeface="Arial"/>
              </a:rPr>
              <a:t>CORRIGER 2-3 erreurs max.</a:t>
            </a:r>
          </a:p>
          <a:p/>
          <a:p>
            <a:r>
              <a:rPr sz="1000">
                <a:latin typeface="Arial"/>
              </a:rPr>
              <a:t>TRANSITION : "Now let's look at the grammar."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GRAMMAR 1.1 : FOR + duracion</a:t>
            </a:r>
          </a:p>
          <a:p/>
          <a:p>
            <a:r>
              <a:rPr sz="1000">
                <a:latin typeface="Arial"/>
              </a:rPr>
              <a:t>ROLE : Presenter structure.</a:t>
            </a:r>
          </a:p>
          <a:p>
            <a:r>
              <a:rPr sz="1000">
                <a:latin typeface="Arial"/>
              </a:rPr>
              <a:t>DUREE : 10-15 min</a:t>
            </a:r>
          </a:p>
          <a:p/>
          <a:p>
            <a:r>
              <a:rPr sz="1000">
                <a:latin typeface="Arial"/>
              </a:rPr>
              <a:t>APPROCHE DECOUVERTE :</a:t>
            </a:r>
          </a:p>
          <a:p>
            <a:r>
              <a:rPr sz="1000">
                <a:latin typeface="Arial"/>
              </a:rPr>
              <a:t>1. Montrer exemples</a:t>
            </a:r>
          </a:p>
          <a:p>
            <a:r>
              <a:rPr sz="1000">
                <a:latin typeface="Arial"/>
              </a:rPr>
              <a:t>2. Demander : "What pattern?"</a:t>
            </a:r>
          </a:p>
          <a:p>
            <a:r>
              <a:rPr sz="1000">
                <a:latin typeface="Arial"/>
              </a:rPr>
              <a:t>3. Laisser deviner</a:t>
            </a:r>
          </a:p>
          <a:p>
            <a:r>
              <a:rPr sz="1000">
                <a:latin typeface="Arial"/>
              </a:rPr>
              <a:t>4. Confirmer</a:t>
            </a:r>
          </a:p>
          <a:p>
            <a:r>
              <a:rPr sz="1000">
                <a:latin typeface="Arial"/>
              </a:rPr>
              <a:t>5. Exemples personnels</a:t>
            </a:r>
          </a:p>
          <a:p/>
          <a:p>
            <a:r>
              <a:rPr sz="1000">
                <a:latin typeface="Arial"/>
              </a:rPr>
              <a:t>POINT : FOR = periodo. SINCE = inicio. AGO = pasado.</a:t>
            </a:r>
          </a:p>
          <a:p/>
          <a:p>
            <a:r>
              <a:rPr sz="1000">
                <a:latin typeface="Arial"/>
              </a:rPr>
              <a:t>MAX 2-3 corrections.</a:t>
            </a:r>
          </a:p>
          <a:p/>
          <a:p>
            <a:r>
              <a:rPr sz="1000">
                <a:latin typeface="Arial"/>
              </a:rPr>
              <a:t>TRANSITION : "Now let's practice."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GRAMMAR 1.1 : FOR + duracion</a:t>
            </a:r>
          </a:p>
          <a:p/>
          <a:p>
            <a:r>
              <a:rPr sz="1000">
                <a:latin typeface="Arial"/>
              </a:rPr>
              <a:t>ROLE : Presenter structure.</a:t>
            </a:r>
          </a:p>
          <a:p>
            <a:r>
              <a:rPr sz="1000">
                <a:latin typeface="Arial"/>
              </a:rPr>
              <a:t>DUREE : 10-15 min</a:t>
            </a:r>
          </a:p>
          <a:p/>
          <a:p>
            <a:r>
              <a:rPr sz="1000">
                <a:latin typeface="Arial"/>
              </a:rPr>
              <a:t>APPROCHE DECOUVERTE :</a:t>
            </a:r>
          </a:p>
          <a:p>
            <a:r>
              <a:rPr sz="1000">
                <a:latin typeface="Arial"/>
              </a:rPr>
              <a:t>1. Montrer exemples</a:t>
            </a:r>
          </a:p>
          <a:p>
            <a:r>
              <a:rPr sz="1000">
                <a:latin typeface="Arial"/>
              </a:rPr>
              <a:t>2. Demander : "What pattern?"</a:t>
            </a:r>
          </a:p>
          <a:p>
            <a:r>
              <a:rPr sz="1000">
                <a:latin typeface="Arial"/>
              </a:rPr>
              <a:t>3. Laisser deviner</a:t>
            </a:r>
          </a:p>
          <a:p>
            <a:r>
              <a:rPr sz="1000">
                <a:latin typeface="Arial"/>
              </a:rPr>
              <a:t>4. Confirmer</a:t>
            </a:r>
          </a:p>
          <a:p>
            <a:r>
              <a:rPr sz="1000">
                <a:latin typeface="Arial"/>
              </a:rPr>
              <a:t>5. Exemples personnels</a:t>
            </a:r>
          </a:p>
          <a:p/>
          <a:p>
            <a:r>
              <a:rPr sz="1000">
                <a:latin typeface="Arial"/>
              </a:rPr>
              <a:t>POINT : FOR = periodo. SINCE = inicio. AGO = pasado.</a:t>
            </a:r>
          </a:p>
          <a:p/>
          <a:p>
            <a:r>
              <a:rPr sz="1000">
                <a:latin typeface="Arial"/>
              </a:rPr>
              <a:t>MAX 2-3 corrections.</a:t>
            </a:r>
          </a:p>
          <a:p/>
          <a:p>
            <a:r>
              <a:rPr sz="1000">
                <a:latin typeface="Arial"/>
              </a:rPr>
              <a:t>TRANSITION : "Now let's practice."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GRAMMAR 1.1 : FOR + duracion</a:t>
            </a:r>
          </a:p>
          <a:p/>
          <a:p>
            <a:r>
              <a:rPr sz="1000">
                <a:latin typeface="Arial"/>
              </a:rPr>
              <a:t>ROLE : Presenter structure.</a:t>
            </a:r>
          </a:p>
          <a:p>
            <a:r>
              <a:rPr sz="1000">
                <a:latin typeface="Arial"/>
              </a:rPr>
              <a:t>DUREE : 10-15 min</a:t>
            </a:r>
          </a:p>
          <a:p/>
          <a:p>
            <a:r>
              <a:rPr sz="1000">
                <a:latin typeface="Arial"/>
              </a:rPr>
              <a:t>APPROCHE DECOUVERTE :</a:t>
            </a:r>
          </a:p>
          <a:p>
            <a:r>
              <a:rPr sz="1000">
                <a:latin typeface="Arial"/>
              </a:rPr>
              <a:t>1. Montrer exemples</a:t>
            </a:r>
          </a:p>
          <a:p>
            <a:r>
              <a:rPr sz="1000">
                <a:latin typeface="Arial"/>
              </a:rPr>
              <a:t>2. Demander : "What pattern?"</a:t>
            </a:r>
          </a:p>
          <a:p>
            <a:r>
              <a:rPr sz="1000">
                <a:latin typeface="Arial"/>
              </a:rPr>
              <a:t>3. Laisser deviner</a:t>
            </a:r>
          </a:p>
          <a:p>
            <a:r>
              <a:rPr sz="1000">
                <a:latin typeface="Arial"/>
              </a:rPr>
              <a:t>4. Confirmer</a:t>
            </a:r>
          </a:p>
          <a:p>
            <a:r>
              <a:rPr sz="1000">
                <a:latin typeface="Arial"/>
              </a:rPr>
              <a:t>5. Exemples personnels</a:t>
            </a:r>
          </a:p>
          <a:p/>
          <a:p>
            <a:r>
              <a:rPr sz="1000">
                <a:latin typeface="Arial"/>
              </a:rPr>
              <a:t>POINT : FOR = periodo. SINCE = inicio. AGO = pasado.</a:t>
            </a:r>
          </a:p>
          <a:p/>
          <a:p>
            <a:r>
              <a:rPr sz="1000">
                <a:latin typeface="Arial"/>
              </a:rPr>
              <a:t>MAX 2-3 corrections.</a:t>
            </a:r>
          </a:p>
          <a:p/>
          <a:p>
            <a:r>
              <a:rPr sz="1000">
                <a:latin typeface="Arial"/>
              </a:rPr>
              <a:t>TRANSITION : "Now let's practice."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GRAMMAR 1.1 : FOR + duracion</a:t>
            </a:r>
          </a:p>
          <a:p/>
          <a:p>
            <a:r>
              <a:rPr sz="1000">
                <a:latin typeface="Arial"/>
              </a:rPr>
              <a:t>ROLE : Presenter structure.</a:t>
            </a:r>
          </a:p>
          <a:p>
            <a:r>
              <a:rPr sz="1000">
                <a:latin typeface="Arial"/>
              </a:rPr>
              <a:t>DUREE : 10-15 min</a:t>
            </a:r>
          </a:p>
          <a:p/>
          <a:p>
            <a:r>
              <a:rPr sz="1000">
                <a:latin typeface="Arial"/>
              </a:rPr>
              <a:t>APPROCHE DECOUVERTE :</a:t>
            </a:r>
          </a:p>
          <a:p>
            <a:r>
              <a:rPr sz="1000">
                <a:latin typeface="Arial"/>
              </a:rPr>
              <a:t>1. Montrer exemples</a:t>
            </a:r>
          </a:p>
          <a:p>
            <a:r>
              <a:rPr sz="1000">
                <a:latin typeface="Arial"/>
              </a:rPr>
              <a:t>2. Demander : "What pattern?"</a:t>
            </a:r>
          </a:p>
          <a:p>
            <a:r>
              <a:rPr sz="1000">
                <a:latin typeface="Arial"/>
              </a:rPr>
              <a:t>3. Laisser deviner</a:t>
            </a:r>
          </a:p>
          <a:p>
            <a:r>
              <a:rPr sz="1000">
                <a:latin typeface="Arial"/>
              </a:rPr>
              <a:t>4. Confirmer</a:t>
            </a:r>
          </a:p>
          <a:p>
            <a:r>
              <a:rPr sz="1000">
                <a:latin typeface="Arial"/>
              </a:rPr>
              <a:t>5. Exemples personnels</a:t>
            </a:r>
          </a:p>
          <a:p/>
          <a:p>
            <a:r>
              <a:rPr sz="1000">
                <a:latin typeface="Arial"/>
              </a:rPr>
              <a:t>POINT : FOR = periodo. SINCE = inicio. AGO = pasado.</a:t>
            </a:r>
          </a:p>
          <a:p/>
          <a:p>
            <a:r>
              <a:rPr sz="1000">
                <a:latin typeface="Arial"/>
              </a:rPr>
              <a:t>MAX 2-3 corrections.</a:t>
            </a:r>
          </a:p>
          <a:p/>
          <a:p>
            <a:r>
              <a:rPr sz="1000">
                <a:latin typeface="Arial"/>
              </a:rPr>
              <a:t>TRANSITION : "Now let's practice."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GRAMMAR 1.1 : FOR + duracion</a:t>
            </a:r>
          </a:p>
          <a:p/>
          <a:p>
            <a:r>
              <a:rPr sz="1000">
                <a:latin typeface="Arial"/>
              </a:rPr>
              <a:t>ROLE : Presenter structure.</a:t>
            </a:r>
          </a:p>
          <a:p>
            <a:r>
              <a:rPr sz="1000">
                <a:latin typeface="Arial"/>
              </a:rPr>
              <a:t>DUREE : 10-15 min</a:t>
            </a:r>
          </a:p>
          <a:p/>
          <a:p>
            <a:r>
              <a:rPr sz="1000">
                <a:latin typeface="Arial"/>
              </a:rPr>
              <a:t>APPROCHE DECOUVERTE :</a:t>
            </a:r>
          </a:p>
          <a:p>
            <a:r>
              <a:rPr sz="1000">
                <a:latin typeface="Arial"/>
              </a:rPr>
              <a:t>1. Montrer exemples</a:t>
            </a:r>
          </a:p>
          <a:p>
            <a:r>
              <a:rPr sz="1000">
                <a:latin typeface="Arial"/>
              </a:rPr>
              <a:t>2. Demander : "What pattern?"</a:t>
            </a:r>
          </a:p>
          <a:p>
            <a:r>
              <a:rPr sz="1000">
                <a:latin typeface="Arial"/>
              </a:rPr>
              <a:t>3. Laisser deviner</a:t>
            </a:r>
          </a:p>
          <a:p>
            <a:r>
              <a:rPr sz="1000">
                <a:latin typeface="Arial"/>
              </a:rPr>
              <a:t>4. Confirmer</a:t>
            </a:r>
          </a:p>
          <a:p>
            <a:r>
              <a:rPr sz="1000">
                <a:latin typeface="Arial"/>
              </a:rPr>
              <a:t>5. Exemples personnels</a:t>
            </a:r>
          </a:p>
          <a:p/>
          <a:p>
            <a:r>
              <a:rPr sz="1000">
                <a:latin typeface="Arial"/>
              </a:rPr>
              <a:t>POINT : FOR = periodo. SINCE = inicio. AGO = pasado.</a:t>
            </a:r>
          </a:p>
          <a:p/>
          <a:p>
            <a:r>
              <a:rPr sz="1000">
                <a:latin typeface="Arial"/>
              </a:rPr>
              <a:t>MAX 2-3 corrections.</a:t>
            </a:r>
          </a:p>
          <a:p/>
          <a:p>
            <a:r>
              <a:rPr sz="1000">
                <a:latin typeface="Arial"/>
              </a:rPr>
              <a:t>TRANSITION : "Now let's practice."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GRAMMAR 1.1 : FOR + duracion</a:t>
            </a:r>
          </a:p>
          <a:p/>
          <a:p>
            <a:r>
              <a:rPr sz="1000">
                <a:latin typeface="Arial"/>
              </a:rPr>
              <a:t>ROLE : Presenter structure.</a:t>
            </a:r>
          </a:p>
          <a:p>
            <a:r>
              <a:rPr sz="1000">
                <a:latin typeface="Arial"/>
              </a:rPr>
              <a:t>DUREE : 10-15 min</a:t>
            </a:r>
          </a:p>
          <a:p/>
          <a:p>
            <a:r>
              <a:rPr sz="1000">
                <a:latin typeface="Arial"/>
              </a:rPr>
              <a:t>APPROCHE DECOUVERTE :</a:t>
            </a:r>
          </a:p>
          <a:p>
            <a:r>
              <a:rPr sz="1000">
                <a:latin typeface="Arial"/>
              </a:rPr>
              <a:t>1. Montrer exemples</a:t>
            </a:r>
          </a:p>
          <a:p>
            <a:r>
              <a:rPr sz="1000">
                <a:latin typeface="Arial"/>
              </a:rPr>
              <a:t>2. Demander : "What pattern?"</a:t>
            </a:r>
          </a:p>
          <a:p>
            <a:r>
              <a:rPr sz="1000">
                <a:latin typeface="Arial"/>
              </a:rPr>
              <a:t>3. Laisser deviner</a:t>
            </a:r>
          </a:p>
          <a:p>
            <a:r>
              <a:rPr sz="1000">
                <a:latin typeface="Arial"/>
              </a:rPr>
              <a:t>4. Confirmer</a:t>
            </a:r>
          </a:p>
          <a:p>
            <a:r>
              <a:rPr sz="1000">
                <a:latin typeface="Arial"/>
              </a:rPr>
              <a:t>5. Exemples personnels</a:t>
            </a:r>
          </a:p>
          <a:p/>
          <a:p>
            <a:r>
              <a:rPr sz="1000">
                <a:latin typeface="Arial"/>
              </a:rPr>
              <a:t>POINT : FOR = periodo. SINCE = inicio. AGO = pasado.</a:t>
            </a:r>
          </a:p>
          <a:p/>
          <a:p>
            <a:r>
              <a:rPr sz="1000">
                <a:latin typeface="Arial"/>
              </a:rPr>
              <a:t>MAX 2-3 corrections.</a:t>
            </a:r>
          </a:p>
          <a:p/>
          <a:p>
            <a:r>
              <a:rPr sz="1000">
                <a:latin typeface="Arial"/>
              </a:rPr>
              <a:t>TRANSITION : "Now let's practice."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SOUND : /h/ aspirada</a:t>
            </a:r>
          </a:p>
          <a:p/>
          <a:p>
            <a:r>
              <a:rPr sz="1000">
                <a:latin typeface="Arial"/>
              </a:rPr>
              <a:t>ROLE : Focus phonetique.</a:t>
            </a:r>
          </a:p>
          <a:p>
            <a:r>
              <a:rPr sz="1000">
                <a:latin typeface="Arial"/>
              </a:rPr>
              <a:t>DUREE : 5 min</a:t>
            </a:r>
          </a:p>
          <a:p/>
          <a:p>
            <a:r>
              <a:rPr sz="1000">
                <a:latin typeface="Arial"/>
              </a:rPr>
              <a:t>METHODE :</a:t>
            </a:r>
          </a:p>
          <a:p>
            <a:r>
              <a:rPr sz="1000">
                <a:latin typeface="Arial"/>
              </a:rPr>
              <a:t>1. ECOUTER : prof prononce</a:t>
            </a:r>
          </a:p>
          <a:p>
            <a:r>
              <a:rPr sz="1000">
                <a:latin typeface="Arial"/>
              </a:rPr>
              <a:t>2. DISTINGUER : Ingrid identifie</a:t>
            </a:r>
          </a:p>
          <a:p>
            <a:r>
              <a:rPr sz="1000">
                <a:latin typeface="Arial"/>
              </a:rPr>
              <a:t>3. REPETER</a:t>
            </a:r>
          </a:p>
          <a:p/>
          <a:p>
            <a:r>
              <a:rPr sz="1000">
                <a:latin typeface="Arial"/>
              </a:rPr>
              <a:t>NE PAS enseigner theorie.</a:t>
            </a:r>
          </a:p>
          <a:p/>
          <a:p>
            <a:r>
              <a:rPr sz="1000">
                <a:latin typeface="Arial"/>
              </a:rPr>
              <a:t>TRANSITION : "Now let's practice in words."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PRONUNCIATION</a:t>
            </a:r>
          </a:p>
          <a:p/>
          <a:p>
            <a:r>
              <a:rPr sz="1000">
                <a:latin typeface="Arial"/>
              </a:rPr>
              <a:t>ROLE : Pratique active.</a:t>
            </a:r>
          </a:p>
          <a:p>
            <a:r>
              <a:rPr sz="1000">
                <a:latin typeface="Arial"/>
              </a:rPr>
              <a:t>DUREE : 5 min</a:t>
            </a:r>
          </a:p>
          <a:p/>
          <a:p>
            <a:r>
              <a:rPr sz="1000">
                <a:latin typeface="Arial"/>
              </a:rPr>
              <a:t>Chaque mot repete 5 fois.</a:t>
            </a:r>
          </a:p>
          <a:p>
            <a:r>
              <a:rPr sz="1000">
                <a:latin typeface="Arial"/>
              </a:rPr>
              <a:t>Prof corrige en temps reel.</a:t>
            </a:r>
          </a:p>
          <a:p>
            <a:r>
              <a:rPr sz="1000">
                <a:latin typeface="Arial"/>
              </a:rPr>
              <a:t>Enregistrer si possible.</a:t>
            </a:r>
          </a:p>
          <a:p/>
          <a:p>
            <a:r>
              <a:rPr sz="1000">
                <a:latin typeface="Arial"/>
              </a:rPr>
              <a:t>TRANSITION : "Now let's practice with exercises."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WARM-UP</a:t>
            </a:r>
          </a:p>
          <a:p/>
          <a:p>
            <a:r>
              <a:rPr sz="1000">
                <a:latin typeface="Arial"/>
              </a:rPr>
              <a:t>ROLE : Activer connaissances.</a:t>
            </a:r>
          </a:p>
          <a:p>
            <a:r>
              <a:rPr sz="1000">
                <a:latin typeface="Arial"/>
              </a:rPr>
              <a:t>DUREE : 10 min</a:t>
            </a:r>
          </a:p>
          <a:p/>
          <a:p>
            <a:r>
              <a:rPr sz="1000">
                <a:latin typeface="Arial"/>
              </a:rPr>
              <a:t>Ingrid repond ORALEMENT sans notes.</a:t>
            </a:r>
          </a:p>
          <a:p>
            <a:r>
              <a:rPr sz="1000">
                <a:latin typeface="Arial"/>
              </a:rPr>
              <a:t>Ne pas interrompre.</a:t>
            </a:r>
          </a:p>
          <a:p>
            <a:r>
              <a:rPr sz="1000">
                <a:latin typeface="Arial"/>
              </a:rPr>
              <a:t>Max 2-3 corrections apres.</a:t>
            </a:r>
          </a:p>
          <a:p/>
          <a:p>
            <a:r>
              <a:rPr sz="1000">
                <a:latin typeface="Arial"/>
              </a:rPr>
              <a:t>TRANSITION : "Now let's look at new vocabulary."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WARM-UP</a:t>
            </a:r>
          </a:p>
          <a:p/>
          <a:p>
            <a:r>
              <a:rPr sz="1000">
                <a:latin typeface="Arial"/>
              </a:rPr>
              <a:t>ROLE : Activer connaissances.</a:t>
            </a:r>
          </a:p>
          <a:p>
            <a:r>
              <a:rPr sz="1000">
                <a:latin typeface="Arial"/>
              </a:rPr>
              <a:t>DUREE : 10 min</a:t>
            </a:r>
          </a:p>
          <a:p/>
          <a:p>
            <a:r>
              <a:rPr sz="1000">
                <a:latin typeface="Arial"/>
              </a:rPr>
              <a:t>Ingrid repond ORALEMENT sans notes.</a:t>
            </a:r>
          </a:p>
          <a:p>
            <a:r>
              <a:rPr sz="1000">
                <a:latin typeface="Arial"/>
              </a:rPr>
              <a:t>Ne pas interrompre.</a:t>
            </a:r>
          </a:p>
          <a:p>
            <a:r>
              <a:rPr sz="1000">
                <a:latin typeface="Arial"/>
              </a:rPr>
              <a:t>Max 2-3 corrections apres.</a:t>
            </a:r>
          </a:p>
          <a:p/>
          <a:p>
            <a:r>
              <a:rPr sz="1000">
                <a:latin typeface="Arial"/>
              </a:rPr>
              <a:t>TRANSITION : "Now let's look at new vocabulary."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CONVERSATION (1)</a:t>
            </a:r>
          </a:p>
          <a:p/>
          <a:p>
            <a:r>
              <a:rPr sz="1000">
                <a:latin typeface="Arial"/>
              </a:rPr>
              <a:t>ROLE : Pratique orale.</a:t>
            </a:r>
          </a:p>
          <a:p>
            <a:r>
              <a:rPr sz="1000">
                <a:latin typeface="Arial"/>
              </a:rPr>
              <a:t>DUREE : 10-12 min</a:t>
            </a:r>
          </a:p>
          <a:p/>
          <a:p>
            <a:r>
              <a:rPr sz="1000">
                <a:latin typeface="Arial"/>
              </a:rPr>
              <a:t>Prof pose UNE question.</a:t>
            </a:r>
          </a:p>
          <a:p>
            <a:r>
              <a:rPr sz="1000">
                <a:latin typeface="Arial"/>
              </a:rPr>
              <a:t>Ingrid repond librement.</a:t>
            </a:r>
          </a:p>
          <a:p>
            <a:r>
              <a:rPr sz="1000">
                <a:latin typeface="Arial"/>
              </a:rPr>
              <a:t>NE PAS interrompre.</a:t>
            </a:r>
          </a:p>
          <a:p>
            <a:r>
              <a:rPr sz="1000">
                <a:latin typeface="Arial"/>
              </a:rPr>
              <a:t>Corriger 2-3 erreurs APRES.</a:t>
            </a:r>
          </a:p>
          <a:p/>
          <a:p>
            <a:r>
              <a:rPr sz="1000">
                <a:latin typeface="Arial"/>
              </a:rPr>
              <a:t>FOLLOW-UP : "Really? Tell me more."</a:t>
            </a:r>
          </a:p>
          <a:p/>
          <a:p>
            <a:r>
              <a:rPr sz="1000">
                <a:latin typeface="Arial"/>
              </a:rPr>
              <a:t>TRANSITION : "Now let's listen to a short text."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CONVERSATION (2)</a:t>
            </a:r>
          </a:p>
          <a:p/>
          <a:p>
            <a:r>
              <a:rPr sz="1000">
                <a:latin typeface="Arial"/>
              </a:rPr>
              <a:t>ROLE : Pratique orale.</a:t>
            </a:r>
          </a:p>
          <a:p>
            <a:r>
              <a:rPr sz="1000">
                <a:latin typeface="Arial"/>
              </a:rPr>
              <a:t>DUREE : 10-12 min</a:t>
            </a:r>
          </a:p>
          <a:p/>
          <a:p>
            <a:r>
              <a:rPr sz="1000">
                <a:latin typeface="Arial"/>
              </a:rPr>
              <a:t>Prof pose UNE question.</a:t>
            </a:r>
          </a:p>
          <a:p>
            <a:r>
              <a:rPr sz="1000">
                <a:latin typeface="Arial"/>
              </a:rPr>
              <a:t>Ingrid repond librement.</a:t>
            </a:r>
          </a:p>
          <a:p>
            <a:r>
              <a:rPr sz="1000">
                <a:latin typeface="Arial"/>
              </a:rPr>
              <a:t>NE PAS interrompre.</a:t>
            </a:r>
          </a:p>
          <a:p>
            <a:r>
              <a:rPr sz="1000">
                <a:latin typeface="Arial"/>
              </a:rPr>
              <a:t>Corriger 2-3 erreurs APRES.</a:t>
            </a:r>
          </a:p>
          <a:p/>
          <a:p>
            <a:r>
              <a:rPr sz="1000">
                <a:latin typeface="Arial"/>
              </a:rPr>
              <a:t>FOLLOW-UP : "Really? Tell me more."</a:t>
            </a:r>
          </a:p>
          <a:p/>
          <a:p>
            <a:r>
              <a:rPr sz="1000">
                <a:latin typeface="Arial"/>
              </a:rPr>
              <a:t>TRANSITION : "Now let's listen to a short text."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LISTENING TEXT : Text</a:t>
            </a:r>
          </a:p>
          <a:p/>
          <a:p>
            <a:r>
              <a:rPr sz="1000">
                <a:latin typeface="Arial"/>
              </a:rPr>
              <a:t>ROLE : Comprehension.</a:t>
            </a:r>
          </a:p>
          <a:p>
            <a:r>
              <a:rPr sz="1000">
                <a:latin typeface="Arial"/>
              </a:rPr>
              <a:t>DUREE : 4 min</a:t>
            </a:r>
          </a:p>
          <a:p/>
          <a:p>
            <a:r>
              <a:rPr sz="1000">
                <a:latin typeface="Arial"/>
              </a:rPr>
              <a:t>2 LECTURES :</a:t>
            </a:r>
          </a:p>
          <a:p>
            <a:r>
              <a:rPr sz="1000">
                <a:latin typeface="Arial"/>
              </a:rPr>
              <a:t>1ere : GLOBALE (sans ecrire)</a:t>
            </a:r>
          </a:p>
          <a:p>
            <a:r>
              <a:rPr sz="1000">
                <a:latin typeface="Arial"/>
              </a:rPr>
              <a:t>2eme : DETAILLEE</a:t>
            </a:r>
          </a:p>
          <a:p/>
          <a:p>
            <a:r>
              <a:rPr sz="1000">
                <a:latin typeface="Arial"/>
              </a:rPr>
              <a:t>NE PAS montrer le texte.</a:t>
            </a:r>
          </a:p>
          <a:p>
            <a:r>
              <a:rPr sz="1000">
                <a:latin typeface="Arial"/>
              </a:rPr>
              <a:t>LIRE lentement.</a:t>
            </a:r>
          </a:p>
          <a:p/>
          <a:p>
            <a:r>
              <a:rPr sz="1000">
                <a:latin typeface="Arial"/>
              </a:rPr>
              <a:t>TRANSITION : "Now let's answer the questions."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LISTENING QUESTIONS</a:t>
            </a:r>
          </a:p>
          <a:p/>
          <a:p>
            <a:r>
              <a:rPr sz="1000">
                <a:latin typeface="Arial"/>
              </a:rPr>
              <a:t>ROLE : Comprehension detaillee.</a:t>
            </a:r>
          </a:p>
          <a:p>
            <a:r>
              <a:rPr sz="1000">
                <a:latin typeface="Arial"/>
              </a:rPr>
              <a:t>DUREE : 4 min</a:t>
            </a:r>
          </a:p>
          <a:p/>
          <a:p>
            <a:r>
              <a:rPr sz="1000">
                <a:latin typeface="Arial"/>
              </a:rPr>
              <a:t>Ingrid repond en PHRASE COMPLETE.</a:t>
            </a:r>
          </a:p>
          <a:p>
            <a:r>
              <a:rPr sz="1000">
                <a:latin typeface="Arial"/>
              </a:rPr>
              <a:t>Corriger apres.</a:t>
            </a:r>
          </a:p>
          <a:p/>
          <a:p>
            <a:r>
              <a:rPr sz="1000">
                <a:latin typeface="Arial"/>
              </a:rPr>
              <a:t>TRANSITION : "Now it's your turn to speak."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SPEAKING CHALLENGE : Challenge</a:t>
            </a:r>
          </a:p>
          <a:p/>
          <a:p>
            <a:r>
              <a:rPr sz="1000">
                <a:latin typeface="Arial"/>
              </a:rPr>
              <a:t>ROLE : Production orale.</a:t>
            </a:r>
          </a:p>
          <a:p>
            <a:r>
              <a:rPr sz="1000">
                <a:latin typeface="Arial"/>
              </a:rPr>
              <a:t>DUREE : 10 min</a:t>
            </a:r>
          </a:p>
          <a:p/>
          <a:p>
            <a:r>
              <a:rPr sz="1000">
                <a:latin typeface="Arial"/>
              </a:rPr>
              <a:t>TIMING :</a:t>
            </a:r>
          </a:p>
          <a:p>
            <a:r>
              <a:rPr sz="1000">
                <a:latin typeface="Arial"/>
              </a:rPr>
              <a:t>- 0:45 Explication</a:t>
            </a:r>
          </a:p>
          <a:p>
            <a:r>
              <a:rPr sz="1000">
                <a:latin typeface="Arial"/>
              </a:rPr>
              <a:t>- 0:45 Preparation mentale (silence)</a:t>
            </a:r>
          </a:p>
          <a:p>
            <a:r>
              <a:rPr sz="1000">
                <a:latin typeface="Arial"/>
              </a:rPr>
              <a:t>- 2:00 Monologue</a:t>
            </a:r>
          </a:p>
          <a:p>
            <a:r>
              <a:rPr sz="1000">
                <a:latin typeface="Arial"/>
              </a:rPr>
              <a:t>- 2:00 Feedback (2+1)</a:t>
            </a:r>
          </a:p>
          <a:p>
            <a:r>
              <a:rPr sz="1000">
                <a:latin typeface="Arial"/>
              </a:rPr>
              <a:t>- 0:30 Re-record</a:t>
            </a:r>
          </a:p>
          <a:p/>
          <a:p>
            <a:r>
              <a:rPr sz="1000">
                <a:latin typeface="Arial"/>
              </a:rPr>
              <a:t>SCRIPT :</a:t>
            </a:r>
          </a:p>
          <a:p>
            <a:r>
              <a:rPr sz="1000">
                <a:latin typeface="Arial"/>
              </a:rPr>
              <a:t>"Okay Ingrid, YOUR turn.</a:t>
            </a:r>
          </a:p>
          <a:p>
            <a:r>
              <a:rPr sz="1000">
                <a:latin typeface="Arial"/>
              </a:rPr>
              <a:t>Talk for 1 minutes.</a:t>
            </a:r>
          </a:p>
          <a:p>
            <a:r>
              <a:rPr sz="1000">
                <a:latin typeface="Arial"/>
              </a:rPr>
              <a:t>Use: FOR + duracion and SINCE + punto de partida.</a:t>
            </a:r>
          </a:p>
          <a:p>
            <a:r>
              <a:rPr sz="1000">
                <a:latin typeface="Arial"/>
              </a:rPr>
              <a:t>Take 45 sec to think. Ready?"</a:t>
            </a:r>
          </a:p>
          <a:p/>
          <a:p>
            <a:r>
              <a:rPr sz="1000">
                <a:latin typeface="Arial"/>
              </a:rPr>
              <a:t>OBSERVER :</a:t>
            </a:r>
          </a:p>
          <a:p>
            <a:r>
              <a:rPr sz="1000">
                <a:latin typeface="Arial"/>
              </a:rPr>
              <a:t>- FOR + duracion min 3 fois</a:t>
            </a:r>
          </a:p>
          <a:p>
            <a:r>
              <a:rPr sz="1000">
                <a:latin typeface="Arial"/>
              </a:rPr>
              <a:t>- SINCE + punto de partida min 3 fois</a:t>
            </a:r>
          </a:p>
          <a:p>
            <a:r>
              <a:rPr sz="1000">
                <a:latin typeface="Arial"/>
              </a:rPr>
              <a:t>- Duree 60-90 sec</a:t>
            </a:r>
          </a:p>
          <a:p>
            <a:r>
              <a:rPr sz="1000">
                <a:latin typeface="Arial"/>
              </a:rPr>
              <a:t>- Pauses &lt; 5 sec</a:t>
            </a:r>
          </a:p>
          <a:p/>
          <a:p>
            <a:r>
              <a:rPr sz="1000">
                <a:latin typeface="Arial"/>
              </a:rPr>
              <a:t>FEEDBACK (2+1) :</a:t>
            </a:r>
          </a:p>
          <a:p>
            <a:r>
              <a:rPr sz="1000">
                <a:latin typeface="Arial"/>
              </a:rPr>
              <a:t>1. Compliment CONCRET</a:t>
            </a:r>
          </a:p>
          <a:p>
            <a:r>
              <a:rPr sz="1000">
                <a:latin typeface="Arial"/>
              </a:rPr>
              <a:t>2. Compliment CONCRET</a:t>
            </a:r>
          </a:p>
          <a:p>
            <a:r>
              <a:rPr sz="1000">
                <a:latin typeface="Arial"/>
              </a:rPr>
              <a:t>3. UNE correction -&gt; repeter 2 fois</a:t>
            </a:r>
          </a:p>
          <a:p/>
          <a:p>
            <a:r>
              <a:rPr sz="1000">
                <a:latin typeface="Arial"/>
              </a:rPr>
              <a:t>NE PAS interrompre.</a:t>
            </a:r>
          </a:p>
          <a:p/>
          <a:p>
            <a:r>
              <a:rPr sz="1000">
                <a:latin typeface="Arial"/>
              </a:rPr>
              <a:t>TRANSITION : "Now let's write about this."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WRITING REQUIREMENTS</a:t>
            </a:r>
          </a:p>
          <a:p/>
          <a:p>
            <a:r>
              <a:rPr sz="1000">
                <a:latin typeface="Arial"/>
              </a:rPr>
              <a:t>ROLE : Preparer ecrit.</a:t>
            </a:r>
          </a:p>
          <a:p>
            <a:r>
              <a:rPr sz="1000">
                <a:latin typeface="Arial"/>
              </a:rPr>
              <a:t>DUREE : 3 min</a:t>
            </a:r>
          </a:p>
          <a:p/>
          <a:p>
            <a:r>
              <a:rPr sz="1000">
                <a:latin typeface="Arial"/>
              </a:rPr>
              <a:t>5 ETAPES :</a:t>
            </a:r>
          </a:p>
          <a:p>
            <a:r>
              <a:rPr sz="1000">
                <a:latin typeface="Arial"/>
              </a:rPr>
              <a:t>1. Brainstorming (3 min)</a:t>
            </a:r>
          </a:p>
          <a:p>
            <a:r>
              <a:rPr sz="1000">
                <a:latin typeface="Arial"/>
              </a:rPr>
              <a:t>2. Borrador (10 min)</a:t>
            </a:r>
          </a:p>
          <a:p>
            <a:r>
              <a:rPr sz="1000">
                <a:latin typeface="Arial"/>
              </a:rPr>
              <a:t>3. Revision (5 min)</a:t>
            </a:r>
          </a:p>
          <a:p>
            <a:r>
              <a:rPr sz="1000">
                <a:latin typeface="Arial"/>
              </a:rPr>
              <a:t>4. Edicion (5 min)</a:t>
            </a:r>
          </a:p>
          <a:p>
            <a:r>
              <a:rPr sz="1000">
                <a:latin typeface="Arial"/>
              </a:rPr>
              <a:t>5. Publicacion (5 min)</a:t>
            </a:r>
          </a:p>
          <a:p/>
          <a:p>
            <a:r>
              <a:rPr sz="1000">
                <a:latin typeface="Arial"/>
              </a:rPr>
              <a:t>FOCUS : FOR + duracion + SINCE + punto de partida</a:t>
            </a:r>
          </a:p>
          <a:p/>
          <a:p>
            <a:r>
              <a:rPr sz="1000">
                <a:latin typeface="Arial"/>
              </a:rPr>
              <a:t>NE PAS ecrire a sa place.</a:t>
            </a:r>
          </a:p>
          <a:p/>
          <a:p>
            <a:r>
              <a:rPr sz="1000">
                <a:latin typeface="Arial"/>
              </a:rPr>
              <a:t>TRANSITION : "Now let's look at the template."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WRITING TEMPLATE</a:t>
            </a:r>
          </a:p>
          <a:p/>
          <a:p>
            <a:r>
              <a:rPr sz="1000">
                <a:latin typeface="Arial"/>
              </a:rPr>
              <a:t>ROLE : Guide structurel.</a:t>
            </a:r>
          </a:p>
          <a:p>
            <a:r>
              <a:rPr sz="1000">
                <a:latin typeface="Arial"/>
              </a:rPr>
              <a:t>DUREE : 2 min</a:t>
            </a:r>
          </a:p>
          <a:p/>
          <a:p>
            <a:r>
              <a:rPr sz="1000">
                <a:latin typeface="Arial"/>
              </a:rPr>
              <a:t>Ingrid ecrit sur papier.</a:t>
            </a:r>
          </a:p>
          <a:p>
            <a:r>
              <a:rPr sz="1000">
                <a:latin typeface="Arial"/>
              </a:rPr>
              <a:t>Suit le template.</a:t>
            </a:r>
          </a:p>
          <a:p>
            <a:r>
              <a:rPr sz="1000">
                <a:latin typeface="Arial"/>
              </a:rPr>
              <a:t>Complete les blancs.</a:t>
            </a:r>
          </a:p>
          <a:p/>
          <a:p>
            <a:r>
              <a:rPr sz="1000">
                <a:latin typeface="Arial"/>
              </a:rPr>
              <a:t>VERIFIER a la fin.</a:t>
            </a:r>
          </a:p>
          <a:p/>
          <a:p>
            <a:r>
              <a:rPr sz="1000">
                <a:latin typeface="Arial"/>
              </a:rPr>
              <a:t>TRANSITION : "Now let's check your progress."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CHECKPOINT</a:t>
            </a:r>
          </a:p>
          <a:p/>
          <a:p>
            <a:r>
              <a:rPr sz="1000">
                <a:latin typeface="Arial"/>
              </a:rPr>
              <a:t>ROLE : Auto-evaluation.</a:t>
            </a:r>
          </a:p>
          <a:p>
            <a:r>
              <a:rPr sz="1000">
                <a:latin typeface="Arial"/>
              </a:rPr>
              <a:t>DUREE : 5 min</a:t>
            </a:r>
          </a:p>
          <a:p/>
          <a:p>
            <a:r>
              <a:rPr sz="1000">
                <a:latin typeface="Arial"/>
              </a:rPr>
              <a:t>Lire chaque critere.</a:t>
            </a:r>
          </a:p>
          <a:p>
            <a:r>
              <a:rPr sz="1000">
                <a:latin typeface="Arial"/>
              </a:rPr>
              <a:t>Ingrid repond honnetement.</a:t>
            </a:r>
          </a:p>
          <a:p/>
          <a:p>
            <a:r>
              <a:rPr sz="1000">
                <a:latin typeface="Arial"/>
              </a:rPr>
              <a:t>NE PAS juger.</a:t>
            </a:r>
          </a:p>
          <a:p/>
          <a:p>
            <a:r>
              <a:rPr sz="1000">
                <a:latin typeface="Arial"/>
              </a:rPr>
              <a:t>TRANSITION : "Now let's reflect."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VOCABULARY (1)</a:t>
            </a:r>
          </a:p>
          <a:p/>
          <a:p>
            <a:r>
              <a:rPr sz="1000">
                <a:latin typeface="Arial"/>
              </a:rPr>
              <a:t>ROLE : Introduire vocabulaire.</a:t>
            </a:r>
          </a:p>
          <a:p>
            <a:r>
              <a:rPr sz="1000">
                <a:latin typeface="Arial"/>
              </a:rPr>
              <a:t>DUREE : 8-10 min</a:t>
            </a:r>
          </a:p>
          <a:p/>
          <a:p>
            <a:r>
              <a:rPr sz="1000">
                <a:latin typeface="Arial"/>
              </a:rPr>
              <a:t>METHODE 3 ETAPES :</a:t>
            </a:r>
          </a:p>
          <a:p>
            <a:r>
              <a:rPr sz="1000">
                <a:latin typeface="Arial"/>
              </a:rPr>
              <a:t>1. Prof dit -&gt; Ingrid repete</a:t>
            </a:r>
          </a:p>
          <a:p>
            <a:r>
              <a:rPr sz="1000">
                <a:latin typeface="Arial"/>
              </a:rPr>
              <a:t>2. Prof traduit</a:t>
            </a:r>
          </a:p>
          <a:p>
            <a:r>
              <a:rPr sz="1000">
                <a:latin typeface="Arial"/>
              </a:rPr>
              <a:t>3. Ingrid fait une phrase</a:t>
            </a:r>
          </a:p>
          <a:p/>
          <a:p>
            <a:r>
              <a:rPr sz="1000">
                <a:latin typeface="Arial"/>
              </a:rPr>
              <a:t>NE PAS lire simplement.</a:t>
            </a:r>
          </a:p>
          <a:p>
            <a:r>
              <a:rPr sz="1000">
                <a:latin typeface="Arial"/>
              </a:rPr>
              <a:t>TOUJOURS prononcer + utiliser.</a:t>
            </a:r>
          </a:p>
          <a:p/>
          <a:p>
            <a:r>
              <a:rPr sz="1000">
                <a:latin typeface="Arial"/>
              </a:rPr>
              <a:t>TRANSITION : "Now let's look at common mistakes."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PRACTICE (1)</a:t>
            </a:r>
          </a:p>
          <a:p/>
          <a:p>
            <a:r>
              <a:rPr sz="1000">
                <a:latin typeface="Arial"/>
              </a:rPr>
              <a:t>ROLE : Pratique controlee.</a:t>
            </a:r>
          </a:p>
          <a:p>
            <a:r>
              <a:rPr sz="1000">
                <a:latin typeface="Arial"/>
              </a:rPr>
              <a:t>DUREE : 8-10 min</a:t>
            </a:r>
          </a:p>
          <a:p/>
          <a:p>
            <a:r>
              <a:rPr sz="1000">
                <a:latin typeface="Arial"/>
              </a:rPr>
              <a:t>1. ORAL d'abord</a:t>
            </a:r>
          </a:p>
          <a:p>
            <a:r>
              <a:rPr sz="1000">
                <a:latin typeface="Arial"/>
              </a:rPr>
              <a:t>2. ECRIT ensuite</a:t>
            </a:r>
          </a:p>
          <a:p>
            <a:r>
              <a:rPr sz="1000">
                <a:latin typeface="Arial"/>
              </a:rPr>
              <a:t>3. CORRECTION en temps reel</a:t>
            </a:r>
          </a:p>
          <a:p/>
          <a:p>
            <a:r>
              <a:rPr sz="1000">
                <a:latin typeface="Arial"/>
              </a:rPr>
              <a:t>Ne pas donner la reponse.</a:t>
            </a:r>
          </a:p>
          <a:p>
            <a:r>
              <a:rPr sz="1000">
                <a:latin typeface="Arial"/>
              </a:rPr>
              <a:t>Laisser 5-10 secondes.</a:t>
            </a:r>
          </a:p>
          <a:p>
            <a:r>
              <a:rPr sz="1000">
                <a:latin typeface="Arial"/>
              </a:rPr>
              <a:t>MAX 3 corrections.</a:t>
            </a:r>
          </a:p>
          <a:p/>
          <a:p>
            <a:r>
              <a:rPr sz="1000">
                <a:latin typeface="Arial"/>
              </a:rPr>
              <a:t>TRANSITION : "Now let's use these in conversation."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PRONUNCIATION</a:t>
            </a:r>
          </a:p>
          <a:p/>
          <a:p>
            <a:r>
              <a:rPr sz="1000">
                <a:latin typeface="Arial"/>
              </a:rPr>
              <a:t>ROLE : Pratique active.</a:t>
            </a:r>
          </a:p>
          <a:p>
            <a:r>
              <a:rPr sz="1000">
                <a:latin typeface="Arial"/>
              </a:rPr>
              <a:t>DUREE : 5 min</a:t>
            </a:r>
          </a:p>
          <a:p/>
          <a:p>
            <a:r>
              <a:rPr sz="1000">
                <a:latin typeface="Arial"/>
              </a:rPr>
              <a:t>Chaque mot repete 5 fois.</a:t>
            </a:r>
          </a:p>
          <a:p>
            <a:r>
              <a:rPr sz="1000">
                <a:latin typeface="Arial"/>
              </a:rPr>
              <a:t>Prof corrige en temps reel.</a:t>
            </a:r>
          </a:p>
          <a:p>
            <a:r>
              <a:rPr sz="1000">
                <a:latin typeface="Arial"/>
              </a:rPr>
              <a:t>Enregistrer si possible.</a:t>
            </a:r>
          </a:p>
          <a:p/>
          <a:p>
            <a:r>
              <a:rPr sz="1000">
                <a:latin typeface="Arial"/>
              </a:rPr>
              <a:t>TRANSITION : "Now let's practice with exercises."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THANKS</a:t>
            </a:r>
          </a:p>
          <a:p/>
          <a:p>
            <a:r>
              <a:rPr sz="1000">
                <a:latin typeface="Arial"/>
              </a:rPr>
              <a:t>ROLE : Cloture.</a:t>
            </a:r>
          </a:p>
          <a:p>
            <a:r>
              <a:rPr sz="1000">
                <a:latin typeface="Arial"/>
              </a:rPr>
              <a:t>DUREE : 2 min</a:t>
            </a:r>
          </a:p>
          <a:p/>
          <a:p>
            <a:r>
              <a:rPr sz="1000">
                <a:latin typeface="Arial"/>
              </a:rPr>
              <a:t>SCRIPT :</a:t>
            </a:r>
          </a:p>
          <a:p>
            <a:r>
              <a:rPr sz="1000">
                <a:latin typeface="Arial"/>
              </a:rPr>
              <a:t>"Excellent work today, Ingrid!</a:t>
            </a:r>
          </a:p>
          <a:p>
            <a:r>
              <a:rPr sz="1000">
                <a:latin typeface="Arial"/>
              </a:rPr>
              <a:t>You've completed Class 07.</a:t>
            </a:r>
          </a:p>
          <a:p>
            <a:r>
              <a:rPr sz="1000">
                <a:latin typeface="Arial"/>
              </a:rPr>
              <a:t>See you next time."</a:t>
            </a:r>
          </a:p>
          <a:p/>
          <a:p>
            <a:r>
              <a:rPr sz="1000">
                <a:latin typeface="Arial"/>
              </a:rPr>
              <a:t>Rappeler : Class 08</a:t>
            </a:r>
          </a:p>
          <a:p/>
          <a:p>
            <a:r>
              <a:rPr sz="1000">
                <a:latin typeface="Arial"/>
              </a:rPr>
              <a:t>TERMINER sur une note positive.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011680"/>
            <a:ext cx="8046720" cy="1645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4800" b="1" i="0">
                <a:solidFill>
                  <a:srgbClr val="3D1F5C"/>
                </a:solidFill>
                <a:latin typeface="Arial"/>
              </a:rPr>
              <a:t>HOW LONG HAVE YOU...?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0"/>
            <a:ext cx="804672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Ingrid - English - Class 07</a:t>
            </a:r>
          </a:p>
          <a:p>
            <a:pPr algn="ctr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Profesor: Jean Thomas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Welcome!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OVERVIEW — Today's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08760"/>
            <a:ext cx="8229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6B35"/>
                </a:solidFill>
                <a:latin typeface="Arial"/>
              </a:rPr>
              <a:t>01.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508760"/>
            <a:ext cx="713232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Use How long have you...?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221992"/>
            <a:ext cx="8229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6B35"/>
                </a:solidFill>
                <a:latin typeface="Arial"/>
              </a:rPr>
              <a:t>02.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221992"/>
            <a:ext cx="713232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Use FOR for duration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935224"/>
            <a:ext cx="8229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6B35"/>
                </a:solidFill>
                <a:latin typeface="Arial"/>
              </a:rPr>
              <a:t>03.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935224"/>
            <a:ext cx="713232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Use SINCE for starting point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648456"/>
            <a:ext cx="8229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6B35"/>
                </a:solidFill>
                <a:latin typeface="Arial"/>
              </a:rPr>
              <a:t>04.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648456"/>
            <a:ext cx="713232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Distinguish PP + duration from PS + AGO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361688"/>
            <a:ext cx="8229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6B35"/>
                </a:solidFill>
                <a:latin typeface="Arial"/>
              </a:rPr>
              <a:t>05.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4361688"/>
            <a:ext cx="713232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Talk about studies, work, languages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074920"/>
            <a:ext cx="8229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6B35"/>
                </a:solidFill>
                <a:latin typeface="Arial"/>
              </a:rPr>
              <a:t>06.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5074920"/>
            <a:ext cx="713232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Speak 60-90 seconds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GOAL: Speak with confidence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SPEAKING — Answer orally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54480"/>
            <a:ext cx="804672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76809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-  How long have you lived here?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450591"/>
            <a:ext cx="804672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450591"/>
            <a:ext cx="76809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-  How long have you studied English?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346703"/>
            <a:ext cx="804672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346703"/>
            <a:ext cx="76809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-  How long have you known your best friend?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242816"/>
            <a:ext cx="804672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242816"/>
            <a:ext cx="76809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-  How long have you had your phone?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138927"/>
            <a:ext cx="804672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5138927"/>
            <a:ext cx="76809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-  How long have you been at this school?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Speak without looking at your notes.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VOCABULARY — Duration (1/3)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08760"/>
            <a:ext cx="8046720" cy="13258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81912"/>
            <a:ext cx="3657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live -&gt; lived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0" y="1581912"/>
            <a:ext cx="2743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9B9B"/>
                </a:solidFill>
                <a:latin typeface="Arial"/>
              </a:rPr>
              <a:t>— vivido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0" y="1581912"/>
            <a:ext cx="1554480" cy="36576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0" y="1581912"/>
            <a:ext cx="1554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Arial"/>
              </a:rPr>
              <a:t>ESSENTIAL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1965960"/>
            <a:ext cx="7589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666666"/>
                </a:solidFill>
                <a:latin typeface="Arial"/>
              </a:rPr>
              <a:t>+ have lived here  + lived there for years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258568"/>
            <a:ext cx="7589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000000"/>
                </a:solidFill>
                <a:latin typeface="Arial"/>
              </a:rPr>
              <a:t>  "I have lived here for five years."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2514600"/>
            <a:ext cx="75895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62828"/>
                </a:solidFill>
                <a:latin typeface="Arial"/>
              </a:rPr>
              <a:t>  NOT 'have lived here since five years'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926080"/>
            <a:ext cx="8046720" cy="13258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999232"/>
            <a:ext cx="3657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work -&gt; worked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999232"/>
            <a:ext cx="2743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9B9B"/>
                </a:solidFill>
                <a:latin typeface="Arial"/>
              </a:rPr>
              <a:t>— trabajado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0" y="2999232"/>
            <a:ext cx="1554480" cy="36576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0" y="2999232"/>
            <a:ext cx="1554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Arial"/>
              </a:rPr>
              <a:t>ESSENTIAL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59" y="3383280"/>
            <a:ext cx="7589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666666"/>
                </a:solidFill>
                <a:latin typeface="Arial"/>
              </a:rPr>
              <a:t>+ have worked there  + worked since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59" y="3675888"/>
            <a:ext cx="7589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000000"/>
                </a:solidFill>
                <a:latin typeface="Arial"/>
              </a:rPr>
              <a:t>  "I have worked here for three years."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59" y="3931920"/>
            <a:ext cx="75895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62828"/>
                </a:solidFill>
                <a:latin typeface="Arial"/>
              </a:rPr>
              <a:t>  NOT 'have worked here since three years'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343400"/>
            <a:ext cx="8046720" cy="13258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416552"/>
            <a:ext cx="3657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study -&gt; studied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4416552"/>
            <a:ext cx="2743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9B9B"/>
                </a:solidFill>
                <a:latin typeface="Arial"/>
              </a:rPr>
              <a:t>— estudiado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0" y="4416552"/>
            <a:ext cx="1554480" cy="36576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0" y="4416552"/>
            <a:ext cx="1554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Arial"/>
              </a:rPr>
              <a:t>ESSENTIAL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59" y="4800600"/>
            <a:ext cx="7589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666666"/>
                </a:solidFill>
                <a:latin typeface="Arial"/>
              </a:rPr>
              <a:t>+ have studied English  + studied since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59" y="5093208"/>
            <a:ext cx="7589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000000"/>
                </a:solidFill>
                <a:latin typeface="Arial"/>
              </a:rPr>
              <a:t>  "I have studied English since 2023."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59" y="5349240"/>
            <a:ext cx="75895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62828"/>
                </a:solidFill>
                <a:latin typeface="Arial"/>
              </a:rPr>
              <a:t>  NOT 'have studied English since three years'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Read aloud. Practice collocations.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VOCABULARY — Duration (2/3)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08760"/>
            <a:ext cx="8046720" cy="13258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81912"/>
            <a:ext cx="3657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learn -&gt; learned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0" y="1581912"/>
            <a:ext cx="2743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9B9B"/>
                </a:solidFill>
                <a:latin typeface="Arial"/>
              </a:rPr>
              <a:t>— aprendido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0" y="1581912"/>
            <a:ext cx="1554480" cy="36576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0" y="1581912"/>
            <a:ext cx="1554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Arial"/>
              </a:rPr>
              <a:t>ESSENTIAL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1965960"/>
            <a:ext cx="7589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666666"/>
                </a:solidFill>
                <a:latin typeface="Arial"/>
              </a:rPr>
              <a:t>+ have learned a lot  + learned for years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258568"/>
            <a:ext cx="7589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000000"/>
                </a:solidFill>
                <a:latin typeface="Arial"/>
              </a:rPr>
              <a:t>  "I have learned a lot this year."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2514600"/>
            <a:ext cx="75895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62828"/>
                </a:solidFill>
                <a:latin typeface="Arial"/>
              </a:rPr>
              <a:t>  NOT 'have learned since 2020 years'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926080"/>
            <a:ext cx="8046720" cy="13258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999232"/>
            <a:ext cx="3657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know -&gt; known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999232"/>
            <a:ext cx="2743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9B9B"/>
                </a:solidFill>
                <a:latin typeface="Arial"/>
              </a:rPr>
              <a:t>— conocido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0" y="2999232"/>
            <a:ext cx="1554480" cy="36576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0" y="2999232"/>
            <a:ext cx="1554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Arial"/>
              </a:rPr>
              <a:t>ESSENTIAL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59" y="3383280"/>
            <a:ext cx="7589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666666"/>
                </a:solidFill>
                <a:latin typeface="Arial"/>
              </a:rPr>
              <a:t>+ have known her  + known each other for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59" y="3675888"/>
            <a:ext cx="7589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000000"/>
                </a:solidFill>
                <a:latin typeface="Arial"/>
              </a:rPr>
              <a:t>  "I have known her since high school."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59" y="3931920"/>
            <a:ext cx="75895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62828"/>
                </a:solidFill>
                <a:latin typeface="Arial"/>
              </a:rPr>
              <a:t>  NOT 'have known her since five years'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343400"/>
            <a:ext cx="8046720" cy="13258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416552"/>
            <a:ext cx="3657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have -&gt; had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4416552"/>
            <a:ext cx="2743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9B9B"/>
                </a:solidFill>
                <a:latin typeface="Arial"/>
              </a:rPr>
              <a:t>— tenido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0" y="4416552"/>
            <a:ext cx="1554480" cy="365760"/>
          </a:xfrm>
          <a:prstGeom prst="round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0" y="4416552"/>
            <a:ext cx="1554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Arial"/>
              </a:rPr>
              <a:t>IMPORTANT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59" y="4800600"/>
            <a:ext cx="7589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666666"/>
                </a:solidFill>
                <a:latin typeface="Arial"/>
              </a:rPr>
              <a:t>+ have had this  + had it for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59" y="5093208"/>
            <a:ext cx="7589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000000"/>
                </a:solidFill>
                <a:latin typeface="Arial"/>
              </a:rPr>
              <a:t>  "I have had this phone for two years."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59" y="5349240"/>
            <a:ext cx="75895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62828"/>
                </a:solidFill>
                <a:latin typeface="Arial"/>
              </a:rPr>
              <a:t>  NOT 'have had this phone since two years'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Read aloud. Practice collocations.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VOCABULARY — Duration (3/3)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08760"/>
            <a:ext cx="8046720" cy="13258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81912"/>
            <a:ext cx="3657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use -&gt; used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0" y="1581912"/>
            <a:ext cx="2743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9B9B"/>
                </a:solidFill>
                <a:latin typeface="Arial"/>
              </a:rPr>
              <a:t>— usado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0" y="1581912"/>
            <a:ext cx="1554480" cy="365760"/>
          </a:xfrm>
          <a:prstGeom prst="round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0" y="1581912"/>
            <a:ext cx="1554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Arial"/>
              </a:rPr>
              <a:t>IMPORTANT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1965960"/>
            <a:ext cx="7589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666666"/>
                </a:solidFill>
                <a:latin typeface="Arial"/>
              </a:rPr>
              <a:t>+ have used this  + used for months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258568"/>
            <a:ext cx="7589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000000"/>
                </a:solidFill>
                <a:latin typeface="Arial"/>
              </a:rPr>
              <a:t>  "I have used this app for six months."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2514600"/>
            <a:ext cx="75895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62828"/>
                </a:solidFill>
                <a:latin typeface="Arial"/>
              </a:rPr>
              <a:t>  NOT 'have used this since six months'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926080"/>
            <a:ext cx="8046720" cy="13258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999232"/>
            <a:ext cx="3657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practice -&gt; practiced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999232"/>
            <a:ext cx="2743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9B9B"/>
                </a:solidFill>
                <a:latin typeface="Arial"/>
              </a:rPr>
              <a:t>— practicado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0" y="2999232"/>
            <a:ext cx="1554480" cy="365760"/>
          </a:xfrm>
          <a:prstGeom prst="round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0" y="2999232"/>
            <a:ext cx="1554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Arial"/>
              </a:rPr>
              <a:t>IMPORTANT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59" y="3383280"/>
            <a:ext cx="7589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666666"/>
                </a:solidFill>
                <a:latin typeface="Arial"/>
              </a:rPr>
              <a:t>+ have practiced yoga  + practiced since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59" y="3675888"/>
            <a:ext cx="7589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000000"/>
                </a:solidFill>
                <a:latin typeface="Arial"/>
              </a:rPr>
              <a:t>  "I have practiced yoga since January."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59" y="3931920"/>
            <a:ext cx="75895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62828"/>
                </a:solidFill>
                <a:latin typeface="Arial"/>
              </a:rPr>
              <a:t>  NOT 'have practiced yoga since two months'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Read aloud. Practice collocations.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⚠️  COMMON MISTAKES — Avoid these!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08760"/>
            <a:ext cx="8046720" cy="1005839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7680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C62828"/>
                </a:solidFill>
                <a:latin typeface="Arial"/>
              </a:rPr>
              <a:t>❌  I have lived here since 3 years.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92808"/>
            <a:ext cx="7680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2E7D32"/>
                </a:solidFill>
                <a:latin typeface="Arial"/>
              </a:rPr>
              <a:t>✓   I have lived here for 3 years.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31136"/>
            <a:ext cx="76809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666666"/>
                </a:solidFill>
                <a:latin typeface="Arial"/>
              </a:rPr>
              <a:t>      FOR + duración. SINCE + punto de inicio (2020).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606040"/>
            <a:ext cx="8046720" cy="1005839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651760"/>
            <a:ext cx="7680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C62828"/>
                </a:solidFill>
                <a:latin typeface="Arial"/>
              </a:rPr>
              <a:t>❌  I have studied for 2020.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990088"/>
            <a:ext cx="7680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2E7D32"/>
                </a:solidFill>
                <a:latin typeface="Arial"/>
              </a:rPr>
              <a:t>✓   I have studied since 2020.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328416"/>
            <a:ext cx="76809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666666"/>
                </a:solidFill>
                <a:latin typeface="Arial"/>
              </a:rPr>
              <a:t>      2020 es punto de inicio → SINCE.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703320"/>
            <a:ext cx="8046720" cy="1005839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749039"/>
            <a:ext cx="7680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C62828"/>
                </a:solidFill>
                <a:latin typeface="Arial"/>
              </a:rPr>
              <a:t>❌  I have moved here 2 years ago.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087368"/>
            <a:ext cx="7680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2E7D32"/>
                </a:solidFill>
                <a:latin typeface="Arial"/>
              </a:rPr>
              <a:t>✓   I moved here 2 years ago.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425696"/>
            <a:ext cx="76809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666666"/>
                </a:solidFill>
                <a:latin typeface="Arial"/>
              </a:rPr>
              <a:t>      'Ago' → siempre con Past Simple.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800600"/>
            <a:ext cx="8046720" cy="1005839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846320"/>
            <a:ext cx="7680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C62828"/>
                </a:solidFill>
                <a:latin typeface="Arial"/>
              </a:rPr>
              <a:t>❌  How many time have you studied?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184648"/>
            <a:ext cx="7680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2E7D32"/>
                </a:solidFill>
                <a:latin typeface="Arial"/>
              </a:rPr>
              <a:t>✓   How long have you studied?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522976"/>
            <a:ext cx="76809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666666"/>
                </a:solidFill>
                <a:latin typeface="Arial"/>
              </a:rPr>
              <a:t>      Se dice 'How long', no 'How many time'.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Repeat after me. Don't make these mistakes!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EXPRESSIONS &amp; YOUR TURN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08760"/>
            <a:ext cx="8046720" cy="2286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81912"/>
            <a:ext cx="7680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6B35"/>
                </a:solidFill>
                <a:latin typeface="Arial"/>
              </a:rPr>
              <a:t>EXPRESSIONS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1965960"/>
            <a:ext cx="75895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0000"/>
                </a:solidFill>
                <a:latin typeface="Arial"/>
              </a:rPr>
              <a:t>▸  How long have you...?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313432"/>
            <a:ext cx="75895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0000"/>
                </a:solidFill>
                <a:latin typeface="Arial"/>
              </a:rPr>
              <a:t>▸  I have lived here for three years.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660903"/>
            <a:ext cx="75895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0000"/>
                </a:solidFill>
                <a:latin typeface="Arial"/>
              </a:rPr>
              <a:t>▸  I have studied English since 2023.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3008375"/>
            <a:ext cx="75895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0000"/>
                </a:solidFill>
                <a:latin typeface="Arial"/>
              </a:rPr>
              <a:t>▸  I have known her for a long time.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3355847"/>
            <a:ext cx="75895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0000"/>
                </a:solidFill>
                <a:latin typeface="Arial"/>
              </a:rPr>
              <a:t>▸  I moved here two years ago.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931920"/>
            <a:ext cx="8046720" cy="1828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4005072"/>
            <a:ext cx="7680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6B35"/>
                </a:solidFill>
                <a:latin typeface="Arial"/>
              </a:rPr>
              <a:t>🎯  YOUR TURN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4389120"/>
            <a:ext cx="7589520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000000"/>
                </a:solidFill>
                <a:latin typeface="Arial"/>
              </a:rPr>
              <a:t>1.  I have lived here for    -&gt; ________________________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59" y="4709159"/>
            <a:ext cx="7589520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000000"/>
                </a:solidFill>
                <a:latin typeface="Arial"/>
              </a:rPr>
              <a:t>2.  I have studied English since -&gt; ________________________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59" y="5029199"/>
            <a:ext cx="7589520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000000"/>
                </a:solidFill>
                <a:latin typeface="Arial"/>
              </a:rPr>
              <a:t>3.  I have known ____ for ____.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59" y="5349239"/>
            <a:ext cx="7589520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000000"/>
                </a:solidFill>
                <a:latin typeface="Arial"/>
              </a:rPr>
              <a:t>4.  I moved here ____ ago.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59" y="5669279"/>
            <a:ext cx="7589520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000000"/>
                </a:solidFill>
                <a:latin typeface="Arial"/>
              </a:rPr>
              <a:t>5.  How long have you ____?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Write your own sentences.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GRAMMAR — FOR, SINCE, AGO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8046720" cy="502920"/>
          </a:xfrm>
          <a:prstGeom prst="round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76809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Arial"/>
              </a:rPr>
              <a:t>FOR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286000"/>
            <a:ext cx="8046720" cy="34747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2423160"/>
            <a:ext cx="749808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= duracion</a:t>
            </a:r>
          </a:p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for two years</a:t>
            </a:r>
          </a:p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for three months</a:t>
            </a:r>
          </a:p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for a long time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FOR = period. SINCE = start. AGO = past.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GRAMMAR — FOR, SINCE, AGO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8046720" cy="502920"/>
          </a:xfrm>
          <a:prstGeom prst="round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76809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Arial"/>
              </a:rPr>
              <a:t>SINCE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286000"/>
            <a:ext cx="8046720" cy="34747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2423160"/>
            <a:ext cx="749808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= punto de partida</a:t>
            </a:r>
          </a:p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since 2023</a:t>
            </a:r>
          </a:p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since Monday</a:t>
            </a:r>
          </a:p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since I was a child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FOR = period. SINCE = start. AGO = past.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GRAMMAR — FOR, SINCE, AGO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8046720" cy="502920"/>
          </a:xfrm>
          <a:prstGeom prst="round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76809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Arial"/>
              </a:rPr>
              <a:t>AGO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286000"/>
            <a:ext cx="8046720" cy="34747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2423160"/>
            <a:ext cx="749808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= tiempo terminado (PS)</a:t>
            </a:r>
          </a:p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I moved here two years ago.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FOR = period. SINCE = start. AGO = past.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GRAMMAR — How Long Have You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8046720" cy="502920"/>
          </a:xfrm>
          <a:prstGeom prst="round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76809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Arial"/>
              </a:rPr>
              <a:t>FORMULA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286000"/>
            <a:ext cx="8046720" cy="34747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2423160"/>
            <a:ext cx="749808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How long have you + PAST PARTICIPLE?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Use How long + have/has + participle.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GRAMMAR — How Long Have You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8046720" cy="502920"/>
          </a:xfrm>
          <a:prstGeom prst="round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76809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Arial"/>
              </a:rPr>
              <a:t>EXAMPLES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286000"/>
            <a:ext cx="8046720" cy="34747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2423160"/>
            <a:ext cx="749808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How long have you lived here?</a:t>
            </a:r>
          </a:p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I have lived here for three years.</a:t>
            </a:r>
          </a:p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How long have you studied English?</a:t>
            </a:r>
          </a:p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I have studied English since 2023.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Use How long + have/has + participle.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GRAMMAR — How Long Have You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8046720" cy="502920"/>
          </a:xfrm>
          <a:prstGeom prst="round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76809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Arial"/>
              </a:rPr>
              <a:t>MORE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286000"/>
            <a:ext cx="8046720" cy="34747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2423160"/>
            <a:ext cx="749808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How long have you known your best friend?</a:t>
            </a:r>
          </a:p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I have known her for a long time.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Use How long + have/has + participle.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SOUND — /h/ Aspirated Review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91640"/>
            <a:ext cx="8046720" cy="594359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59" y="1691640"/>
            <a:ext cx="7498080" cy="5943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have = /hæv/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350008"/>
            <a:ext cx="8046720" cy="594359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2350008"/>
            <a:ext cx="7498080" cy="5943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here = /hɪr/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008376"/>
            <a:ext cx="8046720" cy="594359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3008376"/>
            <a:ext cx="7498080" cy="5943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how = /haʊ/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666744"/>
            <a:ext cx="8046720" cy="594359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59" y="3666744"/>
            <a:ext cx="7498080" cy="5943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home = /hoʊm/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325112"/>
            <a:ext cx="8046720" cy="594359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59" y="4325112"/>
            <a:ext cx="7498080" cy="5943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high school = /haɪ skuːl/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The 'h' IS pronounced.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PRONUNCIATION — Practice /h/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804672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7680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house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7680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1">
                <a:solidFill>
                  <a:srgbClr val="009B9B"/>
                </a:solidFill>
                <a:latin typeface="Arial"/>
              </a:rPr>
              <a:t>/haʊs/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514600"/>
            <a:ext cx="804672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560320"/>
            <a:ext cx="7680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hat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926080"/>
            <a:ext cx="7680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1">
                <a:solidFill>
                  <a:srgbClr val="009B9B"/>
                </a:solidFill>
                <a:latin typeface="Arial"/>
              </a:rPr>
              <a:t>/hæt/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429000"/>
            <a:ext cx="804672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474720"/>
            <a:ext cx="7680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happy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840480"/>
            <a:ext cx="7680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1">
                <a:solidFill>
                  <a:srgbClr val="009B9B"/>
                </a:solidFill>
                <a:latin typeface="Arial"/>
              </a:rPr>
              <a:t>/ˈhæpi/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343400"/>
            <a:ext cx="804672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389120"/>
            <a:ext cx="7680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hello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754880"/>
            <a:ext cx="7680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1">
                <a:solidFill>
                  <a:srgbClr val="009B9B"/>
                </a:solidFill>
                <a:latin typeface="Arial"/>
              </a:rPr>
              <a:t>/həˈloʊ/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Record yourself and compare.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PRACTICE — Complete (1/2)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804672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76809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1. I have lived here ___ three years.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560320"/>
            <a:ext cx="804672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560320"/>
            <a:ext cx="76809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2. She has studied English ___ 2024.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474720"/>
            <a:ext cx="804672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76809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3. We have known each other ___ a long time.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389120"/>
            <a:ext cx="804672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389120"/>
            <a:ext cx="76809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4. He has worked there ___ Monday.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Answer orally first.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18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PRACTICE — Complete (2/2)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804672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76809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5. I have had this phone ___ two months.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560320"/>
            <a:ext cx="804672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560320"/>
            <a:ext cx="76809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6. I have studied since three years. (Correct)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474720"/>
            <a:ext cx="804672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76809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7. She has lived here for 2020. (Correct)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Answer orally first.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SPEAKING — Conversation (1/2)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54480"/>
            <a:ext cx="8046720" cy="1143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76809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How long have you lived in your city?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48840"/>
            <a:ext cx="74980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9B9B"/>
                </a:solidFill>
                <a:latin typeface="Arial"/>
              </a:rPr>
              <a:t>-&gt;  I have lived here for ____.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834639"/>
            <a:ext cx="8046720" cy="1143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926079"/>
            <a:ext cx="76809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How long have you studied English?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428999"/>
            <a:ext cx="74980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9B9B"/>
                </a:solidFill>
                <a:latin typeface="Arial"/>
              </a:rPr>
              <a:t>-&gt;  I have studied since ____.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114800"/>
            <a:ext cx="8046720" cy="1143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206240"/>
            <a:ext cx="76809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How long have you worked there?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709160"/>
            <a:ext cx="74980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9B9B"/>
                </a:solidFill>
                <a:latin typeface="Arial"/>
              </a:rPr>
              <a:t>-&gt;  I have ____ for ____.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Speak naturally.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SPEAKING — Conversation (2/2)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54480"/>
            <a:ext cx="8046720" cy="1143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76809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How long have you known your best friend?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48840"/>
            <a:ext cx="74980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9B9B"/>
                </a:solidFill>
                <a:latin typeface="Arial"/>
              </a:rPr>
              <a:t>-&gt;  I have known her for ____.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834639"/>
            <a:ext cx="8046720" cy="1143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926079"/>
            <a:ext cx="76809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How long have you used your computer?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428999"/>
            <a:ext cx="74980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9B9B"/>
                </a:solidFill>
                <a:latin typeface="Arial"/>
              </a:rPr>
              <a:t>-&gt;  I have used it for ____.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114800"/>
            <a:ext cx="8046720" cy="1143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206240"/>
            <a:ext cx="76809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When did you start?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709160"/>
            <a:ext cx="74980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9B9B"/>
                </a:solidFill>
                <a:latin typeface="Arial"/>
              </a:rPr>
              <a:t>-&gt;  I started ____.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Speak naturally.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21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LISTENING — How Long?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08760"/>
            <a:ext cx="8046720" cy="4206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7680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6B35"/>
                </a:solidFill>
                <a:latin typeface="Arial"/>
              </a:rPr>
              <a:t>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2057400"/>
            <a:ext cx="7498080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 i="0">
                <a:solidFill>
                  <a:srgbClr val="000000"/>
                </a:solidFill>
                <a:latin typeface="Arial"/>
              </a:rPr>
              <a:t>I have lived in my city for five years. I moved here in 2021. I have studied English since 2023. I have worked at my current job for two years. I have known my best friend since high school. We have stayed in touch for a long time.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Listen carefully to the text.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LISTENING — Answer the questions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8046720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76809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1. How long has the speaker lived in the city?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404872"/>
            <a:ext cx="8046720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404872"/>
            <a:ext cx="76809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2. When did the speaker move there?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209544"/>
            <a:ext cx="8046720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209544"/>
            <a:ext cx="76809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3. Since when has the speaker studied English?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014215"/>
            <a:ext cx="8046720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014215"/>
            <a:ext cx="76809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4. How long has the speaker worked?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818888"/>
            <a:ext cx="8046720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818888"/>
            <a:ext cx="76809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5. Since when has the speaker known the best friend?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Answer in complete sentences.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23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SPEAKING CHALLENGE — How Long Have You...?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600200"/>
            <a:ext cx="7315200" cy="685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600200"/>
            <a:ext cx="69494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5 PP + duration sentences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377440"/>
            <a:ext cx="7315200" cy="685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377440"/>
            <a:ext cx="69494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FOR (2 times)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3154680"/>
            <a:ext cx="7315200" cy="685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3154680"/>
            <a:ext cx="69494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SINCE (2 times)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3931920"/>
            <a:ext cx="7315200" cy="685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931920"/>
            <a:ext cx="69494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1 AGO + Past Simple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4709159"/>
            <a:ext cx="7315200" cy="685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4709159"/>
            <a:ext cx="69494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Answer 1 How long question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Speak 1-2 minutes. No memorization.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24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WRITING — Requirements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08760"/>
            <a:ext cx="3931920" cy="10058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3657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F6B35"/>
                </a:solidFill>
                <a:latin typeface="Arial"/>
              </a:rPr>
              <a:t>100-120 WORDS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3657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0000"/>
                </a:solidFill>
                <a:latin typeface="Arial"/>
              </a:rPr>
              <a:t>TIME: 25 min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63440" y="1508760"/>
            <a:ext cx="3931920" cy="100584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46320" y="1554480"/>
            <a:ext cx="3657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6B35"/>
                </a:solidFill>
                <a:latin typeface="Arial"/>
              </a:rPr>
              <a:t>FOCUS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1920240"/>
            <a:ext cx="3657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 i="0">
                <a:solidFill>
                  <a:srgbClr val="FFFFFF"/>
                </a:solidFill>
                <a:latin typeface="Arial"/>
              </a:rPr>
              <a:t>For / Since / Ago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697480"/>
            <a:ext cx="8046720" cy="3063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743200"/>
            <a:ext cx="7680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6B35"/>
                </a:solidFill>
                <a:latin typeface="Arial"/>
              </a:rPr>
              <a:t>REQUIREMENTS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3200400"/>
            <a:ext cx="7589520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- 2 FOR sentences</a:t>
            </a:r>
          </a:p>
          <a:p>
            <a:pPr algn="l">
              <a:lnSpc>
                <a:spcPct val="13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- 2 SINCE sentences</a:t>
            </a:r>
          </a:p>
          <a:p>
            <a:pPr algn="l">
              <a:lnSpc>
                <a:spcPct val="13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- 1 AGO + Past Simple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Follow the requirements.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WRITING — Template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8046720" cy="4343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45920"/>
            <a:ext cx="7406640" cy="397763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0" i="0">
                <a:solidFill>
                  <a:srgbClr val="000000"/>
                </a:solidFill>
                <a:latin typeface="Arial"/>
              </a:rPr>
              <a:t>HOW LONG HAVE YOU...?   —   By: ____________</a:t>
            </a:r>
          </a:p>
          <a:p>
            <a:pPr algn="l">
              <a:lnSpc>
                <a:spcPct val="125000"/>
              </a:lnSpc>
            </a:pPr>
          </a:p>
          <a:p>
            <a:pPr algn="l">
              <a:lnSpc>
                <a:spcPct val="125000"/>
              </a:lnSpc>
            </a:pPr>
            <a:r>
              <a:rPr sz="2100" b="0" i="0">
                <a:solidFill>
                  <a:srgbClr val="000000"/>
                </a:solidFill>
                <a:latin typeface="Arial"/>
              </a:rPr>
              <a:t>I have lived in ____________ for ____________.</a:t>
            </a:r>
          </a:p>
          <a:p>
            <a:pPr algn="l">
              <a:lnSpc>
                <a:spcPct val="125000"/>
              </a:lnSpc>
            </a:pPr>
            <a:r>
              <a:rPr sz="2100" b="0" i="0">
                <a:solidFill>
                  <a:srgbClr val="000000"/>
                </a:solidFill>
                <a:latin typeface="Arial"/>
              </a:rPr>
              <a:t>I have studied English since ____________.</a:t>
            </a:r>
          </a:p>
          <a:p>
            <a:pPr algn="l">
              <a:lnSpc>
                <a:spcPct val="125000"/>
              </a:lnSpc>
            </a:pPr>
            <a:r>
              <a:rPr sz="2100" b="0" i="0">
                <a:solidFill>
                  <a:srgbClr val="000000"/>
                </a:solidFill>
                <a:latin typeface="Arial"/>
              </a:rPr>
              <a:t>I have known my best friend for ____________.</a:t>
            </a:r>
          </a:p>
          <a:p>
            <a:pPr algn="l">
              <a:lnSpc>
                <a:spcPct val="125000"/>
              </a:lnSpc>
            </a:pPr>
            <a:r>
              <a:rPr sz="2100" b="0" i="0">
                <a:solidFill>
                  <a:srgbClr val="000000"/>
                </a:solidFill>
                <a:latin typeface="Arial"/>
              </a:rPr>
              <a:t>I have had my phone for ____________.</a:t>
            </a:r>
          </a:p>
          <a:p>
            <a:pPr algn="l">
              <a:lnSpc>
                <a:spcPct val="125000"/>
              </a:lnSpc>
            </a:pPr>
            <a:r>
              <a:rPr sz="2100" b="0" i="0">
                <a:solidFill>
                  <a:srgbClr val="000000"/>
                </a:solidFill>
                <a:latin typeface="Arial"/>
              </a:rPr>
              <a:t>I have worked at ____________ since ____________.</a:t>
            </a:r>
          </a:p>
          <a:p>
            <a:pPr algn="l">
              <a:lnSpc>
                <a:spcPct val="125000"/>
              </a:lnSpc>
            </a:pPr>
          </a:p>
          <a:p>
            <a:pPr algn="l">
              <a:lnSpc>
                <a:spcPct val="125000"/>
              </a:lnSpc>
            </a:pPr>
            <a:r>
              <a:rPr sz="2100" b="0" i="0">
                <a:solidFill>
                  <a:srgbClr val="000000"/>
                </a:solidFill>
                <a:latin typeface="Arial"/>
              </a:rPr>
              <a:t>I moved here ____________ ago.</a:t>
            </a:r>
          </a:p>
          <a:p>
            <a:pPr algn="l">
              <a:lnSpc>
                <a:spcPct val="125000"/>
              </a:lnSpc>
            </a:pPr>
          </a:p>
          <a:p>
            <a:pPr algn="l">
              <a:lnSpc>
                <a:spcPct val="125000"/>
              </a:lnSpc>
            </a:pPr>
            <a:r>
              <a:rPr sz="2100" b="0" i="0">
                <a:solidFill>
                  <a:srgbClr val="000000"/>
                </a:solidFill>
                <a:latin typeface="Arial"/>
              </a:rPr>
              <a:t>I have been learning English for ____________.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Use this template to write.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CHECKPOINT — Rate your progress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8046720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76809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I can use have/has + participle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404872"/>
            <a:ext cx="8046720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404872"/>
            <a:ext cx="76809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I can use FOR for duration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209544"/>
            <a:ext cx="8046720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209544"/>
            <a:ext cx="76809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I can use SINCE for starting point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014215"/>
            <a:ext cx="8046720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014215"/>
            <a:ext cx="76809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I can distinguish FOR/SINCE from AGO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818888"/>
            <a:ext cx="8046720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818888"/>
            <a:ext cx="76809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I can ask How long have you...?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Be honest with yourself.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27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SELF-EVALUATION — Rate (1-4)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8046720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4023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Vocabulary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80" y="1600200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0" y="1600200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0" y="1600200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79" y="1600200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404872"/>
            <a:ext cx="8046720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404872"/>
            <a:ext cx="4023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FOR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0" y="2404872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2404872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0" y="2404872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79" y="2404872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4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209544"/>
            <a:ext cx="8046720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209544"/>
            <a:ext cx="4023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SINCE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2080" y="3209544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3209544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0" y="3209544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79" y="3209544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4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014215"/>
            <a:ext cx="8046720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4014215"/>
            <a:ext cx="4023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AGO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12080" y="4014215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80" y="4014215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40880" y="4014215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55279" y="4014215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4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4818888"/>
            <a:ext cx="8046720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4818888"/>
            <a:ext cx="4023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Fluency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12080" y="4818888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26480" y="4818888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0880" y="4818888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55279" y="4818888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4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Reflect on your learning.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28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RESOURCES — Keep learning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08760"/>
            <a:ext cx="8046720" cy="45720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76809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PODCASTS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2011680"/>
            <a:ext cx="75895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000000"/>
                </a:solidFill>
                <a:latin typeface="Arial"/>
              </a:rPr>
              <a:t>- No Pressure English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377440"/>
            <a:ext cx="75895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000000"/>
                </a:solidFill>
                <a:latin typeface="Arial"/>
              </a:rPr>
              <a:t>- English With A Twist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834640"/>
            <a:ext cx="8046720" cy="45720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834640"/>
            <a:ext cx="76809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VIDEOS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3337560"/>
            <a:ext cx="75895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000000"/>
                </a:solidFill>
                <a:latin typeface="Arial"/>
              </a:rPr>
              <a:t>- English with Lucy — For vs Since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794760"/>
            <a:ext cx="8046720" cy="45720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794760"/>
            <a:ext cx="76809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APPS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4297680"/>
            <a:ext cx="75895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000000"/>
                </a:solidFill>
                <a:latin typeface="Arial"/>
              </a:rPr>
              <a:t>- Duolingo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59" y="4663440"/>
            <a:ext cx="75895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000000"/>
                </a:solidFill>
                <a:latin typeface="Arial"/>
              </a:rPr>
              <a:t>- Quizlet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Practice every day.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29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HOMEWORK — Your tasks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8046720" cy="50292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76809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WRITING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2148840"/>
            <a:ext cx="75895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000000"/>
                </a:solidFill>
                <a:latin typeface="Arial"/>
              </a:rPr>
              <a:t>Write 8-10 sentences about things that last.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651760"/>
            <a:ext cx="8046720" cy="50292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651760"/>
            <a:ext cx="76809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SPEAKING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3200400"/>
            <a:ext cx="75895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000000"/>
                </a:solidFill>
                <a:latin typeface="Arial"/>
              </a:rPr>
              <a:t>Record yourself answering How long...?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703320"/>
            <a:ext cx="8046720" cy="50292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703320"/>
            <a:ext cx="76809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PRONUNCIATION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4251960"/>
            <a:ext cx="75895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000000"/>
                </a:solidFill>
                <a:latin typeface="Arial"/>
              </a:rPr>
              <a:t>Practice /h/ with 10 words.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754880"/>
            <a:ext cx="8046720" cy="50292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754880"/>
            <a:ext cx="76809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APP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59" y="5303520"/>
            <a:ext cx="75895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000000"/>
                </a:solidFill>
                <a:latin typeface="Arial"/>
              </a:rPr>
              <a:t>Practice for/since/ago.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Deadline: ____________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30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0" y="1371600"/>
            <a:ext cx="6400800" cy="164592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371600"/>
            <a:ext cx="6400800" cy="1645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5400" b="1" i="0">
                <a:solidFill>
                  <a:srgbClr val="FFFFFF"/>
                </a:solidFill>
                <a:latin typeface="Arial"/>
              </a:rPr>
              <a:t>GRACIAS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91840"/>
            <a:ext cx="80467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3600" b="1" i="0">
                <a:solidFill>
                  <a:srgbClr val="3D1F5C"/>
                </a:solidFill>
                <a:latin typeface="Arial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206240"/>
            <a:ext cx="80467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0" i="1">
                <a:solidFill>
                  <a:srgbClr val="000000"/>
                </a:solidFill>
                <a:latin typeface="Arial"/>
              </a:rPr>
              <a:t>You've completed this class!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5029200"/>
            <a:ext cx="6400800" cy="731520"/>
          </a:xfrm>
          <a:prstGeom prst="round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5029200"/>
            <a:ext cx="6400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Arial"/>
              </a:rPr>
              <a:t>NEXT: CLASS 08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Congratulations!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