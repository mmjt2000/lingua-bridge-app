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3D1F5C"/>
                </a:solidFill>
                <a:latin typeface="Arial"/>
              </a:rPr>
              <a:t>Lecon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000000"/>
                </a:solidFill>
                <a:latin typeface="Arial"/>
              </a:rPr>
              <a:t>Qui, que, ou - Pronoms relatifs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1F5C"/>
                </a:solidFill>
                <a:latin typeface="Arial"/>
              </a:rPr>
              <a:t>Objectifs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- Utiliser qui, que, ou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- Relier deux phrases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- Decrire une personne, une chose, un lieu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- Eviter la repetition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- Parler avec des phrases complexes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D1F5C"/>
                </a:solidFill>
                <a:latin typeface="Arial"/>
              </a:rPr>
              <a:t>FR  qui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6B35"/>
                </a:solidFill>
                <a:latin typeface="Arial"/>
              </a:rPr>
              <a:t>ES  que (sujeto)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9B9B"/>
                </a:solidFill>
                <a:latin typeface="Arial"/>
              </a:rPr>
              <a:t>Pron: /ki/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000000"/>
                </a:solidFill>
                <a:latin typeface="Arial"/>
              </a:rPr>
              <a:t>Ex: Le livre qui est sur la table.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D1F5C"/>
                </a:solidFill>
                <a:latin typeface="Arial"/>
              </a:rPr>
              <a:t>FR  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6B35"/>
                </a:solidFill>
                <a:latin typeface="Arial"/>
              </a:rPr>
              <a:t>ES  que (objeto)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9B9B"/>
                </a:solidFill>
                <a:latin typeface="Arial"/>
              </a:rPr>
              <a:t>Pron: /kə/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000000"/>
                </a:solidFill>
                <a:latin typeface="Arial"/>
              </a:rPr>
              <a:t>Ex: Le livre que j'ai lu.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D1F5C"/>
                </a:solidFill>
                <a:latin typeface="Arial"/>
              </a:rPr>
              <a:t>FR  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6B35"/>
                </a:solidFill>
                <a:latin typeface="Arial"/>
              </a:rPr>
              <a:t>ES  donde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9B9B"/>
                </a:solidFill>
                <a:latin typeface="Arial"/>
              </a:rPr>
              <a:t>Pron: /u/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000000"/>
                </a:solidFill>
                <a:latin typeface="Arial"/>
              </a:rPr>
              <a:t>Ex: La ville ou j'habite.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D1F5C"/>
                </a:solidFill>
                <a:latin typeface="Arial"/>
              </a:rPr>
              <a:t>FR  lequel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6B35"/>
                </a:solidFill>
                <a:latin typeface="Arial"/>
              </a:rPr>
              <a:t>ES  el cual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9B9B"/>
                </a:solidFill>
                <a:latin typeface="Arial"/>
              </a:rPr>
              <a:t>Pron: /lə.kɛl/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000000"/>
                </a:solidFill>
                <a:latin typeface="Arial"/>
              </a:rPr>
              <a:t>Ex: Le film lequel j'ai vu.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D1F5C"/>
                </a:solidFill>
                <a:latin typeface="Arial"/>
              </a:rPr>
              <a:t>FR  dont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6B35"/>
                </a:solidFill>
                <a:latin typeface="Arial"/>
              </a:rPr>
              <a:t>ES  cuyo/del 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9B9B"/>
                </a:solidFill>
                <a:latin typeface="Arial"/>
              </a:rPr>
              <a:t>Pron: /dɔ̃/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000000"/>
                </a:solidFill>
                <a:latin typeface="Arial"/>
              </a:rPr>
              <a:t>Ex: Le livre dont je parle.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1F5C"/>
                </a:solidFill>
                <a:latin typeface="Arial"/>
              </a:rPr>
              <a:t>Pronoms relatifs simples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QUI = sujet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   L'homme QUI parle est mon pere.</a:t>
            </a:r>
          </a:p>
          <a:p/>
          <a:p>
            <a:r>
              <a:rPr sz="1800">
                <a:solidFill>
                  <a:srgbClr val="000000"/>
                </a:solidFill>
                <a:latin typeface="Arial"/>
              </a:rPr>
              <a:t>QUE = objet direct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   Le livre QUE je lis est bien.</a:t>
            </a:r>
          </a:p>
          <a:p/>
          <a:p>
            <a:r>
              <a:rPr sz="1800">
                <a:solidFill>
                  <a:srgbClr val="000000"/>
                </a:solidFill>
                <a:latin typeface="Arial"/>
              </a:rPr>
              <a:t>OU = lieu ou temps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   La ville OU je vis est belle.</a:t>
            </a:r>
          </a:p>
          <a:p/>
          <a:p>
            <a:r>
              <a:rPr sz="1800">
                <a:solidFill>
                  <a:srgbClr val="000000"/>
                </a:solidFill>
                <a:latin typeface="Arial"/>
              </a:rPr>
              <a:t>DONT = de qui / duquel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   Le livre DONT je parle est bien.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1F5C"/>
                </a:solidFill>
                <a:latin typeface="Arial"/>
              </a:rPr>
              <a:t>Prononciation : qui / 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qui = /ki/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que = /kə/ (le 'e' est muet)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Le 'que' s'elide : qu' devant voyelle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1F5C"/>
                </a:solidFill>
                <a:latin typeface="Arial"/>
              </a:rPr>
              <a:t>Dialogue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— C'est qui, cet homme ?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— C'est le professeur qui enseigne le francais.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— Et ce livre, c'est quoi ?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— C'est le livre que j'ai achete hier.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— Et cette ville ?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— C'est la ville ou je suis 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1F5C"/>
                </a:solidFill>
                <a:latin typeface="Arial"/>
              </a:rPr>
              <a:t>A toi 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1. L'homme ______ parle est mon pere.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2. Le livre ______ je lis est bien.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3. La ville ______ j'habite est belle.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4. Le film ______ j'ai vu est genial.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