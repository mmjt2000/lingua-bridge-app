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COVER (Class 10)</a:t>
            </a:r>
          </a:p>
          <a:p/>
          <a:p>
            <a:r>
              <a:rPr sz="1000">
                <a:latin typeface="Arial"/>
              </a:rPr>
              <a:t>ROLE : Ouverture.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"Hello Ingrid! Welcome to Class 10.</a:t>
            </a:r>
          </a:p>
          <a:p>
            <a:r>
              <a:rPr sz="1000">
                <a:latin typeface="Arial"/>
              </a:rPr>
              <a:t>Today: Narracion. Ready?"</a:t>
            </a:r>
          </a:p>
          <a:p/>
          <a:p>
            <a:r>
              <a:rPr sz="1000">
                <a:latin typeface="Arial"/>
              </a:rPr>
              <a:t>ACTIONS :</a:t>
            </a:r>
          </a:p>
          <a:p>
            <a:r>
              <a:rPr sz="1000">
                <a:latin typeface="Arial"/>
              </a:rPr>
              <a:t>- Verifier Teams</a:t>
            </a:r>
          </a:p>
          <a:p>
            <a:r>
              <a:rPr sz="1000">
                <a:latin typeface="Arial"/>
              </a:rPr>
              <a:t>- Small talk 30 sec</a:t>
            </a:r>
          </a:p>
          <a:p>
            <a:r>
              <a:rPr sz="1000">
                <a:latin typeface="Arial"/>
              </a:rPr>
              <a:t>- Annoncer 90 min</a:t>
            </a:r>
          </a:p>
          <a:p/>
          <a:p>
            <a:r>
              <a:rPr sz="1000">
                <a:latin typeface="Arial"/>
              </a:rPr>
              <a:t>TRANSITION : "Let's start with the objectives."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OVERVIEW</a:t>
            </a:r>
          </a:p>
          <a:p/>
          <a:p>
            <a:r>
              <a:rPr sz="1000">
                <a:latin typeface="Arial"/>
              </a:rPr>
              <a:t>ROLE : Annoncer objectifs.</a:t>
            </a:r>
          </a:p>
          <a:p>
            <a:r>
              <a:rPr sz="1000">
                <a:latin typeface="Arial"/>
              </a:rPr>
              <a:t>DUREE : 3 min</a:t>
            </a:r>
          </a:p>
          <a:p/>
          <a:p>
            <a:r>
              <a:rPr sz="1000">
                <a:latin typeface="Arial"/>
              </a:rPr>
              <a:t>Lire chaque objectif a voix haute.</a:t>
            </a:r>
          </a:p>
          <a:p>
            <a:r>
              <a:rPr sz="1000">
                <a:latin typeface="Arial"/>
              </a:rPr>
              <a:t>Ne pas expliquer.</a:t>
            </a:r>
          </a:p>
          <a:p/>
          <a:p>
            <a:r>
              <a:rPr sz="1000">
                <a:latin typeface="Arial"/>
              </a:rPr>
              <a:t>DIRE : "By the end of today, you will be able to do all of this."</a:t>
            </a:r>
          </a:p>
          <a:p/>
          <a:p>
            <a:r>
              <a:rPr sz="1000">
                <a:latin typeface="Arial"/>
              </a:rPr>
              <a:t>TRANSITION : "Let's start with a warm-up."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(1)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(2)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(3)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COMMON MISTAKES (Trampas)</a:t>
            </a:r>
          </a:p>
          <a:p/>
          <a:p>
            <a:r>
              <a:rPr sz="1000">
                <a:latin typeface="Arial"/>
              </a:rPr>
              <a:t>ROLE : Erreurs frequentes hispanophones.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METHODE :</a:t>
            </a:r>
          </a:p>
          <a:p>
            <a:r>
              <a:rPr sz="1000">
                <a:latin typeface="Arial"/>
              </a:rPr>
              <a:t>1. Montrer l'erreur (X)</a:t>
            </a:r>
          </a:p>
          <a:p>
            <a:r>
              <a:rPr sz="1000">
                <a:latin typeface="Arial"/>
              </a:rPr>
              <a:t>2. Demander : "Esta correcto?"</a:t>
            </a:r>
          </a:p>
          <a:p>
            <a:r>
              <a:rPr sz="1000">
                <a:latin typeface="Arial"/>
              </a:rPr>
              <a:t>3. Ingrid corrige</a:t>
            </a:r>
          </a:p>
          <a:p>
            <a:r>
              <a:rPr sz="1000">
                <a:latin typeface="Arial"/>
              </a:rPr>
              <a:t>4. Montrer la correction (OK)</a:t>
            </a:r>
          </a:p>
          <a:p>
            <a:r>
              <a:rPr sz="1000">
                <a:latin typeface="Arial"/>
              </a:rPr>
              <a:t>5. Lire l'explication en espagnol</a:t>
            </a:r>
          </a:p>
          <a:p>
            <a:r>
              <a:rPr sz="1000">
                <a:latin typeface="Arial"/>
              </a:rPr>
              <a:t>6. Repetir 3x la forme correcte</a:t>
            </a:r>
          </a:p>
          <a:p/>
          <a:p>
            <a:r>
              <a:rPr sz="1000">
                <a:latin typeface="Arial"/>
              </a:rPr>
              <a:t>FRASES UTILES :</a:t>
            </a:r>
          </a:p>
          <a:p>
            <a:r>
              <a:rPr sz="1000">
                <a:latin typeface="Arial"/>
              </a:rPr>
              <a:t>- "Esta es una trampa muy comun."</a:t>
            </a:r>
          </a:p>
          <a:p>
            <a:r>
              <a:rPr sz="1000">
                <a:latin typeface="Arial"/>
              </a:rPr>
              <a:t>- "Cuidado con esta palabra."</a:t>
            </a:r>
          </a:p>
          <a:p>
            <a:r>
              <a:rPr sz="1000">
                <a:latin typeface="Arial"/>
              </a:rPr>
              <a:t>- "Repite conmigo 3 veces."</a:t>
            </a:r>
          </a:p>
          <a:p/>
          <a:p>
            <a:r>
              <a:rPr sz="1000">
                <a:latin typeface="Arial"/>
              </a:rPr>
              <a:t>NE PAS juger les erreurs.</a:t>
            </a:r>
          </a:p>
          <a:p>
            <a:r>
              <a:rPr sz="1000">
                <a:latin typeface="Arial"/>
              </a:rPr>
              <a:t>ENCOURAGER : "Es normal, todos lo hacemos."</a:t>
            </a:r>
          </a:p>
          <a:p/>
          <a:p>
            <a:r>
              <a:rPr sz="1000">
                <a:latin typeface="Arial"/>
              </a:rPr>
              <a:t>TRANSITION : "Ahora veamos expresiones completas."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EXPRESSIONS &amp; YOUR TURN</a:t>
            </a:r>
          </a:p>
          <a:p/>
          <a:p>
            <a:r>
              <a:rPr sz="1000">
                <a:latin typeface="Arial"/>
              </a:rPr>
              <a:t>ROLE : Blocs lexicaux + production.</a:t>
            </a:r>
          </a:p>
          <a:p>
            <a:r>
              <a:rPr sz="1000">
                <a:latin typeface="Arial"/>
              </a:rPr>
              <a:t>DUREE : 8 min</a:t>
            </a:r>
          </a:p>
          <a:p/>
          <a:p>
            <a:r>
              <a:rPr sz="1000">
                <a:latin typeface="Arial"/>
              </a:rPr>
              <a:t>PARTIE 1 - EXPRESSIONS (4 min) :</a:t>
            </a:r>
          </a:p>
          <a:p>
            <a:r>
              <a:rPr sz="1000">
                <a:latin typeface="Arial"/>
              </a:rPr>
              <a:t>1. Lire chaque expression</a:t>
            </a:r>
          </a:p>
          <a:p>
            <a:r>
              <a:rPr sz="1000">
                <a:latin typeface="Arial"/>
              </a:rPr>
              <a:t>2. Ingrid repete</a:t>
            </a:r>
          </a:p>
          <a:p>
            <a:r>
              <a:rPr sz="1000">
                <a:latin typeface="Arial"/>
              </a:rPr>
              <a:t>3. Demander : "When do you use this?"</a:t>
            </a:r>
          </a:p>
          <a:p/>
          <a:p>
            <a:r>
              <a:rPr sz="1000">
                <a:latin typeface="Arial"/>
              </a:rPr>
              <a:t>PARTIE 2 - YOUR TURN (4 min) :</a:t>
            </a:r>
          </a:p>
          <a:p>
            <a:r>
              <a:rPr sz="1000">
                <a:latin typeface="Arial"/>
              </a:rPr>
              <a:t>1. Lire la consigne</a:t>
            </a:r>
          </a:p>
          <a:p>
            <a:r>
              <a:rPr sz="1000">
                <a:latin typeface="Arial"/>
              </a:rPr>
              <a:t>2. Ingrid ecrit 1 phrase par mot</a:t>
            </a:r>
          </a:p>
          <a:p>
            <a:r>
              <a:rPr sz="1000">
                <a:latin typeface="Arial"/>
              </a:rPr>
              <a:t>3. Verifier oralement</a:t>
            </a:r>
          </a:p>
          <a:p/>
          <a:p>
            <a:r>
              <a:rPr sz="1000">
                <a:latin typeface="Arial"/>
              </a:rPr>
              <a:t>NE PAS ecrire a sa place.</a:t>
            </a:r>
          </a:p>
          <a:p>
            <a:r>
              <a:rPr sz="1000">
                <a:latin typeface="Arial"/>
              </a:rPr>
              <a:t>CORRIGER 2-3 erreurs max.</a:t>
            </a:r>
          </a:p>
          <a:p/>
          <a:p>
            <a:r>
              <a:rPr sz="1000">
                <a:latin typeface="Arial"/>
              </a:rPr>
              <a:t>TRANSITION : "Now let's look at the grammar."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PS + PC combinados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Contexto con PC, evento con PS.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PS + PC combinados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Contexto con PC, evento con PS.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PS + PC combinados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Contexto con PC, evento con PS.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PS + PC combinados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Contexto con PC, evento con PS.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PS + PC combinados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Contexto con PC, evento con PS.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SOUND : /oʊ/ vs /ɔː/</a:t>
            </a:r>
          </a:p>
          <a:p/>
          <a:p>
            <a:r>
              <a:rPr sz="1000">
                <a:latin typeface="Arial"/>
              </a:rPr>
              <a:t>ROLE : Focus phonetique.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METHODE :</a:t>
            </a:r>
          </a:p>
          <a:p>
            <a:r>
              <a:rPr sz="1000">
                <a:latin typeface="Arial"/>
              </a:rPr>
              <a:t>1. ECOUTER : prof prononce</a:t>
            </a:r>
          </a:p>
          <a:p>
            <a:r>
              <a:rPr sz="1000">
                <a:latin typeface="Arial"/>
              </a:rPr>
              <a:t>2. DISTINGUER : Ingrid identifie</a:t>
            </a:r>
          </a:p>
          <a:p>
            <a:r>
              <a:rPr sz="1000">
                <a:latin typeface="Arial"/>
              </a:rPr>
              <a:t>3. REPETER</a:t>
            </a:r>
          </a:p>
          <a:p/>
          <a:p>
            <a:r>
              <a:rPr sz="1000">
                <a:latin typeface="Arial"/>
              </a:rPr>
              <a:t>NE PAS enseigner theorie.</a:t>
            </a:r>
          </a:p>
          <a:p/>
          <a:p>
            <a:r>
              <a:rPr sz="1000">
                <a:latin typeface="Arial"/>
              </a:rPr>
              <a:t>TRANSITION : "Now let's practice in words."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PRONUNCIATION</a:t>
            </a:r>
          </a:p>
          <a:p/>
          <a:p>
            <a:r>
              <a:rPr sz="1000">
                <a:latin typeface="Arial"/>
              </a:rPr>
              <a:t>ROLE : Pratique active.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Chaque mot repete 5 fois.</a:t>
            </a:r>
          </a:p>
          <a:p>
            <a:r>
              <a:rPr sz="1000">
                <a:latin typeface="Arial"/>
              </a:rPr>
              <a:t>Prof corrige en temps reel.</a:t>
            </a:r>
          </a:p>
          <a:p>
            <a:r>
              <a:rPr sz="1000">
                <a:latin typeface="Arial"/>
              </a:rPr>
              <a:t>Enregistrer si possible.</a:t>
            </a:r>
          </a:p>
          <a:p/>
          <a:p>
            <a:r>
              <a:rPr sz="1000">
                <a:latin typeface="Arial"/>
              </a:rPr>
              <a:t>TRANSITION : "Now let's practice with exercises."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CONVERSATION (1)</a:t>
            </a:r>
          </a:p>
          <a:p/>
          <a:p>
            <a:r>
              <a:rPr sz="1000">
                <a:latin typeface="Arial"/>
              </a:rPr>
              <a:t>ROLE : Pratique orale.</a:t>
            </a:r>
          </a:p>
          <a:p>
            <a:r>
              <a:rPr sz="1000">
                <a:latin typeface="Arial"/>
              </a:rPr>
              <a:t>DUREE : 10-12 min</a:t>
            </a:r>
          </a:p>
          <a:p/>
          <a:p>
            <a:r>
              <a:rPr sz="1000">
                <a:latin typeface="Arial"/>
              </a:rPr>
              <a:t>Prof pose UNE question.</a:t>
            </a:r>
          </a:p>
          <a:p>
            <a:r>
              <a:rPr sz="1000">
                <a:latin typeface="Arial"/>
              </a:rPr>
              <a:t>Ingrid repond librement.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Corriger 2-3 erreurs APRES.</a:t>
            </a:r>
          </a:p>
          <a:p/>
          <a:p>
            <a:r>
              <a:rPr sz="1000">
                <a:latin typeface="Arial"/>
              </a:rPr>
              <a:t>FOLLOW-UP : "Really? Tell me more."</a:t>
            </a:r>
          </a:p>
          <a:p/>
          <a:p>
            <a:r>
              <a:rPr sz="1000">
                <a:latin typeface="Arial"/>
              </a:rPr>
              <a:t>TRANSITION : "Now let's listen to a short text."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CONVERSATION (2)</a:t>
            </a:r>
          </a:p>
          <a:p/>
          <a:p>
            <a:r>
              <a:rPr sz="1000">
                <a:latin typeface="Arial"/>
              </a:rPr>
              <a:t>ROLE : Pratique orale.</a:t>
            </a:r>
          </a:p>
          <a:p>
            <a:r>
              <a:rPr sz="1000">
                <a:latin typeface="Arial"/>
              </a:rPr>
              <a:t>DUREE : 10-12 min</a:t>
            </a:r>
          </a:p>
          <a:p/>
          <a:p>
            <a:r>
              <a:rPr sz="1000">
                <a:latin typeface="Arial"/>
              </a:rPr>
              <a:t>Prof pose UNE question.</a:t>
            </a:r>
          </a:p>
          <a:p>
            <a:r>
              <a:rPr sz="1000">
                <a:latin typeface="Arial"/>
              </a:rPr>
              <a:t>Ingrid repond librement.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Corriger 2-3 erreurs APRES.</a:t>
            </a:r>
          </a:p>
          <a:p/>
          <a:p>
            <a:r>
              <a:rPr sz="1000">
                <a:latin typeface="Arial"/>
              </a:rPr>
              <a:t>FOLLOW-UP : "Really? Tell me more."</a:t>
            </a:r>
          </a:p>
          <a:p/>
          <a:p>
            <a:r>
              <a:rPr sz="1000">
                <a:latin typeface="Arial"/>
              </a:rPr>
              <a:t>TRANSITION : "Now let's listen to a short text."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LISTENING TEXT : Text</a:t>
            </a:r>
          </a:p>
          <a:p/>
          <a:p>
            <a:r>
              <a:rPr sz="1000">
                <a:latin typeface="Arial"/>
              </a:rPr>
              <a:t>ROLE : Comprehension.</a:t>
            </a:r>
          </a:p>
          <a:p>
            <a:r>
              <a:rPr sz="1000">
                <a:latin typeface="Arial"/>
              </a:rPr>
              <a:t>DUREE : 4 min</a:t>
            </a:r>
          </a:p>
          <a:p/>
          <a:p>
            <a:r>
              <a:rPr sz="1000">
                <a:latin typeface="Arial"/>
              </a:rPr>
              <a:t>2 LECTURES :</a:t>
            </a:r>
          </a:p>
          <a:p>
            <a:r>
              <a:rPr sz="1000">
                <a:latin typeface="Arial"/>
              </a:rPr>
              <a:t>1ere : GLOBALE (sans ecrire)</a:t>
            </a:r>
          </a:p>
          <a:p>
            <a:r>
              <a:rPr sz="1000">
                <a:latin typeface="Arial"/>
              </a:rPr>
              <a:t>2eme : DETAILLEE</a:t>
            </a:r>
          </a:p>
          <a:p/>
          <a:p>
            <a:r>
              <a:rPr sz="1000">
                <a:latin typeface="Arial"/>
              </a:rPr>
              <a:t>NE PAS montrer le texte.</a:t>
            </a:r>
          </a:p>
          <a:p>
            <a:r>
              <a:rPr sz="1000">
                <a:latin typeface="Arial"/>
              </a:rPr>
              <a:t>LIRE lentement.</a:t>
            </a:r>
          </a:p>
          <a:p/>
          <a:p>
            <a:r>
              <a:rPr sz="1000">
                <a:latin typeface="Arial"/>
              </a:rPr>
              <a:t>TRANSITION : "Now let's answer the questions."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LISTENING QUESTIONS</a:t>
            </a:r>
          </a:p>
          <a:p/>
          <a:p>
            <a:r>
              <a:rPr sz="1000">
                <a:latin typeface="Arial"/>
              </a:rPr>
              <a:t>ROLE : Comprehension detaillee.</a:t>
            </a:r>
          </a:p>
          <a:p>
            <a:r>
              <a:rPr sz="1000">
                <a:latin typeface="Arial"/>
              </a:rPr>
              <a:t>DUREE : 4 min</a:t>
            </a:r>
          </a:p>
          <a:p/>
          <a:p>
            <a:r>
              <a:rPr sz="1000">
                <a:latin typeface="Arial"/>
              </a:rPr>
              <a:t>Ingrid repond en PHRASE COMPLETE.</a:t>
            </a:r>
          </a:p>
          <a:p>
            <a:r>
              <a:rPr sz="1000">
                <a:latin typeface="Arial"/>
              </a:rPr>
              <a:t>Corriger apres.</a:t>
            </a:r>
          </a:p>
          <a:p/>
          <a:p>
            <a:r>
              <a:rPr sz="1000">
                <a:latin typeface="Arial"/>
              </a:rPr>
              <a:t>TRANSITION : "Now it's your turn to speak."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SPEAKING CHALLENGE : Challenge</a:t>
            </a:r>
          </a:p>
          <a:p/>
          <a:p>
            <a:r>
              <a:rPr sz="1000">
                <a:latin typeface="Arial"/>
              </a:rPr>
              <a:t>ROLE : Production orale.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TIMING :</a:t>
            </a:r>
          </a:p>
          <a:p>
            <a:r>
              <a:rPr sz="1000">
                <a:latin typeface="Arial"/>
              </a:rPr>
              <a:t>- 0:45 Explication</a:t>
            </a:r>
          </a:p>
          <a:p>
            <a:r>
              <a:rPr sz="1000">
                <a:latin typeface="Arial"/>
              </a:rPr>
              <a:t>- 0:45 Preparation mentale (silence)</a:t>
            </a:r>
          </a:p>
          <a:p>
            <a:r>
              <a:rPr sz="1000">
                <a:latin typeface="Arial"/>
              </a:rPr>
              <a:t>- 2:00 Monologue</a:t>
            </a:r>
          </a:p>
          <a:p>
            <a:r>
              <a:rPr sz="1000">
                <a:latin typeface="Arial"/>
              </a:rPr>
              <a:t>- 2:00 Feedback (2+1)</a:t>
            </a:r>
          </a:p>
          <a:p>
            <a:r>
              <a:rPr sz="1000">
                <a:latin typeface="Arial"/>
              </a:rPr>
              <a:t>- 0:30 Re-record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"Okay Ingrid, YOUR turn.</a:t>
            </a:r>
          </a:p>
          <a:p>
            <a:r>
              <a:rPr sz="1000">
                <a:latin typeface="Arial"/>
              </a:rPr>
              <a:t>Talk for 2 minutes.</a:t>
            </a:r>
          </a:p>
          <a:p>
            <a:r>
              <a:rPr sz="1000">
                <a:latin typeface="Arial"/>
              </a:rPr>
              <a:t>Use: PS + PC combinados and when, while, suddenly.</a:t>
            </a:r>
          </a:p>
          <a:p>
            <a:r>
              <a:rPr sz="1000">
                <a:latin typeface="Arial"/>
              </a:rPr>
              <a:t>Take 45 sec to think. Ready?"</a:t>
            </a:r>
          </a:p>
          <a:p/>
          <a:p>
            <a:r>
              <a:rPr sz="1000">
                <a:latin typeface="Arial"/>
              </a:rPr>
              <a:t>OBSERVER :</a:t>
            </a:r>
          </a:p>
          <a:p>
            <a:r>
              <a:rPr sz="1000">
                <a:latin typeface="Arial"/>
              </a:rPr>
              <a:t>- PS + PC combinados min 3 fois</a:t>
            </a:r>
          </a:p>
          <a:p>
            <a:r>
              <a:rPr sz="1000">
                <a:latin typeface="Arial"/>
              </a:rPr>
              <a:t>- when, while, suddenly min 3 fois</a:t>
            </a:r>
          </a:p>
          <a:p>
            <a:r>
              <a:rPr sz="1000">
                <a:latin typeface="Arial"/>
              </a:rPr>
              <a:t>- Duree 60-90 sec</a:t>
            </a:r>
          </a:p>
          <a:p>
            <a:r>
              <a:rPr sz="1000">
                <a:latin typeface="Arial"/>
              </a:rPr>
              <a:t>- Pauses &lt; 5 sec</a:t>
            </a:r>
          </a:p>
          <a:p/>
          <a:p>
            <a:r>
              <a:rPr sz="1000">
                <a:latin typeface="Arial"/>
              </a:rPr>
              <a:t>FEEDBACK (2+1) :</a:t>
            </a:r>
          </a:p>
          <a:p>
            <a:r>
              <a:rPr sz="1000">
                <a:latin typeface="Arial"/>
              </a:rPr>
              <a:t>1. Compliment CONCRET</a:t>
            </a:r>
          </a:p>
          <a:p>
            <a:r>
              <a:rPr sz="1000">
                <a:latin typeface="Arial"/>
              </a:rPr>
              <a:t>2. Compliment CONCRET</a:t>
            </a:r>
          </a:p>
          <a:p>
            <a:r>
              <a:rPr sz="1000">
                <a:latin typeface="Arial"/>
              </a:rPr>
              <a:t>3. UNE correction -&gt; repeter 2 fois</a:t>
            </a:r>
          </a:p>
          <a:p/>
          <a:p>
            <a:r>
              <a:rPr sz="1000">
                <a:latin typeface="Arial"/>
              </a:rPr>
              <a:t>NE PAS interrompre.</a:t>
            </a:r>
          </a:p>
          <a:p/>
          <a:p>
            <a:r>
              <a:rPr sz="1000">
                <a:latin typeface="Arial"/>
              </a:rPr>
              <a:t>TRANSITION : "Now let's write about this."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WRITING REQUIREMENTS</a:t>
            </a:r>
          </a:p>
          <a:p/>
          <a:p>
            <a:r>
              <a:rPr sz="1000">
                <a:latin typeface="Arial"/>
              </a:rPr>
              <a:t>ROLE : Preparer ecrit.</a:t>
            </a:r>
          </a:p>
          <a:p>
            <a:r>
              <a:rPr sz="1000">
                <a:latin typeface="Arial"/>
              </a:rPr>
              <a:t>DUREE : 3 min</a:t>
            </a:r>
          </a:p>
          <a:p/>
          <a:p>
            <a:r>
              <a:rPr sz="1000">
                <a:latin typeface="Arial"/>
              </a:rPr>
              <a:t>5 ETAPES :</a:t>
            </a:r>
          </a:p>
          <a:p>
            <a:r>
              <a:rPr sz="1000">
                <a:latin typeface="Arial"/>
              </a:rPr>
              <a:t>1. Brainstorming (3 min)</a:t>
            </a:r>
          </a:p>
          <a:p>
            <a:r>
              <a:rPr sz="1000">
                <a:latin typeface="Arial"/>
              </a:rPr>
              <a:t>2. Borrador (10 min)</a:t>
            </a:r>
          </a:p>
          <a:p>
            <a:r>
              <a:rPr sz="1000">
                <a:latin typeface="Arial"/>
              </a:rPr>
              <a:t>3. Revision (5 min)</a:t>
            </a:r>
          </a:p>
          <a:p>
            <a:r>
              <a:rPr sz="1000">
                <a:latin typeface="Arial"/>
              </a:rPr>
              <a:t>4. Edicion (5 min)</a:t>
            </a:r>
          </a:p>
          <a:p>
            <a:r>
              <a:rPr sz="1000">
                <a:latin typeface="Arial"/>
              </a:rPr>
              <a:t>5. Publicacion (5 min)</a:t>
            </a:r>
          </a:p>
          <a:p/>
          <a:p>
            <a:r>
              <a:rPr sz="1000">
                <a:latin typeface="Arial"/>
              </a:rPr>
              <a:t>FOCUS : PS + PC combinados + when, while, suddenly</a:t>
            </a:r>
          </a:p>
          <a:p/>
          <a:p>
            <a:r>
              <a:rPr sz="1000">
                <a:latin typeface="Arial"/>
              </a:rPr>
              <a:t>NE PAS ecrire a sa place.</a:t>
            </a:r>
          </a:p>
          <a:p/>
          <a:p>
            <a:r>
              <a:rPr sz="1000">
                <a:latin typeface="Arial"/>
              </a:rPr>
              <a:t>TRANSITION : "Now let's look at the template."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WRITING TEMPLATE</a:t>
            </a:r>
          </a:p>
          <a:p/>
          <a:p>
            <a:r>
              <a:rPr sz="1000">
                <a:latin typeface="Arial"/>
              </a:rPr>
              <a:t>ROLE : Guide structurel.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Ingrid ecrit sur papier.</a:t>
            </a:r>
          </a:p>
          <a:p>
            <a:r>
              <a:rPr sz="1000">
                <a:latin typeface="Arial"/>
              </a:rPr>
              <a:t>Suit le template.</a:t>
            </a:r>
          </a:p>
          <a:p>
            <a:r>
              <a:rPr sz="1000">
                <a:latin typeface="Arial"/>
              </a:rPr>
              <a:t>Complete les blancs.</a:t>
            </a:r>
          </a:p>
          <a:p/>
          <a:p>
            <a:r>
              <a:rPr sz="1000">
                <a:latin typeface="Arial"/>
              </a:rPr>
              <a:t>VERIFIER a la fin.</a:t>
            </a:r>
          </a:p>
          <a:p/>
          <a:p>
            <a:r>
              <a:rPr sz="1000">
                <a:latin typeface="Arial"/>
              </a:rPr>
              <a:t>TRANSITION : "Now let's check your progress."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CHECKPOINT</a:t>
            </a:r>
          </a:p>
          <a:p/>
          <a:p>
            <a:r>
              <a:rPr sz="1000">
                <a:latin typeface="Arial"/>
              </a:rPr>
              <a:t>ROLE : Auto-evaluation.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Lire chaque critere.</a:t>
            </a:r>
          </a:p>
          <a:p>
            <a:r>
              <a:rPr sz="1000">
                <a:latin typeface="Arial"/>
              </a:rPr>
              <a:t>Ingrid repond honnetement.</a:t>
            </a:r>
          </a:p>
          <a:p/>
          <a:p>
            <a:r>
              <a:rPr sz="1000">
                <a:latin typeface="Arial"/>
              </a:rPr>
              <a:t>NE PAS juger.</a:t>
            </a:r>
          </a:p>
          <a:p/>
          <a:p>
            <a:r>
              <a:rPr sz="1000">
                <a:latin typeface="Arial"/>
              </a:rPr>
              <a:t>TRANSITION : "Now let's reflect."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(1)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PRACTICE (1)</a:t>
            </a:r>
          </a:p>
          <a:p/>
          <a:p>
            <a:r>
              <a:rPr sz="1000">
                <a:latin typeface="Arial"/>
              </a:rPr>
              <a:t>ROLE : Pratique controlee.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1. ORAL d'abord</a:t>
            </a:r>
          </a:p>
          <a:p>
            <a:r>
              <a:rPr sz="1000">
                <a:latin typeface="Arial"/>
              </a:rPr>
              <a:t>2. ECRIT ensuite</a:t>
            </a:r>
          </a:p>
          <a:p>
            <a:r>
              <a:rPr sz="1000">
                <a:latin typeface="Arial"/>
              </a:rPr>
              <a:t>3. CORRECTION en temps reel</a:t>
            </a:r>
          </a:p>
          <a:p/>
          <a:p>
            <a:r>
              <a:rPr sz="1000">
                <a:latin typeface="Arial"/>
              </a:rPr>
              <a:t>Ne pas donner la reponse.</a:t>
            </a:r>
          </a:p>
          <a:p>
            <a:r>
              <a:rPr sz="1000">
                <a:latin typeface="Arial"/>
              </a:rPr>
              <a:t>Laisser 5-10 secondes.</a:t>
            </a:r>
          </a:p>
          <a:p>
            <a:r>
              <a:rPr sz="1000">
                <a:latin typeface="Arial"/>
              </a:rPr>
              <a:t>MAX 3 corrections.</a:t>
            </a:r>
          </a:p>
          <a:p/>
          <a:p>
            <a:r>
              <a:rPr sz="1000">
                <a:latin typeface="Arial"/>
              </a:rPr>
              <a:t>TRANSITION : "Now let's use these in conversation."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PRONUNCIATION</a:t>
            </a:r>
          </a:p>
          <a:p/>
          <a:p>
            <a:r>
              <a:rPr sz="1000">
                <a:latin typeface="Arial"/>
              </a:rPr>
              <a:t>ROLE : Pratique active.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Chaque mot repete 5 fois.</a:t>
            </a:r>
          </a:p>
          <a:p>
            <a:r>
              <a:rPr sz="1000">
                <a:latin typeface="Arial"/>
              </a:rPr>
              <a:t>Prof corrige en temps reel.</a:t>
            </a:r>
          </a:p>
          <a:p>
            <a:r>
              <a:rPr sz="1000">
                <a:latin typeface="Arial"/>
              </a:rPr>
              <a:t>Enregistrer si possible.</a:t>
            </a:r>
          </a:p>
          <a:p/>
          <a:p>
            <a:r>
              <a:rPr sz="1000">
                <a:latin typeface="Arial"/>
              </a:rPr>
              <a:t>TRANSITION : "Now let's practice with exercises."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THANKS</a:t>
            </a:r>
          </a:p>
          <a:p/>
          <a:p>
            <a:r>
              <a:rPr sz="1000">
                <a:latin typeface="Arial"/>
              </a:rPr>
              <a:t>ROLE : Cloture.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"Excellent work today, Ingrid!</a:t>
            </a:r>
          </a:p>
          <a:p>
            <a:r>
              <a:rPr sz="1000">
                <a:latin typeface="Arial"/>
              </a:rPr>
              <a:t>You've completed Class 10.</a:t>
            </a:r>
          </a:p>
          <a:p>
            <a:r>
              <a:rPr sz="1000">
                <a:latin typeface="Arial"/>
              </a:rPr>
              <a:t>See you next time."</a:t>
            </a:r>
          </a:p>
          <a:p/>
          <a:p>
            <a:r>
              <a:rPr sz="1000">
                <a:latin typeface="Arial"/>
              </a:rPr>
              <a:t>Rappeler : Class 11</a:t>
            </a:r>
          </a:p>
          <a:p/>
          <a:p>
            <a:r>
              <a:rPr sz="1000">
                <a:latin typeface="Arial"/>
              </a:rPr>
              <a:t>TERMINER sur une note positive.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804672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3D1F5C"/>
                </a:solidFill>
                <a:latin typeface="Arial"/>
              </a:rPr>
              <a:t>I WAS WALKING WHEN...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8046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Ingrid - English - Class 10</a:t>
            </a:r>
          </a:p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Profesor: Jean Thomas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Welcome!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OVERVIEW — Today's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08760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Combine PS and PC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21992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221992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Use when, while, suddenly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35224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935224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Tell a story with interrupted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48456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648456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Structure a narrative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61688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361688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Use narrative connectors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74920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074920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Tell a story in 90-120 sec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GOAL: Speak with confidence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Answer orally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What were you doing when the phone rang?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50591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50591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What were you doing when it started to rain?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46703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346703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What were you doing when you saw your friend?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42816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42816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Has something strange ever happened to you?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138927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138927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Can you tell me a short story?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without looking at your notes.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VOCABULARY — Narrative Verbs (1/3)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suddenly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de repente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suddenly I saw  + suddenly he appeared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"Suddenly, I saw a small dog."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'in suddenly'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fortunately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afortunadamente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fortunately, I had  + fortunately, someone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"Fortunately, I had my phone with me."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'by fortunately'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1655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unfortunately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41655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desafortunadamente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41655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41655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80060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unfortunately, I forgot  + unfortunately,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09320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"Unfortunately, I forgot my umbrella."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534924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'unfortunately to me'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Read aloud. Practice collocations.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VOCABULARY — Narrative Verbs (2/3)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luckily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por suerte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IMPORTANT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luckily, I found  + luckily, 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"Luckily, I found my keys."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'by luckily'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I realized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me di cuenta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I realized that  + I realized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realized it was a mistake."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'I realized me'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1655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I noticed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41655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note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416552"/>
            <a:ext cx="155448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41655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IMPORTANT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80060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I noticed that  + I noticed something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09320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noticed something strange."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534924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'I noticed to something'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Read aloud. Practice collocations.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VOCABULARY — Narrative Verbs (3/3)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I heard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escuche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I heard a noise  + I heard something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heard a loud noise."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'I heard to a noise'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I saw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vi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I saw a person  + I saw something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saw a strange light."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'I saw to something'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1655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I felt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41655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sentí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41655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41655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80060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I felt scared  + I felt happy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09320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felt scared but I stayed calm."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534924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'I felt me scared'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Read aloud. Practice collocations.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⚠️  COMMON MISTAKES — Avoid these!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I realized me it was a mistake.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9280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I realized it was a mistake.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'Realize' no lleva pronombre reflexivo.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I felt me scared.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9008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I felt scared.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2841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'Feel' no lleva 'me' delante.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0332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49039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I listened a noise.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8736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I heard a noise.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2569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'Hear' = oír (sin intención). 'Listen' = escuchar (con atención).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0060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Suddenly I saw, I ran.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8464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Suddenly, I saw something and I ran.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2297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'Suddenly' va al inicio, seguido de oración completa.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Repeat after me. Don't make these mistakes!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EXPRESSIONS &amp; YOUR TURN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EXPRESSIONS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965960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First, I was walking home.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13432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Then, I saw something strange.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60903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Suddenly, a dog ran towards 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008375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After that, I called my friend.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55847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Finally, everything was fine.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8046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05072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🎯  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389120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1.  Last Saturday I was  -&gt; ________________________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70915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2.  Suddenly, I saw      -&gt; ________________________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02919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3.  Fortunately,         -&gt; ________________________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534923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4.  Then, I              -&gt; ________________________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566927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5.  Finally,             -&gt; ________________________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Write your own sentences.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Narrative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CONTEXT (Past Continuous)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-&gt; EVENT (Past Simple)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-&gt; CONSEQUENCE (Past Simple)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Context with PC, event with 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Narrative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 WAS WALKING home WHEN I SAW an accident.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She WAS COOKING when the phone RANG.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They WERE PLAYING soccer when it STARTED to rain.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Context with PC, event with 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Narrative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SETTING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It was a beautiful day.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The sun was shining.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 was walking in the park.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Context with PC, event with 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Narr Connectors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CONNECTORS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first = primero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then = luego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after that = despues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suddenly = de repente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while = mientras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when = cuando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as soon as = tan pronto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finally = finalmente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Connectors make stories flow.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Narr Connectors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EXAMPLE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FIRST, I was walking home.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THEN, I saw something strange.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SUDDENLY, a dog ran towards me.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AFTER THAT, I called my friend.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FINALLY, everything was fine.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Connectors make stories flow.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SOUND — /oʊ/ vs /ɔː/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691640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coat - caught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50008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50008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boat - bought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08376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008376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note - naught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66744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666744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so - saw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25112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4325112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low - law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/oʊ/ diphthong vs /ɔː/ long vowel.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PRONUNCIATION — Practice /oʊ/ vs /ɔː/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coat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/koʊt/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caught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/kɔːt/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290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/soʊ/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3434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saw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/sɔː/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Record yourself and compare.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PRACTICE — Complete (1/2)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1. I was walking. I saw an accident. (combine)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2. She was cooking. The phone rang. (combine)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3. They were playing. It started to rain. (combine)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891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4. He was sleeping. The alarm went off. (combine)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orally first.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PRACTICE — Complete (2/2)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5. Yesterday, I ___ (walk) home.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6. It ___ (rain) and I ___ (not have) umbrella.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7. While I ___ (run), I ___ (drop) my phone.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891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8. A man ___ (see) it and ___ (pick) it up.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orally first.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Conversation (1/2)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 were you doing when the phone rang?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 was ____ when ____.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39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79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Where were you going?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8999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 was going to ____.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 happened next?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____.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naturally.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Conversation (2/2)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Who was with you?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____ was with 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39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79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 time did it happen?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8999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It happened at ____.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How did you feel?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 felt ____.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naturally.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LISTENING — A Story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57400"/>
            <a:ext cx="749808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Last Saturday, I was walking in the park. The sun was shining and people were playing with their dogs. Suddenly, I saw a small dog running towards me. It was lost. Fortunately, it had a collar with a phone number. I called the number and the owner came immediately. Finally, the dog and its owner were happy.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Listen carefully to the text.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LISTENING — Answer the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1. What was the speaker doing?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2. What was the weather like?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9544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3. What did the speaker see suddenly?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14215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4. What did the speaker do?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18888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5. How did the story end?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in complete sentences.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CHALLENGE — My Story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4 PC sentences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5 PS sentences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15468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5468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when, while, suddenly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93192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first, then, after that, finally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709159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709159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1 negative sentence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1-2 minutes. No memorization.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WRITING — 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3931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6B35"/>
                </a:solidFill>
                <a:latin typeface="Arial"/>
              </a:rPr>
              <a:t>120-150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TIME: 30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508760"/>
            <a:ext cx="3931920" cy="100584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55448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6B35"/>
                </a:solidFill>
                <a:latin typeface="Arial"/>
              </a:rPr>
              <a:t>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92024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Arial"/>
              </a:rPr>
              <a:t>Narration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80467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200400"/>
            <a:ext cx="75895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- 4 PC sentences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- 5 PS sentences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when, while, suddenly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first, then, after that, finally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- 1 negative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Follow the requirements.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WRITING — Template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8046720" cy="4343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7406640" cy="39776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MY STORY   —   By: ____________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Last ____________, I was ____________.</a:t>
            </a: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The sun was ____________ and people were ____________.</a:t>
            </a: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Suddenly, I saw ____________.</a:t>
            </a: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Fortunately, ____________.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Then, I ____________.</a:t>
            </a: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After that, I ____________.</a:t>
            </a: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Finally, ____________.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It was a ____________ experience.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Use this template to write.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CHECKPOINT — Rate your 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combine PS and PC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use when, while, suddenly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9544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structure a narrative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14215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use narrative connectors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18888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tell a story in 90-120 sec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Be honest with yourself.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SELF-EVALUATION — Rate (1-4)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Vocabulary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04872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Past Continuous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09544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Past Simple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14215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Connectors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818888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Fluency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Reflect on your learning.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RESOURCES — Keep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PODCASTS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1168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Luke's English Podcast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7744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Story Brew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4320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The English Campfire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0040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VIDEOS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70332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English with Lucy — Narrative Tenses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6052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6052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APPS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66344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LyricsTraining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02920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Quizlet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Practice every day.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HOMEWORK — Your tasks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WRITING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14884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Write a story of 10-12 sentences.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20040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Record yourself telling a story (90-120 sec).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PRONUNCIATION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25196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Practice /oʊ/ vs /ɔː/.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75488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30352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Practice narrative tenses.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Deadline: ____________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6400800" cy="1645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64008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Arial"/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8046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3D1F5C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1">
                <a:solidFill>
                  <a:srgbClr val="000000"/>
                </a:solidFill>
                <a:latin typeface="Arial"/>
              </a:rPr>
              <a:t>You've completed this class!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029200"/>
            <a:ext cx="6400800" cy="7315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6400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NEXT: CLASS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Congratulations!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