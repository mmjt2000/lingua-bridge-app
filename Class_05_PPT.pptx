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>
                <a:latin typeface="Arial"/>
              </a:rPr>
              <a:t>SLIDE - COVER (Class 05)</a:t>
            </a:r>
          </a:p>
          <a:p/>
          <a:p>
            <a:r>
              <a:rPr sz="1000">
                <a:latin typeface="Arial"/>
              </a:rPr>
              <a:t>ROLE : Ouverture.</a:t>
            </a:r>
          </a:p>
          <a:p>
            <a:r>
              <a:rPr sz="1000">
                <a:latin typeface="Arial"/>
              </a:rPr>
              <a:t>DUREE : 2 min</a:t>
            </a:r>
          </a:p>
          <a:p/>
          <a:p>
            <a:r>
              <a:rPr sz="1000">
                <a:latin typeface="Arial"/>
              </a:rPr>
              <a:t>SCRIPT :</a:t>
            </a:r>
          </a:p>
          <a:p>
            <a:r>
              <a:rPr sz="1000">
                <a:latin typeface="Arial"/>
              </a:rPr>
              <a:t>"Hello Ingrid! Welcome to Class 05.</a:t>
            </a:r>
          </a:p>
          <a:p>
            <a:r>
              <a:rPr sz="1000">
                <a:latin typeface="Arial"/>
              </a:rPr>
              <a:t>Today: Present Continuous futuro. Ready?"</a:t>
            </a:r>
          </a:p>
          <a:p/>
          <a:p>
            <a:r>
              <a:rPr sz="1000">
                <a:latin typeface="Arial"/>
              </a:rPr>
              <a:t>ACTIONS :</a:t>
            </a:r>
          </a:p>
          <a:p>
            <a:r>
              <a:rPr sz="1000">
                <a:latin typeface="Arial"/>
              </a:rPr>
              <a:t>- Verifier Teams</a:t>
            </a:r>
          </a:p>
          <a:p>
            <a:r>
              <a:rPr sz="1000">
                <a:latin typeface="Arial"/>
              </a:rPr>
              <a:t>- Small talk 30 sec</a:t>
            </a:r>
          </a:p>
          <a:p>
            <a:r>
              <a:rPr sz="1000">
                <a:latin typeface="Arial"/>
              </a:rPr>
              <a:t>- Annoncer 90 min</a:t>
            </a:r>
          </a:p>
          <a:p/>
          <a:p>
            <a:r>
              <a:rPr sz="1000">
                <a:latin typeface="Arial"/>
              </a:rPr>
              <a:t>TRANSITION : "Let's start with the objectives."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>
                <a:latin typeface="Arial"/>
              </a:rPr>
              <a:t>SLIDE - OVERVIEW</a:t>
            </a:r>
          </a:p>
          <a:p/>
          <a:p>
            <a:r>
              <a:rPr sz="1000">
                <a:latin typeface="Arial"/>
              </a:rPr>
              <a:t>ROLE : Annoncer objectifs.</a:t>
            </a:r>
          </a:p>
          <a:p>
            <a:r>
              <a:rPr sz="1000">
                <a:latin typeface="Arial"/>
              </a:rPr>
              <a:t>DUREE : 3 min</a:t>
            </a:r>
          </a:p>
          <a:p/>
          <a:p>
            <a:r>
              <a:rPr sz="1000">
                <a:latin typeface="Arial"/>
              </a:rPr>
              <a:t>Lire chaque objectif a voix haute.</a:t>
            </a:r>
          </a:p>
          <a:p>
            <a:r>
              <a:rPr sz="1000">
                <a:latin typeface="Arial"/>
              </a:rPr>
              <a:t>Ne pas expliquer.</a:t>
            </a:r>
          </a:p>
          <a:p/>
          <a:p>
            <a:r>
              <a:rPr sz="1000">
                <a:latin typeface="Arial"/>
              </a:rPr>
              <a:t>DIRE : "By the end of today, you will be able to do all of this."</a:t>
            </a:r>
          </a:p>
          <a:p/>
          <a:p>
            <a:r>
              <a:rPr sz="1000">
                <a:latin typeface="Arial"/>
              </a:rPr>
              <a:t>TRANSITION : "Let's start with a warm-up."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>
                <a:latin typeface="Arial"/>
              </a:rPr>
              <a:t>SLIDE - WARM-UP</a:t>
            </a:r>
          </a:p>
          <a:p/>
          <a:p>
            <a:r>
              <a:rPr sz="1000">
                <a:latin typeface="Arial"/>
              </a:rPr>
              <a:t>ROLE : Activer connaissances.</a:t>
            </a:r>
          </a:p>
          <a:p>
            <a:r>
              <a:rPr sz="1000">
                <a:latin typeface="Arial"/>
              </a:rPr>
              <a:t>DUREE : 10 min</a:t>
            </a:r>
          </a:p>
          <a:p/>
          <a:p>
            <a:r>
              <a:rPr sz="1000">
                <a:latin typeface="Arial"/>
              </a:rPr>
              <a:t>Ingrid repond ORALEMENT sans notes.</a:t>
            </a:r>
          </a:p>
          <a:p>
            <a:r>
              <a:rPr sz="1000">
                <a:latin typeface="Arial"/>
              </a:rPr>
              <a:t>Ne pas interrompre.</a:t>
            </a:r>
          </a:p>
          <a:p>
            <a:r>
              <a:rPr sz="1000">
                <a:latin typeface="Arial"/>
              </a:rPr>
              <a:t>Max 2-3 corrections apres.</a:t>
            </a:r>
          </a:p>
          <a:p/>
          <a:p>
            <a:r>
              <a:rPr sz="1000">
                <a:latin typeface="Arial"/>
              </a:rPr>
              <a:t>TRANSITION : "Now let's look at new vocabulary."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>
                <a:latin typeface="Arial"/>
              </a:rPr>
              <a:t>SLIDE - VOCABULARY (1)</a:t>
            </a:r>
          </a:p>
          <a:p/>
          <a:p>
            <a:r>
              <a:rPr sz="1000">
                <a:latin typeface="Arial"/>
              </a:rPr>
              <a:t>ROLE : Introduire vocabulaire.</a:t>
            </a:r>
          </a:p>
          <a:p>
            <a:r>
              <a:rPr sz="1000">
                <a:latin typeface="Arial"/>
              </a:rPr>
              <a:t>DUREE : 8-10 min</a:t>
            </a:r>
          </a:p>
          <a:p/>
          <a:p>
            <a:r>
              <a:rPr sz="1000">
                <a:latin typeface="Arial"/>
              </a:rPr>
              <a:t>METHODE 3 ETAPES :</a:t>
            </a:r>
          </a:p>
          <a:p>
            <a:r>
              <a:rPr sz="1000">
                <a:latin typeface="Arial"/>
              </a:rPr>
              <a:t>1. Prof dit -&gt; Ingrid repete</a:t>
            </a:r>
          </a:p>
          <a:p>
            <a:r>
              <a:rPr sz="1000">
                <a:latin typeface="Arial"/>
              </a:rPr>
              <a:t>2. Prof traduit</a:t>
            </a:r>
          </a:p>
          <a:p>
            <a:r>
              <a:rPr sz="1000">
                <a:latin typeface="Arial"/>
              </a:rPr>
              <a:t>3. Ingrid fait une phrase</a:t>
            </a:r>
          </a:p>
          <a:p/>
          <a:p>
            <a:r>
              <a:rPr sz="1000">
                <a:latin typeface="Arial"/>
              </a:rPr>
              <a:t>NE PAS lire simplement.</a:t>
            </a:r>
          </a:p>
          <a:p>
            <a:r>
              <a:rPr sz="1000">
                <a:latin typeface="Arial"/>
              </a:rPr>
              <a:t>TOUJOURS prononcer + utiliser.</a:t>
            </a:r>
          </a:p>
          <a:p/>
          <a:p>
            <a:r>
              <a:rPr sz="1000">
                <a:latin typeface="Arial"/>
              </a:rPr>
              <a:t>TRANSITION : "Now let's look at common mistakes."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>
                <a:latin typeface="Arial"/>
              </a:rPr>
              <a:t>SLIDE - VOCABULARY (2)</a:t>
            </a:r>
          </a:p>
          <a:p/>
          <a:p>
            <a:r>
              <a:rPr sz="1000">
                <a:latin typeface="Arial"/>
              </a:rPr>
              <a:t>ROLE : Introduire vocabulaire.</a:t>
            </a:r>
          </a:p>
          <a:p>
            <a:r>
              <a:rPr sz="1000">
                <a:latin typeface="Arial"/>
              </a:rPr>
              <a:t>DUREE : 8-10 min</a:t>
            </a:r>
          </a:p>
          <a:p/>
          <a:p>
            <a:r>
              <a:rPr sz="1000">
                <a:latin typeface="Arial"/>
              </a:rPr>
              <a:t>METHODE 3 ETAPES :</a:t>
            </a:r>
          </a:p>
          <a:p>
            <a:r>
              <a:rPr sz="1000">
                <a:latin typeface="Arial"/>
              </a:rPr>
              <a:t>1. Prof dit -&gt; Ingrid repete</a:t>
            </a:r>
          </a:p>
          <a:p>
            <a:r>
              <a:rPr sz="1000">
                <a:latin typeface="Arial"/>
              </a:rPr>
              <a:t>2. Prof traduit</a:t>
            </a:r>
          </a:p>
          <a:p>
            <a:r>
              <a:rPr sz="1000">
                <a:latin typeface="Arial"/>
              </a:rPr>
              <a:t>3. Ingrid fait une phrase</a:t>
            </a:r>
          </a:p>
          <a:p/>
          <a:p>
            <a:r>
              <a:rPr sz="1000">
                <a:latin typeface="Arial"/>
              </a:rPr>
              <a:t>NE PAS lire simplement.</a:t>
            </a:r>
          </a:p>
          <a:p>
            <a:r>
              <a:rPr sz="1000">
                <a:latin typeface="Arial"/>
              </a:rPr>
              <a:t>TOUJOURS prononcer + utiliser.</a:t>
            </a:r>
          </a:p>
          <a:p/>
          <a:p>
            <a:r>
              <a:rPr sz="1000">
                <a:latin typeface="Arial"/>
              </a:rPr>
              <a:t>TRANSITION : "Now let's look at common mistakes."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>
                <a:latin typeface="Arial"/>
              </a:rPr>
              <a:t>SLIDE - VOCABULARY (3)</a:t>
            </a:r>
          </a:p>
          <a:p/>
          <a:p>
            <a:r>
              <a:rPr sz="1000">
                <a:latin typeface="Arial"/>
              </a:rPr>
              <a:t>ROLE : Introduire vocabulaire.</a:t>
            </a:r>
          </a:p>
          <a:p>
            <a:r>
              <a:rPr sz="1000">
                <a:latin typeface="Arial"/>
              </a:rPr>
              <a:t>DUREE : 8-10 min</a:t>
            </a:r>
          </a:p>
          <a:p/>
          <a:p>
            <a:r>
              <a:rPr sz="1000">
                <a:latin typeface="Arial"/>
              </a:rPr>
              <a:t>METHODE 3 ETAPES :</a:t>
            </a:r>
          </a:p>
          <a:p>
            <a:r>
              <a:rPr sz="1000">
                <a:latin typeface="Arial"/>
              </a:rPr>
              <a:t>1. Prof dit -&gt; Ingrid repete</a:t>
            </a:r>
          </a:p>
          <a:p>
            <a:r>
              <a:rPr sz="1000">
                <a:latin typeface="Arial"/>
              </a:rPr>
              <a:t>2. Prof traduit</a:t>
            </a:r>
          </a:p>
          <a:p>
            <a:r>
              <a:rPr sz="1000">
                <a:latin typeface="Arial"/>
              </a:rPr>
              <a:t>3. Ingrid fait une phrase</a:t>
            </a:r>
          </a:p>
          <a:p/>
          <a:p>
            <a:r>
              <a:rPr sz="1000">
                <a:latin typeface="Arial"/>
              </a:rPr>
              <a:t>NE PAS lire simplement.</a:t>
            </a:r>
          </a:p>
          <a:p>
            <a:r>
              <a:rPr sz="1000">
                <a:latin typeface="Arial"/>
              </a:rPr>
              <a:t>TOUJOURS prononcer + utiliser.</a:t>
            </a:r>
          </a:p>
          <a:p/>
          <a:p>
            <a:r>
              <a:rPr sz="1000">
                <a:latin typeface="Arial"/>
              </a:rPr>
              <a:t>TRANSITION : "Now let's look at common mistakes."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>
                <a:latin typeface="Arial"/>
              </a:rPr>
              <a:t>SLIDE - COMMON MISTAKES (Trampas)</a:t>
            </a:r>
          </a:p>
          <a:p/>
          <a:p>
            <a:r>
              <a:rPr sz="1000">
                <a:latin typeface="Arial"/>
              </a:rPr>
              <a:t>ROLE : Erreurs frequentes hispanophones.</a:t>
            </a:r>
          </a:p>
          <a:p>
            <a:r>
              <a:rPr sz="1000">
                <a:latin typeface="Arial"/>
              </a:rPr>
              <a:t>DUREE : 5 min</a:t>
            </a:r>
          </a:p>
          <a:p/>
          <a:p>
            <a:r>
              <a:rPr sz="1000">
                <a:latin typeface="Arial"/>
              </a:rPr>
              <a:t>METHODE :</a:t>
            </a:r>
          </a:p>
          <a:p>
            <a:r>
              <a:rPr sz="1000">
                <a:latin typeface="Arial"/>
              </a:rPr>
              <a:t>1. Montrer l'erreur (X)</a:t>
            </a:r>
          </a:p>
          <a:p>
            <a:r>
              <a:rPr sz="1000">
                <a:latin typeface="Arial"/>
              </a:rPr>
              <a:t>2. Demander : "Esta correcto?"</a:t>
            </a:r>
          </a:p>
          <a:p>
            <a:r>
              <a:rPr sz="1000">
                <a:latin typeface="Arial"/>
              </a:rPr>
              <a:t>3. Ingrid corrige</a:t>
            </a:r>
          </a:p>
          <a:p>
            <a:r>
              <a:rPr sz="1000">
                <a:latin typeface="Arial"/>
              </a:rPr>
              <a:t>4. Montrer la correction (OK)</a:t>
            </a:r>
          </a:p>
          <a:p>
            <a:r>
              <a:rPr sz="1000">
                <a:latin typeface="Arial"/>
              </a:rPr>
              <a:t>5. Lire l'explication en espagnol</a:t>
            </a:r>
          </a:p>
          <a:p>
            <a:r>
              <a:rPr sz="1000">
                <a:latin typeface="Arial"/>
              </a:rPr>
              <a:t>6. Repetir 3x la forme correcte</a:t>
            </a:r>
          </a:p>
          <a:p/>
          <a:p>
            <a:r>
              <a:rPr sz="1000">
                <a:latin typeface="Arial"/>
              </a:rPr>
              <a:t>FRASES UTILES :</a:t>
            </a:r>
          </a:p>
          <a:p>
            <a:r>
              <a:rPr sz="1000">
                <a:latin typeface="Arial"/>
              </a:rPr>
              <a:t>- "Esta es una trampa muy comun."</a:t>
            </a:r>
          </a:p>
          <a:p>
            <a:r>
              <a:rPr sz="1000">
                <a:latin typeface="Arial"/>
              </a:rPr>
              <a:t>- "Cuidado con esta palabra."</a:t>
            </a:r>
          </a:p>
          <a:p>
            <a:r>
              <a:rPr sz="1000">
                <a:latin typeface="Arial"/>
              </a:rPr>
              <a:t>- "Repite conmigo 3 veces."</a:t>
            </a:r>
          </a:p>
          <a:p/>
          <a:p>
            <a:r>
              <a:rPr sz="1000">
                <a:latin typeface="Arial"/>
              </a:rPr>
              <a:t>NE PAS juger les erreurs.</a:t>
            </a:r>
          </a:p>
          <a:p>
            <a:r>
              <a:rPr sz="1000">
                <a:latin typeface="Arial"/>
              </a:rPr>
              <a:t>ENCOURAGER : "Es normal, todos lo hacemos."</a:t>
            </a:r>
          </a:p>
          <a:p/>
          <a:p>
            <a:r>
              <a:rPr sz="1000">
                <a:latin typeface="Arial"/>
              </a:rPr>
              <a:t>TRANSITION : "Ahora veamos expresiones completas."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>
                <a:latin typeface="Arial"/>
              </a:rPr>
              <a:t>SLIDE - EXPRESSIONS &amp; YOUR TURN</a:t>
            </a:r>
          </a:p>
          <a:p/>
          <a:p>
            <a:r>
              <a:rPr sz="1000">
                <a:latin typeface="Arial"/>
              </a:rPr>
              <a:t>ROLE : Blocs lexicaux + production.</a:t>
            </a:r>
          </a:p>
          <a:p>
            <a:r>
              <a:rPr sz="1000">
                <a:latin typeface="Arial"/>
              </a:rPr>
              <a:t>DUREE : 8 min</a:t>
            </a:r>
          </a:p>
          <a:p/>
          <a:p>
            <a:r>
              <a:rPr sz="1000">
                <a:latin typeface="Arial"/>
              </a:rPr>
              <a:t>PARTIE 1 - EXPRESSIONS (4 min) :</a:t>
            </a:r>
          </a:p>
          <a:p>
            <a:r>
              <a:rPr sz="1000">
                <a:latin typeface="Arial"/>
              </a:rPr>
              <a:t>1. Lire chaque expression</a:t>
            </a:r>
          </a:p>
          <a:p>
            <a:r>
              <a:rPr sz="1000">
                <a:latin typeface="Arial"/>
              </a:rPr>
              <a:t>2. Ingrid repete</a:t>
            </a:r>
          </a:p>
          <a:p>
            <a:r>
              <a:rPr sz="1000">
                <a:latin typeface="Arial"/>
              </a:rPr>
              <a:t>3. Demander : "When do you use this?"</a:t>
            </a:r>
          </a:p>
          <a:p/>
          <a:p>
            <a:r>
              <a:rPr sz="1000">
                <a:latin typeface="Arial"/>
              </a:rPr>
              <a:t>PARTIE 2 - YOUR TURN (4 min) :</a:t>
            </a:r>
          </a:p>
          <a:p>
            <a:r>
              <a:rPr sz="1000">
                <a:latin typeface="Arial"/>
              </a:rPr>
              <a:t>1. Lire la consigne</a:t>
            </a:r>
          </a:p>
          <a:p>
            <a:r>
              <a:rPr sz="1000">
                <a:latin typeface="Arial"/>
              </a:rPr>
              <a:t>2. Ingrid ecrit 1 phrase par mot</a:t>
            </a:r>
          </a:p>
          <a:p>
            <a:r>
              <a:rPr sz="1000">
                <a:latin typeface="Arial"/>
              </a:rPr>
              <a:t>3. Verifier oralement</a:t>
            </a:r>
          </a:p>
          <a:p/>
          <a:p>
            <a:r>
              <a:rPr sz="1000">
                <a:latin typeface="Arial"/>
              </a:rPr>
              <a:t>NE PAS ecrire a sa place.</a:t>
            </a:r>
          </a:p>
          <a:p>
            <a:r>
              <a:rPr sz="1000">
                <a:latin typeface="Arial"/>
              </a:rPr>
              <a:t>CORRIGER 2-3 erreurs max.</a:t>
            </a:r>
          </a:p>
          <a:p/>
          <a:p>
            <a:r>
              <a:rPr sz="1000">
                <a:latin typeface="Arial"/>
              </a:rPr>
              <a:t>TRANSITION : "Now let's look at the grammar."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>
                <a:latin typeface="Arial"/>
              </a:rPr>
              <a:t>SLIDE - GRAMMAR 1.1 : Present Continuous</a:t>
            </a:r>
          </a:p>
          <a:p/>
          <a:p>
            <a:r>
              <a:rPr sz="1000">
                <a:latin typeface="Arial"/>
              </a:rPr>
              <a:t>ROLE : Presenter structure.</a:t>
            </a:r>
          </a:p>
          <a:p>
            <a:r>
              <a:rPr sz="1000">
                <a:latin typeface="Arial"/>
              </a:rPr>
              <a:t>DUREE : 10-15 min</a:t>
            </a:r>
          </a:p>
          <a:p/>
          <a:p>
            <a:r>
              <a:rPr sz="1000">
                <a:latin typeface="Arial"/>
              </a:rPr>
              <a:t>APPROCHE DECOUVERTE :</a:t>
            </a:r>
          </a:p>
          <a:p>
            <a:r>
              <a:rPr sz="1000">
                <a:latin typeface="Arial"/>
              </a:rPr>
              <a:t>1. Montrer exemples</a:t>
            </a:r>
          </a:p>
          <a:p>
            <a:r>
              <a:rPr sz="1000">
                <a:latin typeface="Arial"/>
              </a:rPr>
              <a:t>2. Demander : "What pattern?"</a:t>
            </a:r>
          </a:p>
          <a:p>
            <a:r>
              <a:rPr sz="1000">
                <a:latin typeface="Arial"/>
              </a:rPr>
              <a:t>3. Laisser deviner</a:t>
            </a:r>
          </a:p>
          <a:p>
            <a:r>
              <a:rPr sz="1000">
                <a:latin typeface="Arial"/>
              </a:rPr>
              <a:t>4. Confirmer</a:t>
            </a:r>
          </a:p>
          <a:p>
            <a:r>
              <a:rPr sz="1000">
                <a:latin typeface="Arial"/>
              </a:rPr>
              <a:t>5. Exemples personnels</a:t>
            </a:r>
          </a:p>
          <a:p/>
          <a:p>
            <a:r>
              <a:rPr sz="1000">
                <a:latin typeface="Arial"/>
              </a:rPr>
              <a:t>POINT : PC = arreglo organizado.</a:t>
            </a:r>
          </a:p>
          <a:p/>
          <a:p>
            <a:r>
              <a:rPr sz="1000">
                <a:latin typeface="Arial"/>
              </a:rPr>
              <a:t>MAX 2-3 corrections.</a:t>
            </a:r>
          </a:p>
          <a:p/>
          <a:p>
            <a:r>
              <a:rPr sz="1000">
                <a:latin typeface="Arial"/>
              </a:rPr>
              <a:t>TRANSITION : "Now let's practice."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>
                <a:latin typeface="Arial"/>
              </a:rPr>
              <a:t>SLIDE - GRAMMAR 1.1 : Present Continuous</a:t>
            </a:r>
          </a:p>
          <a:p/>
          <a:p>
            <a:r>
              <a:rPr sz="1000">
                <a:latin typeface="Arial"/>
              </a:rPr>
              <a:t>ROLE : Presenter structure.</a:t>
            </a:r>
          </a:p>
          <a:p>
            <a:r>
              <a:rPr sz="1000">
                <a:latin typeface="Arial"/>
              </a:rPr>
              <a:t>DUREE : 10-15 min</a:t>
            </a:r>
          </a:p>
          <a:p/>
          <a:p>
            <a:r>
              <a:rPr sz="1000">
                <a:latin typeface="Arial"/>
              </a:rPr>
              <a:t>APPROCHE DECOUVERTE :</a:t>
            </a:r>
          </a:p>
          <a:p>
            <a:r>
              <a:rPr sz="1000">
                <a:latin typeface="Arial"/>
              </a:rPr>
              <a:t>1. Montrer exemples</a:t>
            </a:r>
          </a:p>
          <a:p>
            <a:r>
              <a:rPr sz="1000">
                <a:latin typeface="Arial"/>
              </a:rPr>
              <a:t>2. Demander : "What pattern?"</a:t>
            </a:r>
          </a:p>
          <a:p>
            <a:r>
              <a:rPr sz="1000">
                <a:latin typeface="Arial"/>
              </a:rPr>
              <a:t>3. Laisser deviner</a:t>
            </a:r>
          </a:p>
          <a:p>
            <a:r>
              <a:rPr sz="1000">
                <a:latin typeface="Arial"/>
              </a:rPr>
              <a:t>4. Confirmer</a:t>
            </a:r>
          </a:p>
          <a:p>
            <a:r>
              <a:rPr sz="1000">
                <a:latin typeface="Arial"/>
              </a:rPr>
              <a:t>5. Exemples personnels</a:t>
            </a:r>
          </a:p>
          <a:p/>
          <a:p>
            <a:r>
              <a:rPr sz="1000">
                <a:latin typeface="Arial"/>
              </a:rPr>
              <a:t>POINT : PC = arreglo organizado.</a:t>
            </a:r>
          </a:p>
          <a:p/>
          <a:p>
            <a:r>
              <a:rPr sz="1000">
                <a:latin typeface="Arial"/>
              </a:rPr>
              <a:t>MAX 2-3 corrections.</a:t>
            </a:r>
          </a:p>
          <a:p/>
          <a:p>
            <a:r>
              <a:rPr sz="1000">
                <a:latin typeface="Arial"/>
              </a:rPr>
              <a:t>TRANSITION : "Now let's practice."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>
                <a:latin typeface="Arial"/>
              </a:rPr>
              <a:t>SLIDE - GRAMMAR 1.1 : Present Continuous</a:t>
            </a:r>
          </a:p>
          <a:p/>
          <a:p>
            <a:r>
              <a:rPr sz="1000">
                <a:latin typeface="Arial"/>
              </a:rPr>
              <a:t>ROLE : Presenter structure.</a:t>
            </a:r>
          </a:p>
          <a:p>
            <a:r>
              <a:rPr sz="1000">
                <a:latin typeface="Arial"/>
              </a:rPr>
              <a:t>DUREE : 10-15 min</a:t>
            </a:r>
          </a:p>
          <a:p/>
          <a:p>
            <a:r>
              <a:rPr sz="1000">
                <a:latin typeface="Arial"/>
              </a:rPr>
              <a:t>APPROCHE DECOUVERTE :</a:t>
            </a:r>
          </a:p>
          <a:p>
            <a:r>
              <a:rPr sz="1000">
                <a:latin typeface="Arial"/>
              </a:rPr>
              <a:t>1. Montrer exemples</a:t>
            </a:r>
          </a:p>
          <a:p>
            <a:r>
              <a:rPr sz="1000">
                <a:latin typeface="Arial"/>
              </a:rPr>
              <a:t>2. Demander : "What pattern?"</a:t>
            </a:r>
          </a:p>
          <a:p>
            <a:r>
              <a:rPr sz="1000">
                <a:latin typeface="Arial"/>
              </a:rPr>
              <a:t>3. Laisser deviner</a:t>
            </a:r>
          </a:p>
          <a:p>
            <a:r>
              <a:rPr sz="1000">
                <a:latin typeface="Arial"/>
              </a:rPr>
              <a:t>4. Confirmer</a:t>
            </a:r>
          </a:p>
          <a:p>
            <a:r>
              <a:rPr sz="1000">
                <a:latin typeface="Arial"/>
              </a:rPr>
              <a:t>5. Exemples personnels</a:t>
            </a:r>
          </a:p>
          <a:p/>
          <a:p>
            <a:r>
              <a:rPr sz="1000">
                <a:latin typeface="Arial"/>
              </a:rPr>
              <a:t>POINT : PC = arreglo organizado.</a:t>
            </a:r>
          </a:p>
          <a:p/>
          <a:p>
            <a:r>
              <a:rPr sz="1000">
                <a:latin typeface="Arial"/>
              </a:rPr>
              <a:t>MAX 2-3 corrections.</a:t>
            </a:r>
          </a:p>
          <a:p/>
          <a:p>
            <a:r>
              <a:rPr sz="1000">
                <a:latin typeface="Arial"/>
              </a:rPr>
              <a:t>TRANSITION : "Now let's practice."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>
                <a:latin typeface="Arial"/>
              </a:rPr>
              <a:t>SLIDE - GRAMMAR 1.1 : Present Continuous</a:t>
            </a:r>
          </a:p>
          <a:p/>
          <a:p>
            <a:r>
              <a:rPr sz="1000">
                <a:latin typeface="Arial"/>
              </a:rPr>
              <a:t>ROLE : Presenter structure.</a:t>
            </a:r>
          </a:p>
          <a:p>
            <a:r>
              <a:rPr sz="1000">
                <a:latin typeface="Arial"/>
              </a:rPr>
              <a:t>DUREE : 10-15 min</a:t>
            </a:r>
          </a:p>
          <a:p/>
          <a:p>
            <a:r>
              <a:rPr sz="1000">
                <a:latin typeface="Arial"/>
              </a:rPr>
              <a:t>APPROCHE DECOUVERTE :</a:t>
            </a:r>
          </a:p>
          <a:p>
            <a:r>
              <a:rPr sz="1000">
                <a:latin typeface="Arial"/>
              </a:rPr>
              <a:t>1. Montrer exemples</a:t>
            </a:r>
          </a:p>
          <a:p>
            <a:r>
              <a:rPr sz="1000">
                <a:latin typeface="Arial"/>
              </a:rPr>
              <a:t>2. Demander : "What pattern?"</a:t>
            </a:r>
          </a:p>
          <a:p>
            <a:r>
              <a:rPr sz="1000">
                <a:latin typeface="Arial"/>
              </a:rPr>
              <a:t>3. Laisser deviner</a:t>
            </a:r>
          </a:p>
          <a:p>
            <a:r>
              <a:rPr sz="1000">
                <a:latin typeface="Arial"/>
              </a:rPr>
              <a:t>4. Confirmer</a:t>
            </a:r>
          </a:p>
          <a:p>
            <a:r>
              <a:rPr sz="1000">
                <a:latin typeface="Arial"/>
              </a:rPr>
              <a:t>5. Exemples personnels</a:t>
            </a:r>
          </a:p>
          <a:p/>
          <a:p>
            <a:r>
              <a:rPr sz="1000">
                <a:latin typeface="Arial"/>
              </a:rPr>
              <a:t>POINT : PC = arreglo organizado.</a:t>
            </a:r>
          </a:p>
          <a:p/>
          <a:p>
            <a:r>
              <a:rPr sz="1000">
                <a:latin typeface="Arial"/>
              </a:rPr>
              <a:t>MAX 2-3 corrections.</a:t>
            </a:r>
          </a:p>
          <a:p/>
          <a:p>
            <a:r>
              <a:rPr sz="1000">
                <a:latin typeface="Arial"/>
              </a:rPr>
              <a:t>TRANSITION : "Now let's practice."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>
                <a:latin typeface="Arial"/>
              </a:rPr>
              <a:t>SLIDE - GRAMMAR 1.1 : Present Continuous</a:t>
            </a:r>
          </a:p>
          <a:p/>
          <a:p>
            <a:r>
              <a:rPr sz="1000">
                <a:latin typeface="Arial"/>
              </a:rPr>
              <a:t>ROLE : Presenter structure.</a:t>
            </a:r>
          </a:p>
          <a:p>
            <a:r>
              <a:rPr sz="1000">
                <a:latin typeface="Arial"/>
              </a:rPr>
              <a:t>DUREE : 10-15 min</a:t>
            </a:r>
          </a:p>
          <a:p/>
          <a:p>
            <a:r>
              <a:rPr sz="1000">
                <a:latin typeface="Arial"/>
              </a:rPr>
              <a:t>APPROCHE DECOUVERTE :</a:t>
            </a:r>
          </a:p>
          <a:p>
            <a:r>
              <a:rPr sz="1000">
                <a:latin typeface="Arial"/>
              </a:rPr>
              <a:t>1. Montrer exemples</a:t>
            </a:r>
          </a:p>
          <a:p>
            <a:r>
              <a:rPr sz="1000">
                <a:latin typeface="Arial"/>
              </a:rPr>
              <a:t>2. Demander : "What pattern?"</a:t>
            </a:r>
          </a:p>
          <a:p>
            <a:r>
              <a:rPr sz="1000">
                <a:latin typeface="Arial"/>
              </a:rPr>
              <a:t>3. Laisser deviner</a:t>
            </a:r>
          </a:p>
          <a:p>
            <a:r>
              <a:rPr sz="1000">
                <a:latin typeface="Arial"/>
              </a:rPr>
              <a:t>4. Confirmer</a:t>
            </a:r>
          </a:p>
          <a:p>
            <a:r>
              <a:rPr sz="1000">
                <a:latin typeface="Arial"/>
              </a:rPr>
              <a:t>5. Exemples personnels</a:t>
            </a:r>
          </a:p>
          <a:p/>
          <a:p>
            <a:r>
              <a:rPr sz="1000">
                <a:latin typeface="Arial"/>
              </a:rPr>
              <a:t>POINT : PC = arreglo organizado.</a:t>
            </a:r>
          </a:p>
          <a:p/>
          <a:p>
            <a:r>
              <a:rPr sz="1000">
                <a:latin typeface="Arial"/>
              </a:rPr>
              <a:t>MAX 2-3 corrections.</a:t>
            </a:r>
          </a:p>
          <a:p/>
          <a:p>
            <a:r>
              <a:rPr sz="1000">
                <a:latin typeface="Arial"/>
              </a:rPr>
              <a:t>TRANSITION : "Now let's practice."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>
                <a:latin typeface="Arial"/>
              </a:rPr>
              <a:t>SLIDE - GRAMMAR 1.1 : Present Continuous</a:t>
            </a:r>
          </a:p>
          <a:p/>
          <a:p>
            <a:r>
              <a:rPr sz="1000">
                <a:latin typeface="Arial"/>
              </a:rPr>
              <a:t>ROLE : Presenter structure.</a:t>
            </a:r>
          </a:p>
          <a:p>
            <a:r>
              <a:rPr sz="1000">
                <a:latin typeface="Arial"/>
              </a:rPr>
              <a:t>DUREE : 10-15 min</a:t>
            </a:r>
          </a:p>
          <a:p/>
          <a:p>
            <a:r>
              <a:rPr sz="1000">
                <a:latin typeface="Arial"/>
              </a:rPr>
              <a:t>APPROCHE DECOUVERTE :</a:t>
            </a:r>
          </a:p>
          <a:p>
            <a:r>
              <a:rPr sz="1000">
                <a:latin typeface="Arial"/>
              </a:rPr>
              <a:t>1. Montrer exemples</a:t>
            </a:r>
          </a:p>
          <a:p>
            <a:r>
              <a:rPr sz="1000">
                <a:latin typeface="Arial"/>
              </a:rPr>
              <a:t>2. Demander : "What pattern?"</a:t>
            </a:r>
          </a:p>
          <a:p>
            <a:r>
              <a:rPr sz="1000">
                <a:latin typeface="Arial"/>
              </a:rPr>
              <a:t>3. Laisser deviner</a:t>
            </a:r>
          </a:p>
          <a:p>
            <a:r>
              <a:rPr sz="1000">
                <a:latin typeface="Arial"/>
              </a:rPr>
              <a:t>4. Confirmer</a:t>
            </a:r>
          </a:p>
          <a:p>
            <a:r>
              <a:rPr sz="1000">
                <a:latin typeface="Arial"/>
              </a:rPr>
              <a:t>5. Exemples personnels</a:t>
            </a:r>
          </a:p>
          <a:p/>
          <a:p>
            <a:r>
              <a:rPr sz="1000">
                <a:latin typeface="Arial"/>
              </a:rPr>
              <a:t>POINT : PC = arreglo organizado.</a:t>
            </a:r>
          </a:p>
          <a:p/>
          <a:p>
            <a:r>
              <a:rPr sz="1000">
                <a:latin typeface="Arial"/>
              </a:rPr>
              <a:t>MAX 2-3 corrections.</a:t>
            </a:r>
          </a:p>
          <a:p/>
          <a:p>
            <a:r>
              <a:rPr sz="1000">
                <a:latin typeface="Arial"/>
              </a:rPr>
              <a:t>TRANSITION : "Now let's practice."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>
                <a:latin typeface="Arial"/>
              </a:rPr>
              <a:t>SLIDE - SOUND : /ʃ/ vs /tʃ/</a:t>
            </a:r>
          </a:p>
          <a:p/>
          <a:p>
            <a:r>
              <a:rPr sz="1000">
                <a:latin typeface="Arial"/>
              </a:rPr>
              <a:t>ROLE : Focus phonetique.</a:t>
            </a:r>
          </a:p>
          <a:p>
            <a:r>
              <a:rPr sz="1000">
                <a:latin typeface="Arial"/>
              </a:rPr>
              <a:t>DUREE : 5 min</a:t>
            </a:r>
          </a:p>
          <a:p/>
          <a:p>
            <a:r>
              <a:rPr sz="1000">
                <a:latin typeface="Arial"/>
              </a:rPr>
              <a:t>METHODE :</a:t>
            </a:r>
          </a:p>
          <a:p>
            <a:r>
              <a:rPr sz="1000">
                <a:latin typeface="Arial"/>
              </a:rPr>
              <a:t>1. ECOUTER : prof prononce</a:t>
            </a:r>
          </a:p>
          <a:p>
            <a:r>
              <a:rPr sz="1000">
                <a:latin typeface="Arial"/>
              </a:rPr>
              <a:t>2. DISTINGUER : Ingrid identifie</a:t>
            </a:r>
          </a:p>
          <a:p>
            <a:r>
              <a:rPr sz="1000">
                <a:latin typeface="Arial"/>
              </a:rPr>
              <a:t>3. REPETER</a:t>
            </a:r>
          </a:p>
          <a:p/>
          <a:p>
            <a:r>
              <a:rPr sz="1000">
                <a:latin typeface="Arial"/>
              </a:rPr>
              <a:t>NE PAS enseigner theorie.</a:t>
            </a:r>
          </a:p>
          <a:p/>
          <a:p>
            <a:r>
              <a:rPr sz="1000">
                <a:latin typeface="Arial"/>
              </a:rPr>
              <a:t>TRANSITION : "Now let's practice in words."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>
                <a:latin typeface="Arial"/>
              </a:rPr>
              <a:t>SLIDE - PRONUNCIATION</a:t>
            </a:r>
          </a:p>
          <a:p/>
          <a:p>
            <a:r>
              <a:rPr sz="1000">
                <a:latin typeface="Arial"/>
              </a:rPr>
              <a:t>ROLE : Pratique active.</a:t>
            </a:r>
          </a:p>
          <a:p>
            <a:r>
              <a:rPr sz="1000">
                <a:latin typeface="Arial"/>
              </a:rPr>
              <a:t>DUREE : 5 min</a:t>
            </a:r>
          </a:p>
          <a:p/>
          <a:p>
            <a:r>
              <a:rPr sz="1000">
                <a:latin typeface="Arial"/>
              </a:rPr>
              <a:t>Chaque mot repete 5 fois.</a:t>
            </a:r>
          </a:p>
          <a:p>
            <a:r>
              <a:rPr sz="1000">
                <a:latin typeface="Arial"/>
              </a:rPr>
              <a:t>Prof corrige en temps reel.</a:t>
            </a:r>
          </a:p>
          <a:p>
            <a:r>
              <a:rPr sz="1000">
                <a:latin typeface="Arial"/>
              </a:rPr>
              <a:t>Enregistrer si possible.</a:t>
            </a:r>
          </a:p>
          <a:p/>
          <a:p>
            <a:r>
              <a:rPr sz="1000">
                <a:latin typeface="Arial"/>
              </a:rPr>
              <a:t>TRANSITION : "Now let's practice with exercises."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>
                <a:latin typeface="Arial"/>
              </a:rPr>
              <a:t>SLIDE - WARM-UP</a:t>
            </a:r>
          </a:p>
          <a:p/>
          <a:p>
            <a:r>
              <a:rPr sz="1000">
                <a:latin typeface="Arial"/>
              </a:rPr>
              <a:t>ROLE : Activer connaissances.</a:t>
            </a:r>
          </a:p>
          <a:p>
            <a:r>
              <a:rPr sz="1000">
                <a:latin typeface="Arial"/>
              </a:rPr>
              <a:t>DUREE : 10 min</a:t>
            </a:r>
          </a:p>
          <a:p/>
          <a:p>
            <a:r>
              <a:rPr sz="1000">
                <a:latin typeface="Arial"/>
              </a:rPr>
              <a:t>Ingrid repond ORALEMENT sans notes.</a:t>
            </a:r>
          </a:p>
          <a:p>
            <a:r>
              <a:rPr sz="1000">
                <a:latin typeface="Arial"/>
              </a:rPr>
              <a:t>Ne pas interrompre.</a:t>
            </a:r>
          </a:p>
          <a:p>
            <a:r>
              <a:rPr sz="1000">
                <a:latin typeface="Arial"/>
              </a:rPr>
              <a:t>Max 2-3 corrections apres.</a:t>
            </a:r>
          </a:p>
          <a:p/>
          <a:p>
            <a:r>
              <a:rPr sz="1000">
                <a:latin typeface="Arial"/>
              </a:rPr>
              <a:t>TRANSITION : "Now let's look at new vocabulary."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>
                <a:latin typeface="Arial"/>
              </a:rPr>
              <a:t>SLIDE - WARM-UP</a:t>
            </a:r>
          </a:p>
          <a:p/>
          <a:p>
            <a:r>
              <a:rPr sz="1000">
                <a:latin typeface="Arial"/>
              </a:rPr>
              <a:t>ROLE : Activer connaissances.</a:t>
            </a:r>
          </a:p>
          <a:p>
            <a:r>
              <a:rPr sz="1000">
                <a:latin typeface="Arial"/>
              </a:rPr>
              <a:t>DUREE : 10 min</a:t>
            </a:r>
          </a:p>
          <a:p/>
          <a:p>
            <a:r>
              <a:rPr sz="1000">
                <a:latin typeface="Arial"/>
              </a:rPr>
              <a:t>Ingrid repond ORALEMENT sans notes.</a:t>
            </a:r>
          </a:p>
          <a:p>
            <a:r>
              <a:rPr sz="1000">
                <a:latin typeface="Arial"/>
              </a:rPr>
              <a:t>Ne pas interrompre.</a:t>
            </a:r>
          </a:p>
          <a:p>
            <a:r>
              <a:rPr sz="1000">
                <a:latin typeface="Arial"/>
              </a:rPr>
              <a:t>Max 2-3 corrections apres.</a:t>
            </a:r>
          </a:p>
          <a:p/>
          <a:p>
            <a:r>
              <a:rPr sz="1000">
                <a:latin typeface="Arial"/>
              </a:rPr>
              <a:t>TRANSITION : "Now let's look at new vocabulary."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>
                <a:latin typeface="Arial"/>
              </a:rPr>
              <a:t>SLIDE - CONVERSATION (1)</a:t>
            </a:r>
          </a:p>
          <a:p/>
          <a:p>
            <a:r>
              <a:rPr sz="1000">
                <a:latin typeface="Arial"/>
              </a:rPr>
              <a:t>ROLE : Pratique orale.</a:t>
            </a:r>
          </a:p>
          <a:p>
            <a:r>
              <a:rPr sz="1000">
                <a:latin typeface="Arial"/>
              </a:rPr>
              <a:t>DUREE : 10-12 min</a:t>
            </a:r>
          </a:p>
          <a:p/>
          <a:p>
            <a:r>
              <a:rPr sz="1000">
                <a:latin typeface="Arial"/>
              </a:rPr>
              <a:t>Prof pose UNE question.</a:t>
            </a:r>
          </a:p>
          <a:p>
            <a:r>
              <a:rPr sz="1000">
                <a:latin typeface="Arial"/>
              </a:rPr>
              <a:t>Ingrid repond librement.</a:t>
            </a:r>
          </a:p>
          <a:p>
            <a:r>
              <a:rPr sz="1000">
                <a:latin typeface="Arial"/>
              </a:rPr>
              <a:t>NE PAS interrompre.</a:t>
            </a:r>
          </a:p>
          <a:p>
            <a:r>
              <a:rPr sz="1000">
                <a:latin typeface="Arial"/>
              </a:rPr>
              <a:t>Corriger 2-3 erreurs APRES.</a:t>
            </a:r>
          </a:p>
          <a:p/>
          <a:p>
            <a:r>
              <a:rPr sz="1000">
                <a:latin typeface="Arial"/>
              </a:rPr>
              <a:t>FOLLOW-UP : "Really? Tell me more."</a:t>
            </a:r>
          </a:p>
          <a:p/>
          <a:p>
            <a:r>
              <a:rPr sz="1000">
                <a:latin typeface="Arial"/>
              </a:rPr>
              <a:t>TRANSITION : "Now let's listen to a short text."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>
                <a:latin typeface="Arial"/>
              </a:rPr>
              <a:t>SLIDE - CONVERSATION (2)</a:t>
            </a:r>
          </a:p>
          <a:p/>
          <a:p>
            <a:r>
              <a:rPr sz="1000">
                <a:latin typeface="Arial"/>
              </a:rPr>
              <a:t>ROLE : Pratique orale.</a:t>
            </a:r>
          </a:p>
          <a:p>
            <a:r>
              <a:rPr sz="1000">
                <a:latin typeface="Arial"/>
              </a:rPr>
              <a:t>DUREE : 10-12 min</a:t>
            </a:r>
          </a:p>
          <a:p/>
          <a:p>
            <a:r>
              <a:rPr sz="1000">
                <a:latin typeface="Arial"/>
              </a:rPr>
              <a:t>Prof pose UNE question.</a:t>
            </a:r>
          </a:p>
          <a:p>
            <a:r>
              <a:rPr sz="1000">
                <a:latin typeface="Arial"/>
              </a:rPr>
              <a:t>Ingrid repond librement.</a:t>
            </a:r>
          </a:p>
          <a:p>
            <a:r>
              <a:rPr sz="1000">
                <a:latin typeface="Arial"/>
              </a:rPr>
              <a:t>NE PAS interrompre.</a:t>
            </a:r>
          </a:p>
          <a:p>
            <a:r>
              <a:rPr sz="1000">
                <a:latin typeface="Arial"/>
              </a:rPr>
              <a:t>Corriger 2-3 erreurs APRES.</a:t>
            </a:r>
          </a:p>
          <a:p/>
          <a:p>
            <a:r>
              <a:rPr sz="1000">
                <a:latin typeface="Arial"/>
              </a:rPr>
              <a:t>FOLLOW-UP : "Really? Tell me more."</a:t>
            </a:r>
          </a:p>
          <a:p/>
          <a:p>
            <a:r>
              <a:rPr sz="1000">
                <a:latin typeface="Arial"/>
              </a:rPr>
              <a:t>TRANSITION : "Now let's listen to a short text."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>
                <a:latin typeface="Arial"/>
              </a:rPr>
              <a:t>SLIDE - LISTENING TEXT : Text</a:t>
            </a:r>
          </a:p>
          <a:p/>
          <a:p>
            <a:r>
              <a:rPr sz="1000">
                <a:latin typeface="Arial"/>
              </a:rPr>
              <a:t>ROLE : Comprehension.</a:t>
            </a:r>
          </a:p>
          <a:p>
            <a:r>
              <a:rPr sz="1000">
                <a:latin typeface="Arial"/>
              </a:rPr>
              <a:t>DUREE : 4 min</a:t>
            </a:r>
          </a:p>
          <a:p/>
          <a:p>
            <a:r>
              <a:rPr sz="1000">
                <a:latin typeface="Arial"/>
              </a:rPr>
              <a:t>2 LECTURES :</a:t>
            </a:r>
          </a:p>
          <a:p>
            <a:r>
              <a:rPr sz="1000">
                <a:latin typeface="Arial"/>
              </a:rPr>
              <a:t>1ere : GLOBALE (sans ecrire)</a:t>
            </a:r>
          </a:p>
          <a:p>
            <a:r>
              <a:rPr sz="1000">
                <a:latin typeface="Arial"/>
              </a:rPr>
              <a:t>2eme : DETAILLEE</a:t>
            </a:r>
          </a:p>
          <a:p/>
          <a:p>
            <a:r>
              <a:rPr sz="1000">
                <a:latin typeface="Arial"/>
              </a:rPr>
              <a:t>NE PAS montrer le texte.</a:t>
            </a:r>
          </a:p>
          <a:p>
            <a:r>
              <a:rPr sz="1000">
                <a:latin typeface="Arial"/>
              </a:rPr>
              <a:t>LIRE lentement.</a:t>
            </a:r>
          </a:p>
          <a:p/>
          <a:p>
            <a:r>
              <a:rPr sz="1000">
                <a:latin typeface="Arial"/>
              </a:rPr>
              <a:t>TRANSITION : "Now let's answer the questions."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>
                <a:latin typeface="Arial"/>
              </a:rPr>
              <a:t>SLIDE - LISTENING QUESTIONS</a:t>
            </a:r>
          </a:p>
          <a:p/>
          <a:p>
            <a:r>
              <a:rPr sz="1000">
                <a:latin typeface="Arial"/>
              </a:rPr>
              <a:t>ROLE : Comprehension detaillee.</a:t>
            </a:r>
          </a:p>
          <a:p>
            <a:r>
              <a:rPr sz="1000">
                <a:latin typeface="Arial"/>
              </a:rPr>
              <a:t>DUREE : 4 min</a:t>
            </a:r>
          </a:p>
          <a:p/>
          <a:p>
            <a:r>
              <a:rPr sz="1000">
                <a:latin typeface="Arial"/>
              </a:rPr>
              <a:t>Ingrid repond en PHRASE COMPLETE.</a:t>
            </a:r>
          </a:p>
          <a:p>
            <a:r>
              <a:rPr sz="1000">
                <a:latin typeface="Arial"/>
              </a:rPr>
              <a:t>Corriger apres.</a:t>
            </a:r>
          </a:p>
          <a:p/>
          <a:p>
            <a:r>
              <a:rPr sz="1000">
                <a:latin typeface="Arial"/>
              </a:rPr>
              <a:t>TRANSITION : "Now it's your turn to speak."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>
                <a:latin typeface="Arial"/>
              </a:rPr>
              <a:t>SLIDE - SPEAKING CHALLENGE : Challenge</a:t>
            </a:r>
          </a:p>
          <a:p/>
          <a:p>
            <a:r>
              <a:rPr sz="1000">
                <a:latin typeface="Arial"/>
              </a:rPr>
              <a:t>ROLE : Production orale.</a:t>
            </a:r>
          </a:p>
          <a:p>
            <a:r>
              <a:rPr sz="1000">
                <a:latin typeface="Arial"/>
              </a:rPr>
              <a:t>DUREE : 10 min</a:t>
            </a:r>
          </a:p>
          <a:p/>
          <a:p>
            <a:r>
              <a:rPr sz="1000">
                <a:latin typeface="Arial"/>
              </a:rPr>
              <a:t>TIMING :</a:t>
            </a:r>
          </a:p>
          <a:p>
            <a:r>
              <a:rPr sz="1000">
                <a:latin typeface="Arial"/>
              </a:rPr>
              <a:t>- 0:45 Explication</a:t>
            </a:r>
          </a:p>
          <a:p>
            <a:r>
              <a:rPr sz="1000">
                <a:latin typeface="Arial"/>
              </a:rPr>
              <a:t>- 0:45 Preparation mentale (silence)</a:t>
            </a:r>
          </a:p>
          <a:p>
            <a:r>
              <a:rPr sz="1000">
                <a:latin typeface="Arial"/>
              </a:rPr>
              <a:t>- 2:00 Monologue</a:t>
            </a:r>
          </a:p>
          <a:p>
            <a:r>
              <a:rPr sz="1000">
                <a:latin typeface="Arial"/>
              </a:rPr>
              <a:t>- 2:00 Feedback (2+1)</a:t>
            </a:r>
          </a:p>
          <a:p>
            <a:r>
              <a:rPr sz="1000">
                <a:latin typeface="Arial"/>
              </a:rPr>
              <a:t>- 0:30 Re-record</a:t>
            </a:r>
          </a:p>
          <a:p/>
          <a:p>
            <a:r>
              <a:rPr sz="1000">
                <a:latin typeface="Arial"/>
              </a:rPr>
              <a:t>SCRIPT :</a:t>
            </a:r>
          </a:p>
          <a:p>
            <a:r>
              <a:rPr sz="1000">
                <a:latin typeface="Arial"/>
              </a:rPr>
              <a:t>"Okay Ingrid, YOUR turn.</a:t>
            </a:r>
          </a:p>
          <a:p>
            <a:r>
              <a:rPr sz="1000">
                <a:latin typeface="Arial"/>
              </a:rPr>
              <a:t>Talk for 1 minutes.</a:t>
            </a:r>
          </a:p>
          <a:p>
            <a:r>
              <a:rPr sz="1000">
                <a:latin typeface="Arial"/>
              </a:rPr>
              <a:t>Use: Present Continuous and Going to vs PC.</a:t>
            </a:r>
          </a:p>
          <a:p>
            <a:r>
              <a:rPr sz="1000">
                <a:latin typeface="Arial"/>
              </a:rPr>
              <a:t>Take 45 sec to think. Ready?"</a:t>
            </a:r>
          </a:p>
          <a:p/>
          <a:p>
            <a:r>
              <a:rPr sz="1000">
                <a:latin typeface="Arial"/>
              </a:rPr>
              <a:t>OBSERVER :</a:t>
            </a:r>
          </a:p>
          <a:p>
            <a:r>
              <a:rPr sz="1000">
                <a:latin typeface="Arial"/>
              </a:rPr>
              <a:t>- Present Continuous min 3 fois</a:t>
            </a:r>
          </a:p>
          <a:p>
            <a:r>
              <a:rPr sz="1000">
                <a:latin typeface="Arial"/>
              </a:rPr>
              <a:t>- Going to vs PC min 3 fois</a:t>
            </a:r>
          </a:p>
          <a:p>
            <a:r>
              <a:rPr sz="1000">
                <a:latin typeface="Arial"/>
              </a:rPr>
              <a:t>- Duree 60-90 sec</a:t>
            </a:r>
          </a:p>
          <a:p>
            <a:r>
              <a:rPr sz="1000">
                <a:latin typeface="Arial"/>
              </a:rPr>
              <a:t>- Pauses &lt; 5 sec</a:t>
            </a:r>
          </a:p>
          <a:p/>
          <a:p>
            <a:r>
              <a:rPr sz="1000">
                <a:latin typeface="Arial"/>
              </a:rPr>
              <a:t>FEEDBACK (2+1) :</a:t>
            </a:r>
          </a:p>
          <a:p>
            <a:r>
              <a:rPr sz="1000">
                <a:latin typeface="Arial"/>
              </a:rPr>
              <a:t>1. Compliment CONCRET</a:t>
            </a:r>
          </a:p>
          <a:p>
            <a:r>
              <a:rPr sz="1000">
                <a:latin typeface="Arial"/>
              </a:rPr>
              <a:t>2. Compliment CONCRET</a:t>
            </a:r>
          </a:p>
          <a:p>
            <a:r>
              <a:rPr sz="1000">
                <a:latin typeface="Arial"/>
              </a:rPr>
              <a:t>3. UNE correction -&gt; repeter 2 fois</a:t>
            </a:r>
          </a:p>
          <a:p/>
          <a:p>
            <a:r>
              <a:rPr sz="1000">
                <a:latin typeface="Arial"/>
              </a:rPr>
              <a:t>NE PAS interrompre.</a:t>
            </a:r>
          </a:p>
          <a:p/>
          <a:p>
            <a:r>
              <a:rPr sz="1000">
                <a:latin typeface="Arial"/>
              </a:rPr>
              <a:t>TRANSITION : "Now let's write about this."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>
                <a:latin typeface="Arial"/>
              </a:rPr>
              <a:t>SLIDE - WRITING REQUIREMENTS</a:t>
            </a:r>
          </a:p>
          <a:p/>
          <a:p>
            <a:r>
              <a:rPr sz="1000">
                <a:latin typeface="Arial"/>
              </a:rPr>
              <a:t>ROLE : Preparer ecrit.</a:t>
            </a:r>
          </a:p>
          <a:p>
            <a:r>
              <a:rPr sz="1000">
                <a:latin typeface="Arial"/>
              </a:rPr>
              <a:t>DUREE : 3 min</a:t>
            </a:r>
          </a:p>
          <a:p/>
          <a:p>
            <a:r>
              <a:rPr sz="1000">
                <a:latin typeface="Arial"/>
              </a:rPr>
              <a:t>5 ETAPES :</a:t>
            </a:r>
          </a:p>
          <a:p>
            <a:r>
              <a:rPr sz="1000">
                <a:latin typeface="Arial"/>
              </a:rPr>
              <a:t>1. Brainstorming (3 min)</a:t>
            </a:r>
          </a:p>
          <a:p>
            <a:r>
              <a:rPr sz="1000">
                <a:latin typeface="Arial"/>
              </a:rPr>
              <a:t>2. Borrador (10 min)</a:t>
            </a:r>
          </a:p>
          <a:p>
            <a:r>
              <a:rPr sz="1000">
                <a:latin typeface="Arial"/>
              </a:rPr>
              <a:t>3. Revision (5 min)</a:t>
            </a:r>
          </a:p>
          <a:p>
            <a:r>
              <a:rPr sz="1000">
                <a:latin typeface="Arial"/>
              </a:rPr>
              <a:t>4. Edicion (5 min)</a:t>
            </a:r>
          </a:p>
          <a:p>
            <a:r>
              <a:rPr sz="1000">
                <a:latin typeface="Arial"/>
              </a:rPr>
              <a:t>5. Publicacion (5 min)</a:t>
            </a:r>
          </a:p>
          <a:p/>
          <a:p>
            <a:r>
              <a:rPr sz="1000">
                <a:latin typeface="Arial"/>
              </a:rPr>
              <a:t>FOCUS : Present Continuous + Going to vs PC</a:t>
            </a:r>
          </a:p>
          <a:p/>
          <a:p>
            <a:r>
              <a:rPr sz="1000">
                <a:latin typeface="Arial"/>
              </a:rPr>
              <a:t>NE PAS ecrire a sa place.</a:t>
            </a:r>
          </a:p>
          <a:p/>
          <a:p>
            <a:r>
              <a:rPr sz="1000">
                <a:latin typeface="Arial"/>
              </a:rPr>
              <a:t>TRANSITION : "Now let's look at the template."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>
                <a:latin typeface="Arial"/>
              </a:rPr>
              <a:t>SLIDE - WRITING TEMPLATE</a:t>
            </a:r>
          </a:p>
          <a:p/>
          <a:p>
            <a:r>
              <a:rPr sz="1000">
                <a:latin typeface="Arial"/>
              </a:rPr>
              <a:t>ROLE : Guide structurel.</a:t>
            </a:r>
          </a:p>
          <a:p>
            <a:r>
              <a:rPr sz="1000">
                <a:latin typeface="Arial"/>
              </a:rPr>
              <a:t>DUREE : 2 min</a:t>
            </a:r>
          </a:p>
          <a:p/>
          <a:p>
            <a:r>
              <a:rPr sz="1000">
                <a:latin typeface="Arial"/>
              </a:rPr>
              <a:t>Ingrid ecrit sur papier.</a:t>
            </a:r>
          </a:p>
          <a:p>
            <a:r>
              <a:rPr sz="1000">
                <a:latin typeface="Arial"/>
              </a:rPr>
              <a:t>Suit le template.</a:t>
            </a:r>
          </a:p>
          <a:p>
            <a:r>
              <a:rPr sz="1000">
                <a:latin typeface="Arial"/>
              </a:rPr>
              <a:t>Complete les blancs.</a:t>
            </a:r>
          </a:p>
          <a:p/>
          <a:p>
            <a:r>
              <a:rPr sz="1000">
                <a:latin typeface="Arial"/>
              </a:rPr>
              <a:t>VERIFIER a la fin.</a:t>
            </a:r>
          </a:p>
          <a:p/>
          <a:p>
            <a:r>
              <a:rPr sz="1000">
                <a:latin typeface="Arial"/>
              </a:rPr>
              <a:t>TRANSITION : "Now let's check your progress."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>
                <a:latin typeface="Arial"/>
              </a:rPr>
              <a:t>SLIDE - CHECKPOINT</a:t>
            </a:r>
          </a:p>
          <a:p/>
          <a:p>
            <a:r>
              <a:rPr sz="1000">
                <a:latin typeface="Arial"/>
              </a:rPr>
              <a:t>ROLE : Auto-evaluation.</a:t>
            </a:r>
          </a:p>
          <a:p>
            <a:r>
              <a:rPr sz="1000">
                <a:latin typeface="Arial"/>
              </a:rPr>
              <a:t>DUREE : 5 min</a:t>
            </a:r>
          </a:p>
          <a:p/>
          <a:p>
            <a:r>
              <a:rPr sz="1000">
                <a:latin typeface="Arial"/>
              </a:rPr>
              <a:t>Lire chaque critere.</a:t>
            </a:r>
          </a:p>
          <a:p>
            <a:r>
              <a:rPr sz="1000">
                <a:latin typeface="Arial"/>
              </a:rPr>
              <a:t>Ingrid repond honnetement.</a:t>
            </a:r>
          </a:p>
          <a:p/>
          <a:p>
            <a:r>
              <a:rPr sz="1000">
                <a:latin typeface="Arial"/>
              </a:rPr>
              <a:t>NE PAS juger.</a:t>
            </a:r>
          </a:p>
          <a:p/>
          <a:p>
            <a:r>
              <a:rPr sz="1000">
                <a:latin typeface="Arial"/>
              </a:rPr>
              <a:t>TRANSITION : "Now let's reflect."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>
                <a:latin typeface="Arial"/>
              </a:rPr>
              <a:t>SLIDE - VOCABULARY (1)</a:t>
            </a:r>
          </a:p>
          <a:p/>
          <a:p>
            <a:r>
              <a:rPr sz="1000">
                <a:latin typeface="Arial"/>
              </a:rPr>
              <a:t>ROLE : Introduire vocabulaire.</a:t>
            </a:r>
          </a:p>
          <a:p>
            <a:r>
              <a:rPr sz="1000">
                <a:latin typeface="Arial"/>
              </a:rPr>
              <a:t>DUREE : 8-10 min</a:t>
            </a:r>
          </a:p>
          <a:p/>
          <a:p>
            <a:r>
              <a:rPr sz="1000">
                <a:latin typeface="Arial"/>
              </a:rPr>
              <a:t>METHODE 3 ETAPES :</a:t>
            </a:r>
          </a:p>
          <a:p>
            <a:r>
              <a:rPr sz="1000">
                <a:latin typeface="Arial"/>
              </a:rPr>
              <a:t>1. Prof dit -&gt; Ingrid repete</a:t>
            </a:r>
          </a:p>
          <a:p>
            <a:r>
              <a:rPr sz="1000">
                <a:latin typeface="Arial"/>
              </a:rPr>
              <a:t>2. Prof traduit</a:t>
            </a:r>
          </a:p>
          <a:p>
            <a:r>
              <a:rPr sz="1000">
                <a:latin typeface="Arial"/>
              </a:rPr>
              <a:t>3. Ingrid fait une phrase</a:t>
            </a:r>
          </a:p>
          <a:p/>
          <a:p>
            <a:r>
              <a:rPr sz="1000">
                <a:latin typeface="Arial"/>
              </a:rPr>
              <a:t>NE PAS lire simplement.</a:t>
            </a:r>
          </a:p>
          <a:p>
            <a:r>
              <a:rPr sz="1000">
                <a:latin typeface="Arial"/>
              </a:rPr>
              <a:t>TOUJOURS prononcer + utiliser.</a:t>
            </a:r>
          </a:p>
          <a:p/>
          <a:p>
            <a:r>
              <a:rPr sz="1000">
                <a:latin typeface="Arial"/>
              </a:rPr>
              <a:t>TRANSITION : "Now let's look at common mistakes."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>
                <a:latin typeface="Arial"/>
              </a:rPr>
              <a:t>SLIDE - PRACTICE (1)</a:t>
            </a:r>
          </a:p>
          <a:p/>
          <a:p>
            <a:r>
              <a:rPr sz="1000">
                <a:latin typeface="Arial"/>
              </a:rPr>
              <a:t>ROLE : Pratique controlee.</a:t>
            </a:r>
          </a:p>
          <a:p>
            <a:r>
              <a:rPr sz="1000">
                <a:latin typeface="Arial"/>
              </a:rPr>
              <a:t>DUREE : 8-10 min</a:t>
            </a:r>
          </a:p>
          <a:p/>
          <a:p>
            <a:r>
              <a:rPr sz="1000">
                <a:latin typeface="Arial"/>
              </a:rPr>
              <a:t>1. ORAL d'abord</a:t>
            </a:r>
          </a:p>
          <a:p>
            <a:r>
              <a:rPr sz="1000">
                <a:latin typeface="Arial"/>
              </a:rPr>
              <a:t>2. ECRIT ensuite</a:t>
            </a:r>
          </a:p>
          <a:p>
            <a:r>
              <a:rPr sz="1000">
                <a:latin typeface="Arial"/>
              </a:rPr>
              <a:t>3. CORRECTION en temps reel</a:t>
            </a:r>
          </a:p>
          <a:p/>
          <a:p>
            <a:r>
              <a:rPr sz="1000">
                <a:latin typeface="Arial"/>
              </a:rPr>
              <a:t>Ne pas donner la reponse.</a:t>
            </a:r>
          </a:p>
          <a:p>
            <a:r>
              <a:rPr sz="1000">
                <a:latin typeface="Arial"/>
              </a:rPr>
              <a:t>Laisser 5-10 secondes.</a:t>
            </a:r>
          </a:p>
          <a:p>
            <a:r>
              <a:rPr sz="1000">
                <a:latin typeface="Arial"/>
              </a:rPr>
              <a:t>MAX 3 corrections.</a:t>
            </a:r>
          </a:p>
          <a:p/>
          <a:p>
            <a:r>
              <a:rPr sz="1000">
                <a:latin typeface="Arial"/>
              </a:rPr>
              <a:t>TRANSITION : "Now let's use these in conversation."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>
                <a:latin typeface="Arial"/>
              </a:rPr>
              <a:t>SLIDE - PRONUNCIATION</a:t>
            </a:r>
          </a:p>
          <a:p/>
          <a:p>
            <a:r>
              <a:rPr sz="1000">
                <a:latin typeface="Arial"/>
              </a:rPr>
              <a:t>ROLE : Pratique active.</a:t>
            </a:r>
          </a:p>
          <a:p>
            <a:r>
              <a:rPr sz="1000">
                <a:latin typeface="Arial"/>
              </a:rPr>
              <a:t>DUREE : 5 min</a:t>
            </a:r>
          </a:p>
          <a:p/>
          <a:p>
            <a:r>
              <a:rPr sz="1000">
                <a:latin typeface="Arial"/>
              </a:rPr>
              <a:t>Chaque mot repete 5 fois.</a:t>
            </a:r>
          </a:p>
          <a:p>
            <a:r>
              <a:rPr sz="1000">
                <a:latin typeface="Arial"/>
              </a:rPr>
              <a:t>Prof corrige en temps reel.</a:t>
            </a:r>
          </a:p>
          <a:p>
            <a:r>
              <a:rPr sz="1000">
                <a:latin typeface="Arial"/>
              </a:rPr>
              <a:t>Enregistrer si possible.</a:t>
            </a:r>
          </a:p>
          <a:p/>
          <a:p>
            <a:r>
              <a:rPr sz="1000">
                <a:latin typeface="Arial"/>
              </a:rPr>
              <a:t>TRANSITION : "Now let's practice with exercises."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>
                <a:latin typeface="Arial"/>
              </a:rPr>
              <a:t>SLIDE - THANKS</a:t>
            </a:r>
          </a:p>
          <a:p/>
          <a:p>
            <a:r>
              <a:rPr sz="1000">
                <a:latin typeface="Arial"/>
              </a:rPr>
              <a:t>ROLE : Cloture.</a:t>
            </a:r>
          </a:p>
          <a:p>
            <a:r>
              <a:rPr sz="1000">
                <a:latin typeface="Arial"/>
              </a:rPr>
              <a:t>DUREE : 2 min</a:t>
            </a:r>
          </a:p>
          <a:p/>
          <a:p>
            <a:r>
              <a:rPr sz="1000">
                <a:latin typeface="Arial"/>
              </a:rPr>
              <a:t>SCRIPT :</a:t>
            </a:r>
          </a:p>
          <a:p>
            <a:r>
              <a:rPr sz="1000">
                <a:latin typeface="Arial"/>
              </a:rPr>
              <a:t>"Excellent work today, Ingrid!</a:t>
            </a:r>
          </a:p>
          <a:p>
            <a:r>
              <a:rPr sz="1000">
                <a:latin typeface="Arial"/>
              </a:rPr>
              <a:t>You've completed Class 05.</a:t>
            </a:r>
          </a:p>
          <a:p>
            <a:r>
              <a:rPr sz="1000">
                <a:latin typeface="Arial"/>
              </a:rPr>
              <a:t>See you next time."</a:t>
            </a:r>
          </a:p>
          <a:p/>
          <a:p>
            <a:r>
              <a:rPr sz="1000">
                <a:latin typeface="Arial"/>
              </a:rPr>
              <a:t>Rappeler : Class 06</a:t>
            </a:r>
          </a:p>
          <a:p/>
          <a:p>
            <a:r>
              <a:rPr sz="1000">
                <a:latin typeface="Arial"/>
              </a:rPr>
              <a:t>TERMINER sur une note positive.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011680"/>
            <a:ext cx="8046720" cy="1645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4800" b="1" i="0">
                <a:solidFill>
                  <a:srgbClr val="3D1F5C"/>
                </a:solidFill>
                <a:latin typeface="Arial"/>
              </a:rPr>
              <a:t>MY WEEK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840480"/>
            <a:ext cx="804672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Ingrid - English - Class 05</a:t>
            </a:r>
          </a:p>
          <a:p>
            <a:pPr algn="ctr">
              <a:lnSpc>
                <a:spcPct val="10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Profesor: Jean Thomas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Welcome!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8046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3D1F5C"/>
                </a:solidFill>
                <a:latin typeface="Arial"/>
              </a:rPr>
              <a:t>OVERVIEW — Today's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08760"/>
            <a:ext cx="8229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6B35"/>
                </a:solidFill>
                <a:latin typeface="Arial"/>
              </a:rPr>
              <a:t>01.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1508760"/>
            <a:ext cx="713232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Distinguish going to vs Present Continuous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221992"/>
            <a:ext cx="8229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6B35"/>
                </a:solidFill>
                <a:latin typeface="Arial"/>
              </a:rPr>
              <a:t>02.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2221992"/>
            <a:ext cx="713232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Use PC for arrangements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935224"/>
            <a:ext cx="8229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6B35"/>
                </a:solidFill>
                <a:latin typeface="Arial"/>
              </a:rPr>
              <a:t>03.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2935224"/>
            <a:ext cx="713232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Form am/is/are + verb-ing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648456"/>
            <a:ext cx="8229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6B35"/>
                </a:solidFill>
                <a:latin typeface="Arial"/>
              </a:rPr>
              <a:t>04.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648456"/>
            <a:ext cx="713232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Use tomorrow, tonight, on Friday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361688"/>
            <a:ext cx="8229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6B35"/>
                </a:solidFill>
                <a:latin typeface="Arial"/>
              </a:rPr>
              <a:t>05.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4361688"/>
            <a:ext cx="713232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Talk about schedules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074920"/>
            <a:ext cx="8229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6B35"/>
                </a:solidFill>
                <a:latin typeface="Arial"/>
              </a:rPr>
              <a:t>06.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5074920"/>
            <a:ext cx="713232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Present my week in 60-90 sec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GOAL: Speak with confidence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8046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3D1F5C"/>
                </a:solidFill>
                <a:latin typeface="Arial"/>
              </a:rPr>
              <a:t>SPEAKING — Answer orally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54480"/>
            <a:ext cx="8046720" cy="777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76809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-  What are you doing tomorrow?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450591"/>
            <a:ext cx="8046720" cy="777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450591"/>
            <a:ext cx="76809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-  Are you meeting anyone tonight?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346703"/>
            <a:ext cx="8046720" cy="777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346703"/>
            <a:ext cx="76809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-  What are you doing on Friday?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4242816"/>
            <a:ext cx="8046720" cy="777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4242816"/>
            <a:ext cx="76809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-  Are you working this weekend?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5138927"/>
            <a:ext cx="8046720" cy="777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5138927"/>
            <a:ext cx="76809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-  Who are you seeing this week?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Speak without looking at your notes.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8046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3D1F5C"/>
                </a:solidFill>
                <a:latin typeface="Arial"/>
              </a:rPr>
              <a:t>VOCABULARY — Arrangements (1/3)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08760"/>
            <a:ext cx="8046720" cy="13258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81912"/>
            <a:ext cx="36576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3D1F5C"/>
                </a:solidFill>
                <a:latin typeface="Arial"/>
              </a:rPr>
              <a:t>meet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0" y="1581912"/>
            <a:ext cx="27432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009B9B"/>
                </a:solidFill>
                <a:latin typeface="Arial"/>
              </a:rPr>
              <a:t>— reunirse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0" y="1581912"/>
            <a:ext cx="1554480" cy="365760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0" y="1581912"/>
            <a:ext cx="1554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Arial"/>
              </a:rPr>
              <a:t>ESSENTIAL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1965960"/>
            <a:ext cx="7589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666666"/>
                </a:solidFill>
                <a:latin typeface="Arial"/>
              </a:rPr>
              <a:t>+ meet a friend  + meet at 6 p.m.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2258568"/>
            <a:ext cx="7589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1">
                <a:solidFill>
                  <a:srgbClr val="000000"/>
                </a:solidFill>
                <a:latin typeface="Arial"/>
              </a:rPr>
              <a:t>  "I'm meeting Anna tomorrow at 6."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2514600"/>
            <a:ext cx="75895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62828"/>
                </a:solidFill>
                <a:latin typeface="Arial"/>
              </a:rPr>
              <a:t>  NOT 'meet with to Anna'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926080"/>
            <a:ext cx="8046720" cy="13258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999232"/>
            <a:ext cx="36576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3D1F5C"/>
                </a:solidFill>
                <a:latin typeface="Arial"/>
              </a:rPr>
              <a:t>see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2999232"/>
            <a:ext cx="27432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009B9B"/>
                </a:solidFill>
                <a:latin typeface="Arial"/>
              </a:rPr>
              <a:t>— ver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0" y="2999232"/>
            <a:ext cx="1554480" cy="365760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0" y="2999232"/>
            <a:ext cx="1554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Arial"/>
              </a:rPr>
              <a:t>ESSENTIAL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59" y="3383280"/>
            <a:ext cx="7589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666666"/>
                </a:solidFill>
                <a:latin typeface="Arial"/>
              </a:rPr>
              <a:t>+ see a friend  + see a movie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59" y="3675888"/>
            <a:ext cx="7589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1">
                <a:solidFill>
                  <a:srgbClr val="000000"/>
                </a:solidFill>
                <a:latin typeface="Arial"/>
              </a:rPr>
              <a:t>  "I'm seeing my cousin on Friday."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59" y="3931920"/>
            <a:ext cx="75895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62828"/>
                </a:solidFill>
                <a:latin typeface="Arial"/>
              </a:rPr>
              <a:t>  NOT 'see to my cousin'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4343400"/>
            <a:ext cx="8046720" cy="13258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4416552"/>
            <a:ext cx="36576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3D1F5C"/>
                </a:solidFill>
                <a:latin typeface="Arial"/>
              </a:rPr>
              <a:t>work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89120" y="4416552"/>
            <a:ext cx="27432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009B9B"/>
                </a:solidFill>
                <a:latin typeface="Arial"/>
              </a:rPr>
              <a:t>— trabajar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0" y="4416552"/>
            <a:ext cx="1554480" cy="365760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0" y="4416552"/>
            <a:ext cx="1554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Arial"/>
              </a:rPr>
              <a:t>ESSENTIAL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59" y="4800600"/>
            <a:ext cx="7589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666666"/>
                </a:solidFill>
                <a:latin typeface="Arial"/>
              </a:rPr>
              <a:t>+ work on Friday  + work until 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59" y="5093208"/>
            <a:ext cx="7589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1">
                <a:solidFill>
                  <a:srgbClr val="000000"/>
                </a:solidFill>
                <a:latin typeface="Arial"/>
              </a:rPr>
              <a:t>  "She's working on Friday."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59" y="5349240"/>
            <a:ext cx="75895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62828"/>
                </a:solidFill>
                <a:latin typeface="Arial"/>
              </a:rPr>
              <a:t>  NOT 'work in Friday'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Read aloud. Practice collocations.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8046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3D1F5C"/>
                </a:solidFill>
                <a:latin typeface="Arial"/>
              </a:rPr>
              <a:t>VOCABULARY — Arrangements (2/3)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08760"/>
            <a:ext cx="8046720" cy="13258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81912"/>
            <a:ext cx="36576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3D1F5C"/>
                </a:solidFill>
                <a:latin typeface="Arial"/>
              </a:rPr>
              <a:t>study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0" y="1581912"/>
            <a:ext cx="27432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009B9B"/>
                </a:solidFill>
                <a:latin typeface="Arial"/>
              </a:rPr>
              <a:t>— estudiar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0" y="1581912"/>
            <a:ext cx="1554480" cy="365760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0" y="1581912"/>
            <a:ext cx="1554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Arial"/>
              </a:rPr>
              <a:t>ESSENTIAL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1965960"/>
            <a:ext cx="7589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666666"/>
                </a:solidFill>
                <a:latin typeface="Arial"/>
              </a:rPr>
              <a:t>+ study English  + study on Monday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2258568"/>
            <a:ext cx="7589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1">
                <a:solidFill>
                  <a:srgbClr val="000000"/>
                </a:solidFill>
                <a:latin typeface="Arial"/>
              </a:rPr>
              <a:t>  "I'm studying English on Monday."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2514600"/>
            <a:ext cx="75895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62828"/>
                </a:solidFill>
                <a:latin typeface="Arial"/>
              </a:rPr>
              <a:t>  NOT 'study to English'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926080"/>
            <a:ext cx="8046720" cy="13258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999232"/>
            <a:ext cx="36576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3D1F5C"/>
                </a:solidFill>
                <a:latin typeface="Arial"/>
              </a:rPr>
              <a:t>have dinner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2999232"/>
            <a:ext cx="27432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009B9B"/>
                </a:solidFill>
                <a:latin typeface="Arial"/>
              </a:rPr>
              <a:t>— cenar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0" y="2999232"/>
            <a:ext cx="1554480" cy="365760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0" y="2999232"/>
            <a:ext cx="1554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Arial"/>
              </a:rPr>
              <a:t>ESSENTIAL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59" y="3383280"/>
            <a:ext cx="7589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666666"/>
                </a:solidFill>
                <a:latin typeface="Arial"/>
              </a:rPr>
              <a:t>+ have dinner with family  + have dinner at 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59" y="3675888"/>
            <a:ext cx="7589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1">
                <a:solidFill>
                  <a:srgbClr val="000000"/>
                </a:solidFill>
                <a:latin typeface="Arial"/>
              </a:rPr>
              <a:t>  "We're having dinner with my parents."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59" y="3931920"/>
            <a:ext cx="75895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62828"/>
                </a:solidFill>
                <a:latin typeface="Arial"/>
              </a:rPr>
              <a:t>  NOT 'take dinner'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4343400"/>
            <a:ext cx="8046720" cy="13258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4416552"/>
            <a:ext cx="36576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3D1F5C"/>
                </a:solidFill>
                <a:latin typeface="Arial"/>
              </a:rPr>
              <a:t>go shopping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89120" y="4416552"/>
            <a:ext cx="27432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009B9B"/>
                </a:solidFill>
                <a:latin typeface="Arial"/>
              </a:rPr>
              <a:t>— ir de compras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0" y="4416552"/>
            <a:ext cx="1554480" cy="365760"/>
          </a:xfrm>
          <a:prstGeom prst="round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0" y="4416552"/>
            <a:ext cx="1554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Arial"/>
              </a:rPr>
              <a:t>IMPORTANT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59" y="4800600"/>
            <a:ext cx="7589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666666"/>
                </a:solidFill>
                <a:latin typeface="Arial"/>
              </a:rPr>
              <a:t>+ go shopping with friends  + go shopping on Saturday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59" y="5093208"/>
            <a:ext cx="7589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1">
                <a:solidFill>
                  <a:srgbClr val="000000"/>
                </a:solidFill>
                <a:latin typeface="Arial"/>
              </a:rPr>
              <a:t>  "I'm going shopping on Saturday morning."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59" y="5349240"/>
            <a:ext cx="75895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62828"/>
                </a:solidFill>
                <a:latin typeface="Arial"/>
              </a:rPr>
              <a:t>  NOT 'go to shopping'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Read aloud. Practice collocations.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8046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3D1F5C"/>
                </a:solidFill>
                <a:latin typeface="Arial"/>
              </a:rPr>
              <a:t>VOCABULARY — Arrangements (3/3)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08760"/>
            <a:ext cx="8046720" cy="13258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81912"/>
            <a:ext cx="36576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3D1F5C"/>
                </a:solidFill>
                <a:latin typeface="Arial"/>
              </a:rPr>
              <a:t>visit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0" y="1581912"/>
            <a:ext cx="27432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009B9B"/>
                </a:solidFill>
                <a:latin typeface="Arial"/>
              </a:rPr>
              <a:t>— visitar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0" y="1581912"/>
            <a:ext cx="1554480" cy="365760"/>
          </a:xfrm>
          <a:prstGeom prst="round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0" y="1581912"/>
            <a:ext cx="1554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Arial"/>
              </a:rPr>
              <a:t>IMPORTANT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1965960"/>
            <a:ext cx="7589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666666"/>
                </a:solidFill>
                <a:latin typeface="Arial"/>
              </a:rPr>
              <a:t>+ visit family  + visit on Sunday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2258568"/>
            <a:ext cx="7589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1">
                <a:solidFill>
                  <a:srgbClr val="000000"/>
                </a:solidFill>
                <a:latin typeface="Arial"/>
              </a:rPr>
              <a:t>  "I'm visiting my aunt on Sunday."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2514600"/>
            <a:ext cx="75895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62828"/>
                </a:solidFill>
                <a:latin typeface="Arial"/>
              </a:rPr>
              <a:t>  NOT 'visit to my aunt'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926080"/>
            <a:ext cx="8046720" cy="13258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999232"/>
            <a:ext cx="36576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3D1F5C"/>
                </a:solidFill>
                <a:latin typeface="Arial"/>
              </a:rPr>
              <a:t>take a class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2999232"/>
            <a:ext cx="27432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009B9B"/>
                </a:solidFill>
                <a:latin typeface="Arial"/>
              </a:rPr>
              <a:t>— tomar clase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0" y="2999232"/>
            <a:ext cx="1554480" cy="365760"/>
          </a:xfrm>
          <a:prstGeom prst="round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0" y="2999232"/>
            <a:ext cx="1554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Arial"/>
              </a:rPr>
              <a:t>IMPORTANT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59" y="3383280"/>
            <a:ext cx="7589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666666"/>
                </a:solidFill>
                <a:latin typeface="Arial"/>
              </a:rPr>
              <a:t>+ take an English class  + take a yoga class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59" y="3675888"/>
            <a:ext cx="7589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1">
                <a:solidFill>
                  <a:srgbClr val="000000"/>
                </a:solidFill>
                <a:latin typeface="Arial"/>
              </a:rPr>
              <a:t>  "I'm taking an English class tonight."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59" y="3931920"/>
            <a:ext cx="75895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62828"/>
                </a:solidFill>
                <a:latin typeface="Arial"/>
              </a:rPr>
              <a:t>  NOT 'take to a class'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Read aloud. Practice collocations.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8046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3D1F5C"/>
                </a:solidFill>
                <a:latin typeface="Arial"/>
              </a:rPr>
              <a:t>⚠️  COMMON MISTAKES — Avoid these!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08760"/>
            <a:ext cx="8046720" cy="1005839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76809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C62828"/>
                </a:solidFill>
                <a:latin typeface="Arial"/>
              </a:rPr>
              <a:t>❌  In Friday I'm working.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92808"/>
            <a:ext cx="76809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2E7D32"/>
                </a:solidFill>
                <a:latin typeface="Arial"/>
              </a:rPr>
              <a:t>✓   On Friday I'm working.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31136"/>
            <a:ext cx="76809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1">
                <a:solidFill>
                  <a:srgbClr val="666666"/>
                </a:solidFill>
                <a:latin typeface="Arial"/>
              </a:rPr>
              <a:t>      Con días se usa 'on', no 'in'.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606040"/>
            <a:ext cx="8046720" cy="1005839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651760"/>
            <a:ext cx="76809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C62828"/>
                </a:solidFill>
                <a:latin typeface="Arial"/>
              </a:rPr>
              <a:t>❌  I'm going to shopping.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990088"/>
            <a:ext cx="76809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2E7D32"/>
                </a:solidFill>
                <a:latin typeface="Arial"/>
              </a:rPr>
              <a:t>✓   I'm going shopping.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328416"/>
            <a:ext cx="76809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1">
                <a:solidFill>
                  <a:srgbClr val="666666"/>
                </a:solidFill>
                <a:latin typeface="Arial"/>
              </a:rPr>
              <a:t>      Se dice 'go shopping', sin 'to'.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703320"/>
            <a:ext cx="8046720" cy="1005839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749039"/>
            <a:ext cx="76809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C62828"/>
                </a:solidFill>
                <a:latin typeface="Arial"/>
              </a:rPr>
              <a:t>❌  I'm meeting with Anna.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087368"/>
            <a:ext cx="76809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2E7D32"/>
                </a:solidFill>
                <a:latin typeface="Arial"/>
              </a:rPr>
              <a:t>✓   I'm meeting Anna.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425696"/>
            <a:ext cx="76809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1">
                <a:solidFill>
                  <a:srgbClr val="666666"/>
                </a:solidFill>
                <a:latin typeface="Arial"/>
              </a:rPr>
              <a:t>      'Meet' no lleva 'with' cuando es reunirse.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800600"/>
            <a:ext cx="8046720" cy="1005839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846320"/>
            <a:ext cx="76809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C62828"/>
                </a:solidFill>
                <a:latin typeface="Arial"/>
              </a:rPr>
              <a:t>❌  Actually I'm working.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184648"/>
            <a:ext cx="76809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2E7D32"/>
                </a:solidFill>
                <a:latin typeface="Arial"/>
              </a:rPr>
              <a:t>✓   Currently I'm working.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522976"/>
            <a:ext cx="76809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1">
                <a:solidFill>
                  <a:srgbClr val="666666"/>
                </a:solidFill>
                <a:latin typeface="Arial"/>
              </a:rPr>
              <a:t>      'Actually' = 'en realidad'. 'Actualmente' = 'currently'.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Repeat after me. Don't make these mistakes!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8046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3D1F5C"/>
                </a:solidFill>
                <a:latin typeface="Arial"/>
              </a:rPr>
              <a:t>EXPRESSIONS &amp; YOUR TURN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08760"/>
            <a:ext cx="8046720" cy="2286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81912"/>
            <a:ext cx="7680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F6B35"/>
                </a:solidFill>
                <a:latin typeface="Arial"/>
              </a:rPr>
              <a:t>EXPRESSIONS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59" y="1965960"/>
            <a:ext cx="75895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000000"/>
                </a:solidFill>
                <a:latin typeface="Arial"/>
              </a:rPr>
              <a:t>▸  What are you doing tomorrow?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2313432"/>
            <a:ext cx="75895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000000"/>
                </a:solidFill>
                <a:latin typeface="Arial"/>
              </a:rPr>
              <a:t>▸  I'm meeting Anna at 6 p.m.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2660903"/>
            <a:ext cx="75895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000000"/>
                </a:solidFill>
                <a:latin typeface="Arial"/>
              </a:rPr>
              <a:t>▸  She's working on Friday.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3008375"/>
            <a:ext cx="75895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000000"/>
                </a:solidFill>
                <a:latin typeface="Arial"/>
              </a:rPr>
              <a:t>▸  We're having dinner tonight.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3355847"/>
            <a:ext cx="75895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000000"/>
                </a:solidFill>
                <a:latin typeface="Arial"/>
              </a:rPr>
              <a:t>▸  I'm not going out this weekend.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931920"/>
            <a:ext cx="8046720" cy="1828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4005072"/>
            <a:ext cx="7680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F6B35"/>
                </a:solidFill>
                <a:latin typeface="Arial"/>
              </a:rPr>
              <a:t>🎯  YOUR TURN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59" y="4389120"/>
            <a:ext cx="7589520" cy="3017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000000"/>
                </a:solidFill>
                <a:latin typeface="Arial"/>
              </a:rPr>
              <a:t>1.  On Monday, I'm       -&gt; ________________________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59" y="4709159"/>
            <a:ext cx="7589520" cy="3017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000000"/>
                </a:solidFill>
                <a:latin typeface="Arial"/>
              </a:rPr>
              <a:t>2.  On Tuesday, I'm      -&gt; ________________________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59" y="5029199"/>
            <a:ext cx="7589520" cy="3017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000000"/>
                </a:solidFill>
                <a:latin typeface="Arial"/>
              </a:rPr>
              <a:t>3.  On Wednesday, I'm    -&gt; ________________________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59" y="5349239"/>
            <a:ext cx="7589520" cy="3017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000000"/>
                </a:solidFill>
                <a:latin typeface="Arial"/>
              </a:rPr>
              <a:t>4.  I'm not ____ because ____.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59" y="5669279"/>
            <a:ext cx="7589520" cy="3017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000000"/>
                </a:solidFill>
                <a:latin typeface="Arial"/>
              </a:rPr>
              <a:t>5.  What are you doing ____?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Write your own sentences.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8046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3D1F5C"/>
                </a:solidFill>
                <a:latin typeface="Arial"/>
              </a:rPr>
              <a:t>GRAMMAR — Present Cont. Future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00200"/>
            <a:ext cx="8046720" cy="502920"/>
          </a:xfrm>
          <a:prstGeom prst="round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00200"/>
            <a:ext cx="76809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FFFFFF"/>
                </a:solidFill>
                <a:latin typeface="Arial"/>
              </a:rPr>
              <a:t>FORMULA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286000"/>
            <a:ext cx="8046720" cy="34747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2423160"/>
            <a:ext cx="7498080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SUBJECT + am/is/are + VERB-ING + future time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PC = organized arrangement.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8046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3D1F5C"/>
                </a:solidFill>
                <a:latin typeface="Arial"/>
              </a:rPr>
              <a:t>GRAMMAR — Present Cont. Future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00200"/>
            <a:ext cx="8046720" cy="502920"/>
          </a:xfrm>
          <a:prstGeom prst="round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00200"/>
            <a:ext cx="76809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FFFFFF"/>
                </a:solidFill>
                <a:latin typeface="Arial"/>
              </a:rPr>
              <a:t>USE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286000"/>
            <a:ext cx="8046720" cy="34747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2423160"/>
            <a:ext cx="7498080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Arrangements already organized</a:t>
            </a:r>
          </a:p>
          <a:p>
            <a:pPr algn="l">
              <a:lnSpc>
                <a:spcPct val="13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Fixed appointments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PC = organized arrangement.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8046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3D1F5C"/>
                </a:solidFill>
                <a:latin typeface="Arial"/>
              </a:rPr>
              <a:t>GRAMMAR — Present Cont. Future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00200"/>
            <a:ext cx="8046720" cy="502920"/>
          </a:xfrm>
          <a:prstGeom prst="round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00200"/>
            <a:ext cx="76809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FFFFFF"/>
                </a:solidFill>
                <a:latin typeface="Arial"/>
              </a:rPr>
              <a:t>EXAMPLES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286000"/>
            <a:ext cx="8046720" cy="34747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2423160"/>
            <a:ext cx="7498080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I am meeting Anna tomorrow.</a:t>
            </a:r>
          </a:p>
          <a:p>
            <a:pPr algn="l">
              <a:lnSpc>
                <a:spcPct val="13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She is working on Friday.</a:t>
            </a:r>
          </a:p>
          <a:p>
            <a:pPr algn="l">
              <a:lnSpc>
                <a:spcPct val="13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We are having dinner tonight.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PC = organized arrangement.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8046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3D1F5C"/>
                </a:solidFill>
                <a:latin typeface="Arial"/>
              </a:rPr>
              <a:t>GRAMMAR — Neg &amp; Questions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00200"/>
            <a:ext cx="8046720" cy="502920"/>
          </a:xfrm>
          <a:prstGeom prst="round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00200"/>
            <a:ext cx="76809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FFFFFF"/>
                </a:solidFill>
                <a:latin typeface="Arial"/>
              </a:rPr>
              <a:t>NEGATIVE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286000"/>
            <a:ext cx="8046720" cy="34747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2423160"/>
            <a:ext cx="7498080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I'm not meeting Anna tomorrow.</a:t>
            </a:r>
          </a:p>
          <a:p>
            <a:pPr algn="l">
              <a:lnSpc>
                <a:spcPct val="13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She isn't working on Friday.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PC = arrangement. Going to = plan.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8046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3D1F5C"/>
                </a:solidFill>
                <a:latin typeface="Arial"/>
              </a:rPr>
              <a:t>GRAMMAR — Neg &amp; Questions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00200"/>
            <a:ext cx="8046720" cy="502920"/>
          </a:xfrm>
          <a:prstGeom prst="round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00200"/>
            <a:ext cx="76809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FFFFFF"/>
                </a:solidFill>
                <a:latin typeface="Arial"/>
              </a:rPr>
              <a:t>QUESTIONS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286000"/>
            <a:ext cx="8046720" cy="34747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2423160"/>
            <a:ext cx="7498080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Are you meeting Anna tomorrow?</a:t>
            </a:r>
          </a:p>
          <a:p>
            <a:pPr algn="l">
              <a:lnSpc>
                <a:spcPct val="13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Is she working on Friday?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PC = arrangement. Going to = plan.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8046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3D1F5C"/>
                </a:solidFill>
                <a:latin typeface="Arial"/>
              </a:rPr>
              <a:t>GRAMMAR — Neg &amp; Questions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00200"/>
            <a:ext cx="8046720" cy="502920"/>
          </a:xfrm>
          <a:prstGeom prst="round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00200"/>
            <a:ext cx="76809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FFFFFF"/>
                </a:solidFill>
                <a:latin typeface="Arial"/>
              </a:rPr>
              <a:t>DIFFERENCE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286000"/>
            <a:ext cx="8046720" cy="34747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2423160"/>
            <a:ext cx="7498080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Going to = plan/intention</a:t>
            </a:r>
          </a:p>
          <a:p>
            <a:pPr algn="l">
              <a:lnSpc>
                <a:spcPct val="13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Present Continuous = arrangement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PC = arrangement. Going to = plan.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8046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3D1F5C"/>
                </a:solidFill>
                <a:latin typeface="Arial"/>
              </a:rPr>
              <a:t>SOUND — /ʃ/ vs /tʃ/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91640"/>
            <a:ext cx="8046720" cy="594359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59" y="1691640"/>
            <a:ext cx="7498080" cy="59435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000000"/>
                </a:solidFill>
                <a:latin typeface="Arial"/>
              </a:rPr>
              <a:t>shoe - chew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350008"/>
            <a:ext cx="8046720" cy="594359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2350008"/>
            <a:ext cx="7498080" cy="59435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000000"/>
                </a:solidFill>
                <a:latin typeface="Arial"/>
              </a:rPr>
              <a:t>ship - chip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008376"/>
            <a:ext cx="8046720" cy="594359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59" y="3008376"/>
            <a:ext cx="7498080" cy="59435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000000"/>
                </a:solidFill>
                <a:latin typeface="Arial"/>
              </a:rPr>
              <a:t>shop - chop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666744"/>
            <a:ext cx="8046720" cy="594359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59" y="3666744"/>
            <a:ext cx="7498080" cy="59435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000000"/>
                </a:solidFill>
                <a:latin typeface="Arial"/>
              </a:rPr>
              <a:t>wash - watch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Listen to 'sh' vs 'ch'.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8046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3D1F5C"/>
                </a:solidFill>
                <a:latin typeface="Arial"/>
              </a:rPr>
              <a:t>PRONUNCIATION — Practice /ʃ/ vs /tʃ/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00200"/>
            <a:ext cx="8046720" cy="777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76809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3D1F5C"/>
                </a:solidFill>
                <a:latin typeface="Arial"/>
              </a:rPr>
              <a:t>shoe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76809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1">
                <a:solidFill>
                  <a:srgbClr val="009B9B"/>
                </a:solidFill>
                <a:latin typeface="Arial"/>
              </a:rPr>
              <a:t>/ʃuː/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514600"/>
            <a:ext cx="8046720" cy="777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560320"/>
            <a:ext cx="76809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3D1F5C"/>
                </a:solidFill>
                <a:latin typeface="Arial"/>
              </a:rPr>
              <a:t>chew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926080"/>
            <a:ext cx="76809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1">
                <a:solidFill>
                  <a:srgbClr val="009B9B"/>
                </a:solidFill>
                <a:latin typeface="Arial"/>
              </a:rPr>
              <a:t>/tʃuː/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429000"/>
            <a:ext cx="8046720" cy="777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3474720"/>
            <a:ext cx="76809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3D1F5C"/>
                </a:solidFill>
                <a:latin typeface="Arial"/>
              </a:rPr>
              <a:t>wash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840480"/>
            <a:ext cx="76809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1">
                <a:solidFill>
                  <a:srgbClr val="009B9B"/>
                </a:solidFill>
                <a:latin typeface="Arial"/>
              </a:rPr>
              <a:t>/wɑːʃ/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343400"/>
            <a:ext cx="8046720" cy="777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4389120"/>
            <a:ext cx="76809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3D1F5C"/>
                </a:solidFill>
                <a:latin typeface="Arial"/>
              </a:rPr>
              <a:t>watch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754880"/>
            <a:ext cx="76809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1">
                <a:solidFill>
                  <a:srgbClr val="009B9B"/>
                </a:solidFill>
                <a:latin typeface="Arial"/>
              </a:rPr>
              <a:t>/wɑːtʃ/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Record yourself and compare.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17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8046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3D1F5C"/>
                </a:solidFill>
                <a:latin typeface="Arial"/>
              </a:rPr>
              <a:t>PRACTICE — Complete (1/2)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45920"/>
            <a:ext cx="8046720" cy="777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76809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1. I ___ (meet) my friend tomorrow.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560320"/>
            <a:ext cx="8046720" cy="777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560320"/>
            <a:ext cx="76809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2. She ___ (work) on Friday.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474720"/>
            <a:ext cx="8046720" cy="777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474720"/>
            <a:ext cx="76809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3. They ___ (have) dinner tonight.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4389120"/>
            <a:ext cx="8046720" cy="777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4389120"/>
            <a:ext cx="76809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4. ___ you ___ (meet) anyone this weekend?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Answer orally first.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18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8046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3D1F5C"/>
                </a:solidFill>
                <a:latin typeface="Arial"/>
              </a:rPr>
              <a:t>PRACTICE — Complete (2/2)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45920"/>
            <a:ext cx="8046720" cy="777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76809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5. I ___ not ___ (go) shopping tomorrow.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560320"/>
            <a:ext cx="8046720" cy="777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560320"/>
            <a:ext cx="76809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6. Going to study vs am studying (intention)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474720"/>
            <a:ext cx="8046720" cy="777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474720"/>
            <a:ext cx="76809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7. Going to meet vs am meeting (arrangement)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4389120"/>
            <a:ext cx="8046720" cy="777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4389120"/>
            <a:ext cx="76809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8. Going to travel vs is traveling (plan)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Answer orally first.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19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8046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3D1F5C"/>
                </a:solidFill>
                <a:latin typeface="Arial"/>
              </a:rPr>
              <a:t>SPEAKING — Conversation (1/2)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54480"/>
            <a:ext cx="8046720" cy="1143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76809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3D1F5C"/>
                </a:solidFill>
                <a:latin typeface="Arial"/>
              </a:rPr>
              <a:t>What are you doing tomorrow?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48840"/>
            <a:ext cx="74980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009B9B"/>
                </a:solidFill>
                <a:latin typeface="Arial"/>
              </a:rPr>
              <a:t>-&gt;  I'm ____.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834639"/>
            <a:ext cx="8046720" cy="1143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926079"/>
            <a:ext cx="76809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3D1F5C"/>
                </a:solidFill>
                <a:latin typeface="Arial"/>
              </a:rPr>
              <a:t>What are you doing on Friday?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428999"/>
            <a:ext cx="74980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009B9B"/>
                </a:solidFill>
                <a:latin typeface="Arial"/>
              </a:rPr>
              <a:t>-&gt;  I'm ____.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4114800"/>
            <a:ext cx="8046720" cy="1143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4206240"/>
            <a:ext cx="76809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3D1F5C"/>
                </a:solidFill>
                <a:latin typeface="Arial"/>
              </a:rPr>
              <a:t>Are you meeting anyone this week?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709160"/>
            <a:ext cx="74980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009B9B"/>
                </a:solidFill>
                <a:latin typeface="Arial"/>
              </a:rPr>
              <a:t>-&gt;  Yes, I am. / No, I'm not.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Speak naturally.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20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8046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3D1F5C"/>
                </a:solidFill>
                <a:latin typeface="Arial"/>
              </a:rPr>
              <a:t>SPEAKING — Conversation (2/2)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54480"/>
            <a:ext cx="8046720" cy="1143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76809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3D1F5C"/>
                </a:solidFill>
                <a:latin typeface="Arial"/>
              </a:rPr>
              <a:t>Are you working this weekend?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48840"/>
            <a:ext cx="74980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009B9B"/>
                </a:solidFill>
                <a:latin typeface="Arial"/>
              </a:rPr>
              <a:t>-&gt;  Yes, I am. / No, I'm not.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834639"/>
            <a:ext cx="8046720" cy="1143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926079"/>
            <a:ext cx="76809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3D1F5C"/>
                </a:solidFill>
                <a:latin typeface="Arial"/>
              </a:rPr>
              <a:t>What time are you meeting your friend?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428999"/>
            <a:ext cx="74980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009B9B"/>
                </a:solidFill>
                <a:latin typeface="Arial"/>
              </a:rPr>
              <a:t>-&gt;  At ____.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4114800"/>
            <a:ext cx="8046720" cy="1143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4206240"/>
            <a:ext cx="76809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3D1F5C"/>
                </a:solidFill>
                <a:latin typeface="Arial"/>
              </a:rPr>
              <a:t>Where are you going?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709160"/>
            <a:ext cx="74980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009B9B"/>
                </a:solidFill>
                <a:latin typeface="Arial"/>
              </a:rPr>
              <a:t>-&gt;  I'm going to ____.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Speak naturally.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21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8046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3D1F5C"/>
                </a:solidFill>
                <a:latin typeface="Arial"/>
              </a:rPr>
              <a:t>LISTENING — My Week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08760"/>
            <a:ext cx="8046720" cy="4206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00200"/>
            <a:ext cx="7680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F6B35"/>
                </a:solidFill>
                <a:latin typeface="Arial"/>
              </a:rPr>
              <a:t>TEXT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59" y="2057400"/>
            <a:ext cx="7498080" cy="3566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0" i="0">
                <a:solidFill>
                  <a:srgbClr val="000000"/>
                </a:solidFill>
                <a:latin typeface="Arial"/>
              </a:rPr>
              <a:t>This week is busy. On Wednesday, I'm meeting my cousin at 6 p.m. On Thursday, I'm taking an English class in the evening. On Friday, I'm working until 5. On Saturday morning, I'm going shopping with a friend. On Sunday, I'm having dinner with my family.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Listen carefully to the text.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8046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3D1F5C"/>
                </a:solidFill>
                <a:latin typeface="Arial"/>
              </a:rPr>
              <a:t>LISTENING — Answer the questions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00200"/>
            <a:ext cx="8046720" cy="7315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00200"/>
            <a:ext cx="76809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000000"/>
                </a:solidFill>
                <a:latin typeface="Arial"/>
              </a:rPr>
              <a:t>1. Who is the speaker meeting on Wednesday?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404872"/>
            <a:ext cx="8046720" cy="7315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404872"/>
            <a:ext cx="76809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000000"/>
                </a:solidFill>
                <a:latin typeface="Arial"/>
              </a:rPr>
              <a:t>2. What is the speaker doing Thursday?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209544"/>
            <a:ext cx="8046720" cy="7315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209544"/>
            <a:ext cx="76809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000000"/>
                </a:solidFill>
                <a:latin typeface="Arial"/>
              </a:rPr>
              <a:t>3. What time does the speaker finish Friday?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4014215"/>
            <a:ext cx="8046720" cy="7315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4014215"/>
            <a:ext cx="76809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000000"/>
                </a:solidFill>
                <a:latin typeface="Arial"/>
              </a:rPr>
              <a:t>4. Who is the speaker going shopping with?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818888"/>
            <a:ext cx="8046720" cy="7315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4818888"/>
            <a:ext cx="76809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000000"/>
                </a:solidFill>
                <a:latin typeface="Arial"/>
              </a:rPr>
              <a:t>5. What is the speaker doing on Sunday?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Answer in complete sentences.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23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8046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3D1F5C"/>
                </a:solidFill>
                <a:latin typeface="Arial"/>
              </a:rPr>
              <a:t>SPEAKING CHALLENGE — My Week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600200"/>
            <a:ext cx="7315200" cy="685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600200"/>
            <a:ext cx="69494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>
                <a:solidFill>
                  <a:srgbClr val="3D1F5C"/>
                </a:solidFill>
                <a:latin typeface="Arial"/>
              </a:rPr>
              <a:t>5 Present Continuous sentences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377440"/>
            <a:ext cx="7315200" cy="685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377440"/>
            <a:ext cx="69494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>
                <a:solidFill>
                  <a:srgbClr val="3D1F5C"/>
                </a:solidFill>
                <a:latin typeface="Arial"/>
              </a:rPr>
              <a:t>3 time expressions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3154680"/>
            <a:ext cx="7315200" cy="685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3154680"/>
            <a:ext cx="69494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>
                <a:solidFill>
                  <a:srgbClr val="3D1F5C"/>
                </a:solidFill>
                <a:latin typeface="Arial"/>
              </a:rPr>
              <a:t>1 time and 1 place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3931920"/>
            <a:ext cx="7315200" cy="685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3931920"/>
            <a:ext cx="69494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>
                <a:solidFill>
                  <a:srgbClr val="3D1F5C"/>
                </a:solidFill>
                <a:latin typeface="Arial"/>
              </a:rPr>
              <a:t>1 negative sentence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4709159"/>
            <a:ext cx="7315200" cy="685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4709159"/>
            <a:ext cx="69494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>
                <a:solidFill>
                  <a:srgbClr val="3D1F5C"/>
                </a:solidFill>
                <a:latin typeface="Arial"/>
              </a:rPr>
              <a:t>60-90 seconds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Speak 1-2 minutes. No memorization.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24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8046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3D1F5C"/>
                </a:solidFill>
                <a:latin typeface="Arial"/>
              </a:rPr>
              <a:t>WRITING — Requirements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08760"/>
            <a:ext cx="3931920" cy="10058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00200"/>
            <a:ext cx="36576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FF6B35"/>
                </a:solidFill>
                <a:latin typeface="Arial"/>
              </a:rPr>
              <a:t>80-100 WORDS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36576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000000"/>
                </a:solidFill>
                <a:latin typeface="Arial"/>
              </a:rPr>
              <a:t>TIME: 20 min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63440" y="1508760"/>
            <a:ext cx="3931920" cy="100584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46320" y="1554480"/>
            <a:ext cx="3657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FF6B35"/>
                </a:solidFill>
                <a:latin typeface="Arial"/>
              </a:rPr>
              <a:t>FOCUS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6320" y="1920240"/>
            <a:ext cx="3657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 i="0">
                <a:solidFill>
                  <a:srgbClr val="FFFFFF"/>
                </a:solidFill>
                <a:latin typeface="Arial"/>
              </a:rPr>
              <a:t>Present Continuous future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697480"/>
            <a:ext cx="8046720" cy="3063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743200"/>
            <a:ext cx="7680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F6B35"/>
                </a:solidFill>
                <a:latin typeface="Arial"/>
              </a:rPr>
              <a:t>REQUIREMENTS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59" y="3200400"/>
            <a:ext cx="7589520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 i="0">
                <a:solidFill>
                  <a:srgbClr val="000000"/>
                </a:solidFill>
                <a:latin typeface="Arial"/>
              </a:rPr>
              <a:t>- 5 PC sentences</a:t>
            </a:r>
          </a:p>
          <a:p>
            <a:pPr algn="l">
              <a:lnSpc>
                <a:spcPct val="130000"/>
              </a:lnSpc>
            </a:pPr>
            <a:r>
              <a:rPr sz="2000" b="0" i="0">
                <a:solidFill>
                  <a:srgbClr val="000000"/>
                </a:solidFill>
                <a:latin typeface="Arial"/>
              </a:rPr>
              <a:t>- 3 time expressions</a:t>
            </a:r>
          </a:p>
          <a:p>
            <a:pPr algn="l">
              <a:lnSpc>
                <a:spcPct val="130000"/>
              </a:lnSpc>
            </a:pPr>
            <a:r>
              <a:rPr sz="2000" b="0" i="0">
                <a:solidFill>
                  <a:srgbClr val="000000"/>
                </a:solidFill>
                <a:latin typeface="Arial"/>
              </a:rPr>
              <a:t>- 1 place</a:t>
            </a:r>
          </a:p>
          <a:p>
            <a:pPr algn="l">
              <a:lnSpc>
                <a:spcPct val="130000"/>
              </a:lnSpc>
            </a:pPr>
            <a:r>
              <a:rPr sz="2000" b="0" i="0">
                <a:solidFill>
                  <a:srgbClr val="000000"/>
                </a:solidFill>
                <a:latin typeface="Arial"/>
              </a:rPr>
              <a:t>- 1 negative sentence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Follow the requirements.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25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8046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3D1F5C"/>
                </a:solidFill>
                <a:latin typeface="Arial"/>
              </a:rPr>
              <a:t>WRITING — Template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63040"/>
            <a:ext cx="8046720" cy="43434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645920"/>
            <a:ext cx="7406640" cy="397763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100" b="0" i="0">
                <a:solidFill>
                  <a:srgbClr val="000000"/>
                </a:solidFill>
                <a:latin typeface="Arial"/>
              </a:rPr>
              <a:t>MY WEEK   —   By: ____________</a:t>
            </a:r>
          </a:p>
          <a:p>
            <a:pPr algn="l">
              <a:lnSpc>
                <a:spcPct val="125000"/>
              </a:lnSpc>
            </a:pPr>
          </a:p>
          <a:p>
            <a:pPr algn="l">
              <a:lnSpc>
                <a:spcPct val="125000"/>
              </a:lnSpc>
            </a:pPr>
            <a:r>
              <a:rPr sz="2100" b="0" i="0">
                <a:solidFill>
                  <a:srgbClr val="000000"/>
                </a:solidFill>
                <a:latin typeface="Arial"/>
              </a:rPr>
              <a:t>This week is ____________.</a:t>
            </a:r>
          </a:p>
          <a:p>
            <a:pPr algn="l">
              <a:lnSpc>
                <a:spcPct val="125000"/>
              </a:lnSpc>
            </a:pPr>
          </a:p>
          <a:p>
            <a:pPr algn="l">
              <a:lnSpc>
                <a:spcPct val="125000"/>
              </a:lnSpc>
            </a:pPr>
            <a:r>
              <a:rPr sz="2100" b="0" i="0">
                <a:solidFill>
                  <a:srgbClr val="000000"/>
                </a:solidFill>
                <a:latin typeface="Arial"/>
              </a:rPr>
              <a:t>On Monday, I'm ____________.</a:t>
            </a:r>
          </a:p>
          <a:p>
            <a:pPr algn="l">
              <a:lnSpc>
                <a:spcPct val="125000"/>
              </a:lnSpc>
            </a:pPr>
            <a:r>
              <a:rPr sz="2100" b="0" i="0">
                <a:solidFill>
                  <a:srgbClr val="000000"/>
                </a:solidFill>
                <a:latin typeface="Arial"/>
              </a:rPr>
              <a:t>On Tuesday, I'm ____________.</a:t>
            </a:r>
          </a:p>
          <a:p>
            <a:pPr algn="l">
              <a:lnSpc>
                <a:spcPct val="125000"/>
              </a:lnSpc>
            </a:pPr>
            <a:r>
              <a:rPr sz="2100" b="0" i="0">
                <a:solidFill>
                  <a:srgbClr val="000000"/>
                </a:solidFill>
                <a:latin typeface="Arial"/>
              </a:rPr>
              <a:t>On Wednesday, I'm ____________.</a:t>
            </a:r>
          </a:p>
          <a:p>
            <a:pPr algn="l">
              <a:lnSpc>
                <a:spcPct val="125000"/>
              </a:lnSpc>
            </a:pPr>
            <a:r>
              <a:rPr sz="2100" b="0" i="0">
                <a:solidFill>
                  <a:srgbClr val="000000"/>
                </a:solidFill>
                <a:latin typeface="Arial"/>
              </a:rPr>
              <a:t>On Thursday, I'm ____________.</a:t>
            </a:r>
          </a:p>
          <a:p>
            <a:pPr algn="l">
              <a:lnSpc>
                <a:spcPct val="125000"/>
              </a:lnSpc>
            </a:pPr>
            <a:r>
              <a:rPr sz="2100" b="0" i="0">
                <a:solidFill>
                  <a:srgbClr val="000000"/>
                </a:solidFill>
                <a:latin typeface="Arial"/>
              </a:rPr>
              <a:t>On Friday, I'm ____________.</a:t>
            </a:r>
          </a:p>
          <a:p>
            <a:pPr algn="l">
              <a:lnSpc>
                <a:spcPct val="125000"/>
              </a:lnSpc>
            </a:pPr>
          </a:p>
          <a:p>
            <a:pPr algn="l">
              <a:lnSpc>
                <a:spcPct val="125000"/>
              </a:lnSpc>
            </a:pPr>
            <a:r>
              <a:rPr sz="2100" b="0" i="0">
                <a:solidFill>
                  <a:srgbClr val="000000"/>
                </a:solidFill>
                <a:latin typeface="Arial"/>
              </a:rPr>
              <a:t>I'm not ____________ because ____________.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Use this template to write.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8046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3D1F5C"/>
                </a:solidFill>
                <a:latin typeface="Arial"/>
              </a:rPr>
              <a:t>CHECKPOINT — Rate your progress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00200"/>
            <a:ext cx="8046720" cy="7315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00200"/>
            <a:ext cx="76809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000000"/>
                </a:solidFill>
                <a:latin typeface="Arial"/>
              </a:rPr>
              <a:t>I can form PC future sentences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404872"/>
            <a:ext cx="8046720" cy="7315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404872"/>
            <a:ext cx="76809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000000"/>
                </a:solidFill>
                <a:latin typeface="Arial"/>
              </a:rPr>
              <a:t>I can ask questions with Are you...?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209544"/>
            <a:ext cx="8046720" cy="7315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209544"/>
            <a:ext cx="76809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000000"/>
                </a:solidFill>
                <a:latin typeface="Arial"/>
              </a:rPr>
              <a:t>I can make negative sentences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4014215"/>
            <a:ext cx="8046720" cy="7315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4014215"/>
            <a:ext cx="76809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000000"/>
                </a:solidFill>
                <a:latin typeface="Arial"/>
              </a:rPr>
              <a:t>I can distinguish intention vs arrangement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818888"/>
            <a:ext cx="8046720" cy="7315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4818888"/>
            <a:ext cx="76809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000000"/>
                </a:solidFill>
                <a:latin typeface="Arial"/>
              </a:rPr>
              <a:t>I can describe my week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Be honest with yourself.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27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8046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3D1F5C"/>
                </a:solidFill>
                <a:latin typeface="Arial"/>
              </a:rPr>
              <a:t>SELF-EVALUATION — Rate (1-4)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00200"/>
            <a:ext cx="8046720" cy="7315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00200"/>
            <a:ext cx="4023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000000"/>
                </a:solidFill>
                <a:latin typeface="Arial"/>
              </a:rPr>
              <a:t>Vocabulary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80" y="1600200"/>
            <a:ext cx="457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0" y="1600200"/>
            <a:ext cx="457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0880" y="1600200"/>
            <a:ext cx="457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79" y="1600200"/>
            <a:ext cx="457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404872"/>
            <a:ext cx="8046720" cy="7315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404872"/>
            <a:ext cx="4023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000000"/>
                </a:solidFill>
                <a:latin typeface="Arial"/>
              </a:rPr>
              <a:t>Present Continuous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12080" y="2404872"/>
            <a:ext cx="457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0" y="2404872"/>
            <a:ext cx="457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80" y="2404872"/>
            <a:ext cx="457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55279" y="2404872"/>
            <a:ext cx="457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4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209544"/>
            <a:ext cx="8046720" cy="7315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3209544"/>
            <a:ext cx="4023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000000"/>
                </a:solidFill>
                <a:latin typeface="Arial"/>
              </a:rPr>
              <a:t>Questions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12080" y="3209544"/>
            <a:ext cx="457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0" y="3209544"/>
            <a:ext cx="457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0880" y="3209544"/>
            <a:ext cx="457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55279" y="3209544"/>
            <a:ext cx="457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4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4014215"/>
            <a:ext cx="8046720" cy="7315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4014215"/>
            <a:ext cx="4023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000000"/>
                </a:solidFill>
                <a:latin typeface="Arial"/>
              </a:rPr>
              <a:t>Negatives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12080" y="4014215"/>
            <a:ext cx="457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26480" y="4014215"/>
            <a:ext cx="457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40880" y="4014215"/>
            <a:ext cx="457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55279" y="4014215"/>
            <a:ext cx="457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4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4818888"/>
            <a:ext cx="8046720" cy="7315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1520" y="4818888"/>
            <a:ext cx="4023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000000"/>
                </a:solidFill>
                <a:latin typeface="Arial"/>
              </a:rPr>
              <a:t>Fluency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212080" y="4818888"/>
            <a:ext cx="457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26480" y="4818888"/>
            <a:ext cx="457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40880" y="4818888"/>
            <a:ext cx="457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955279" y="4818888"/>
            <a:ext cx="457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4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Reflect on your learning.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28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8046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3D1F5C"/>
                </a:solidFill>
                <a:latin typeface="Arial"/>
              </a:rPr>
              <a:t>RESOURCES — Keep learning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08760"/>
            <a:ext cx="8046720" cy="45720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08760"/>
            <a:ext cx="76809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PODCASTS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59" y="2011680"/>
            <a:ext cx="75895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000000"/>
                </a:solidFill>
                <a:latin typeface="Arial"/>
              </a:rPr>
              <a:t>- Speak About Future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2377440"/>
            <a:ext cx="75895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000000"/>
                </a:solidFill>
                <a:latin typeface="Arial"/>
              </a:rPr>
              <a:t>- Will vs Going To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834640"/>
            <a:ext cx="8046720" cy="45720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834640"/>
            <a:ext cx="76809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VIDEOS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3337560"/>
            <a:ext cx="75895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000000"/>
                </a:solidFill>
                <a:latin typeface="Arial"/>
              </a:rPr>
              <a:t>- English with Lucy — PC Future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794760"/>
            <a:ext cx="8046720" cy="45720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3794760"/>
            <a:ext cx="76809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APPS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59" y="4297680"/>
            <a:ext cx="75895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000000"/>
                </a:solidFill>
                <a:latin typeface="Arial"/>
              </a:rPr>
              <a:t>- Duolingo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59" y="4663440"/>
            <a:ext cx="75895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000000"/>
                </a:solidFill>
                <a:latin typeface="Arial"/>
              </a:rPr>
              <a:t>- Quizlet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Practice every day.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29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8046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3D1F5C"/>
                </a:solidFill>
                <a:latin typeface="Arial"/>
              </a:rPr>
              <a:t>HOMEWORK — Your tasks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00200"/>
            <a:ext cx="8046720" cy="50292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00200"/>
            <a:ext cx="76809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WRITING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59" y="2148840"/>
            <a:ext cx="75895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000000"/>
                </a:solidFill>
                <a:latin typeface="Arial"/>
              </a:rPr>
              <a:t>Write 8-10 sentences about your week.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651760"/>
            <a:ext cx="8046720" cy="50292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651760"/>
            <a:ext cx="76809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SPEAKING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3200400"/>
            <a:ext cx="75895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000000"/>
                </a:solidFill>
                <a:latin typeface="Arial"/>
              </a:rPr>
              <a:t>Record yourself describing your week.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703320"/>
            <a:ext cx="8046720" cy="50292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3703320"/>
            <a:ext cx="76809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PRONUNCIATION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59" y="4251960"/>
            <a:ext cx="75895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000000"/>
                </a:solidFill>
                <a:latin typeface="Arial"/>
              </a:rPr>
              <a:t>Practice /ʃ/ vs /tʃ/.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754880"/>
            <a:ext cx="8046720" cy="50292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4754880"/>
            <a:ext cx="76809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APP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59" y="5303520"/>
            <a:ext cx="75895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000000"/>
                </a:solidFill>
                <a:latin typeface="Arial"/>
              </a:rPr>
              <a:t>Practice Present Continuous.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Deadline: ____________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30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371600" y="1371600"/>
            <a:ext cx="6400800" cy="164592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371600"/>
            <a:ext cx="6400800" cy="1645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5400" b="1" i="0">
                <a:solidFill>
                  <a:srgbClr val="FFFFFF"/>
                </a:solidFill>
                <a:latin typeface="Arial"/>
              </a:rPr>
              <a:t>GRACIAS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291840"/>
            <a:ext cx="80467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3600" b="1" i="0">
                <a:solidFill>
                  <a:srgbClr val="3D1F5C"/>
                </a:solidFill>
                <a:latin typeface="Arial"/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206240"/>
            <a:ext cx="80467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0" i="1">
                <a:solidFill>
                  <a:srgbClr val="000000"/>
                </a:solidFill>
                <a:latin typeface="Arial"/>
              </a:rPr>
              <a:t>You've completed this class!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5029200"/>
            <a:ext cx="6400800" cy="731520"/>
          </a:xfrm>
          <a:prstGeom prst="round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5029200"/>
            <a:ext cx="64008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Arial"/>
              </a:rPr>
              <a:t>NEXT: CLASS 06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Congratulations!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