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COVER (Class 14)</a:t>
            </a:r>
          </a:p>
          <a:p/>
          <a:p>
            <a:r>
              <a:rPr sz="1000">
                <a:latin typeface="Arial"/>
              </a:rPr>
              <a:t>ROLE : Ouverture.</a:t>
            </a:r>
          </a:p>
          <a:p>
            <a:r>
              <a:rPr sz="1000">
                <a:latin typeface="Arial"/>
              </a:rPr>
              <a:t>DUREE : 2 min</a:t>
            </a:r>
          </a:p>
          <a:p/>
          <a:p>
            <a:r>
              <a:rPr sz="1000">
                <a:latin typeface="Arial"/>
              </a:rPr>
              <a:t>SCRIPT :</a:t>
            </a:r>
          </a:p>
          <a:p>
            <a:r>
              <a:rPr sz="1000">
                <a:latin typeface="Arial"/>
              </a:rPr>
              <a:t>"Hello Ingrid! Welcome to Class 14.</a:t>
            </a:r>
          </a:p>
          <a:p>
            <a:r>
              <a:rPr sz="1000">
                <a:latin typeface="Arial"/>
              </a:rPr>
              <a:t>Today: Passive Voice. Ready?"</a:t>
            </a:r>
          </a:p>
          <a:p/>
          <a:p>
            <a:r>
              <a:rPr sz="1000">
                <a:latin typeface="Arial"/>
              </a:rPr>
              <a:t>ACTIONS :</a:t>
            </a:r>
          </a:p>
          <a:p>
            <a:r>
              <a:rPr sz="1000">
                <a:latin typeface="Arial"/>
              </a:rPr>
              <a:t>- Verifier Teams</a:t>
            </a:r>
          </a:p>
          <a:p>
            <a:r>
              <a:rPr sz="1000">
                <a:latin typeface="Arial"/>
              </a:rPr>
              <a:t>- Small talk 30 sec</a:t>
            </a:r>
          </a:p>
          <a:p>
            <a:r>
              <a:rPr sz="1000">
                <a:latin typeface="Arial"/>
              </a:rPr>
              <a:t>- Annoncer 90 min</a:t>
            </a:r>
          </a:p>
          <a:p/>
          <a:p>
            <a:r>
              <a:rPr sz="1000">
                <a:latin typeface="Arial"/>
              </a:rPr>
              <a:t>TRANSITION : "Let's start with the objectives."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OVERVIEW</a:t>
            </a:r>
          </a:p>
          <a:p/>
          <a:p>
            <a:r>
              <a:rPr sz="1000">
                <a:latin typeface="Arial"/>
              </a:rPr>
              <a:t>ROLE : Annoncer objectifs.</a:t>
            </a:r>
          </a:p>
          <a:p>
            <a:r>
              <a:rPr sz="1000">
                <a:latin typeface="Arial"/>
              </a:rPr>
              <a:t>DUREE : 3 min</a:t>
            </a:r>
          </a:p>
          <a:p/>
          <a:p>
            <a:r>
              <a:rPr sz="1000">
                <a:latin typeface="Arial"/>
              </a:rPr>
              <a:t>Lire chaque objectif a voix haute.</a:t>
            </a:r>
          </a:p>
          <a:p>
            <a:r>
              <a:rPr sz="1000">
                <a:latin typeface="Arial"/>
              </a:rPr>
              <a:t>Ne pas expliquer.</a:t>
            </a:r>
          </a:p>
          <a:p/>
          <a:p>
            <a:r>
              <a:rPr sz="1000">
                <a:latin typeface="Arial"/>
              </a:rPr>
              <a:t>DIRE : "By the end of today, you will be able to do all of this."</a:t>
            </a:r>
          </a:p>
          <a:p/>
          <a:p>
            <a:r>
              <a:rPr sz="1000">
                <a:latin typeface="Arial"/>
              </a:rPr>
              <a:t>TRANSITION : "Let's start with a warm-up."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(1)</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(2)</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COMMON MISTAKES (Trampas)</a:t>
            </a:r>
          </a:p>
          <a:p/>
          <a:p>
            <a:r>
              <a:rPr sz="1000">
                <a:latin typeface="Arial"/>
              </a:rPr>
              <a:t>ROLE : Erreurs frequentes hispanophones.</a:t>
            </a:r>
          </a:p>
          <a:p>
            <a:r>
              <a:rPr sz="1000">
                <a:latin typeface="Arial"/>
              </a:rPr>
              <a:t>DUREE : 5 min</a:t>
            </a:r>
          </a:p>
          <a:p/>
          <a:p>
            <a:r>
              <a:rPr sz="1000">
                <a:latin typeface="Arial"/>
              </a:rPr>
              <a:t>METHODE :</a:t>
            </a:r>
          </a:p>
          <a:p>
            <a:r>
              <a:rPr sz="1000">
                <a:latin typeface="Arial"/>
              </a:rPr>
              <a:t>1. Montrer l'erreur (X)</a:t>
            </a:r>
          </a:p>
          <a:p>
            <a:r>
              <a:rPr sz="1000">
                <a:latin typeface="Arial"/>
              </a:rPr>
              <a:t>2. Demander : "Esta correcto?"</a:t>
            </a:r>
          </a:p>
          <a:p>
            <a:r>
              <a:rPr sz="1000">
                <a:latin typeface="Arial"/>
              </a:rPr>
              <a:t>3. Ingrid corrige</a:t>
            </a:r>
          </a:p>
          <a:p>
            <a:r>
              <a:rPr sz="1000">
                <a:latin typeface="Arial"/>
              </a:rPr>
              <a:t>4. Montrer la correction (OK)</a:t>
            </a:r>
          </a:p>
          <a:p>
            <a:r>
              <a:rPr sz="1000">
                <a:latin typeface="Arial"/>
              </a:rPr>
              <a:t>5. Lire l'explication en espagnol</a:t>
            </a:r>
          </a:p>
          <a:p>
            <a:r>
              <a:rPr sz="1000">
                <a:latin typeface="Arial"/>
              </a:rPr>
              <a:t>6. Repetir 3x la forme correcte</a:t>
            </a:r>
          </a:p>
          <a:p/>
          <a:p>
            <a:r>
              <a:rPr sz="1000">
                <a:latin typeface="Arial"/>
              </a:rPr>
              <a:t>FRASES UTILES :</a:t>
            </a:r>
          </a:p>
          <a:p>
            <a:r>
              <a:rPr sz="1000">
                <a:latin typeface="Arial"/>
              </a:rPr>
              <a:t>- "Esta es una trampa muy comun."</a:t>
            </a:r>
          </a:p>
          <a:p>
            <a:r>
              <a:rPr sz="1000">
                <a:latin typeface="Arial"/>
              </a:rPr>
              <a:t>- "Cuidado con esta palabra."</a:t>
            </a:r>
          </a:p>
          <a:p>
            <a:r>
              <a:rPr sz="1000">
                <a:latin typeface="Arial"/>
              </a:rPr>
              <a:t>- "Repite conmigo 3 veces."</a:t>
            </a:r>
          </a:p>
          <a:p/>
          <a:p>
            <a:r>
              <a:rPr sz="1000">
                <a:latin typeface="Arial"/>
              </a:rPr>
              <a:t>NE PAS juger les erreurs.</a:t>
            </a:r>
          </a:p>
          <a:p>
            <a:r>
              <a:rPr sz="1000">
                <a:latin typeface="Arial"/>
              </a:rPr>
              <a:t>ENCOURAGER : "Es normal, todos lo hacemos."</a:t>
            </a:r>
          </a:p>
          <a:p/>
          <a:p>
            <a:r>
              <a:rPr sz="1000">
                <a:latin typeface="Arial"/>
              </a:rPr>
              <a:t>TRANSITION : "Ahora veamos expresiones completas."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EXPRESSIONS &amp; YOUR TURN</a:t>
            </a:r>
          </a:p>
          <a:p/>
          <a:p>
            <a:r>
              <a:rPr sz="1000">
                <a:latin typeface="Arial"/>
              </a:rPr>
              <a:t>ROLE : Blocs lexicaux + production.</a:t>
            </a:r>
          </a:p>
          <a:p>
            <a:r>
              <a:rPr sz="1000">
                <a:latin typeface="Arial"/>
              </a:rPr>
              <a:t>DUREE : 8 min</a:t>
            </a:r>
          </a:p>
          <a:p/>
          <a:p>
            <a:r>
              <a:rPr sz="1000">
                <a:latin typeface="Arial"/>
              </a:rPr>
              <a:t>PARTIE 1 - EXPRESSIONS (4 min) :</a:t>
            </a:r>
          </a:p>
          <a:p>
            <a:r>
              <a:rPr sz="1000">
                <a:latin typeface="Arial"/>
              </a:rPr>
              <a:t>1. Lire chaque expression</a:t>
            </a:r>
          </a:p>
          <a:p>
            <a:r>
              <a:rPr sz="1000">
                <a:latin typeface="Arial"/>
              </a:rPr>
              <a:t>2. Ingrid repete</a:t>
            </a:r>
          </a:p>
          <a:p>
            <a:r>
              <a:rPr sz="1000">
                <a:latin typeface="Arial"/>
              </a:rPr>
              <a:t>3. Demander : "When do you use this?"</a:t>
            </a:r>
          </a:p>
          <a:p/>
          <a:p>
            <a:r>
              <a:rPr sz="1000">
                <a:latin typeface="Arial"/>
              </a:rPr>
              <a:t>PARTIE 2 - YOUR TURN (4 min) :</a:t>
            </a:r>
          </a:p>
          <a:p>
            <a:r>
              <a:rPr sz="1000">
                <a:latin typeface="Arial"/>
              </a:rPr>
              <a:t>1. Lire la consigne</a:t>
            </a:r>
          </a:p>
          <a:p>
            <a:r>
              <a:rPr sz="1000">
                <a:latin typeface="Arial"/>
              </a:rPr>
              <a:t>2. Ingrid ecrit 1 phrase par mot</a:t>
            </a:r>
          </a:p>
          <a:p>
            <a:r>
              <a:rPr sz="1000">
                <a:latin typeface="Arial"/>
              </a:rPr>
              <a:t>3. Verifier oralement</a:t>
            </a:r>
          </a:p>
          <a:p/>
          <a:p>
            <a:r>
              <a:rPr sz="1000">
                <a:latin typeface="Arial"/>
              </a:rPr>
              <a:t>NE PAS ecrire a sa place.</a:t>
            </a:r>
          </a:p>
          <a:p>
            <a:r>
              <a:rPr sz="1000">
                <a:latin typeface="Arial"/>
              </a:rPr>
              <a:t>CORRIGER 2-3 erreurs max.</a:t>
            </a:r>
          </a:p>
          <a:p/>
          <a:p>
            <a:r>
              <a:rPr sz="1000">
                <a:latin typeface="Arial"/>
              </a:rPr>
              <a:t>TRANSITION : "Now let's look at the grammar."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Passive present</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BE + participio pasado.</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SOUND : Word stress</a:t>
            </a:r>
          </a:p>
          <a:p/>
          <a:p>
            <a:r>
              <a:rPr sz="1000">
                <a:latin typeface="Arial"/>
              </a:rPr>
              <a:t>ROLE : Focus phonetique.</a:t>
            </a:r>
          </a:p>
          <a:p>
            <a:r>
              <a:rPr sz="1000">
                <a:latin typeface="Arial"/>
              </a:rPr>
              <a:t>DUREE : 5 min</a:t>
            </a:r>
          </a:p>
          <a:p/>
          <a:p>
            <a:r>
              <a:rPr sz="1000">
                <a:latin typeface="Arial"/>
              </a:rPr>
              <a:t>METHODE :</a:t>
            </a:r>
          </a:p>
          <a:p>
            <a:r>
              <a:rPr sz="1000">
                <a:latin typeface="Arial"/>
              </a:rPr>
              <a:t>1. ECOUTER : prof prononce</a:t>
            </a:r>
          </a:p>
          <a:p>
            <a:r>
              <a:rPr sz="1000">
                <a:latin typeface="Arial"/>
              </a:rPr>
              <a:t>2. DISTINGUER : Ingrid identifie</a:t>
            </a:r>
          </a:p>
          <a:p>
            <a:r>
              <a:rPr sz="1000">
                <a:latin typeface="Arial"/>
              </a:rPr>
              <a:t>3. REPETER</a:t>
            </a:r>
          </a:p>
          <a:p/>
          <a:p>
            <a:r>
              <a:rPr sz="1000">
                <a:latin typeface="Arial"/>
              </a:rPr>
              <a:t>NE PAS enseigner theorie.</a:t>
            </a:r>
          </a:p>
          <a:p/>
          <a:p>
            <a:r>
              <a:rPr sz="1000">
                <a:latin typeface="Arial"/>
              </a:rPr>
              <a:t>TRANSITION : "Now let's practice in words."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PRONUNCIATION</a:t>
            </a:r>
          </a:p>
          <a:p/>
          <a:p>
            <a:r>
              <a:rPr sz="1000">
                <a:latin typeface="Arial"/>
              </a:rPr>
              <a:t>ROLE : Pratique active.</a:t>
            </a:r>
          </a:p>
          <a:p>
            <a:r>
              <a:rPr sz="1000">
                <a:latin typeface="Arial"/>
              </a:rPr>
              <a:t>DUREE : 5 min</a:t>
            </a:r>
          </a:p>
          <a:p/>
          <a:p>
            <a:r>
              <a:rPr sz="1000">
                <a:latin typeface="Arial"/>
              </a:rPr>
              <a:t>Chaque mot repete 5 fois.</a:t>
            </a:r>
          </a:p>
          <a:p>
            <a:r>
              <a:rPr sz="1000">
                <a:latin typeface="Arial"/>
              </a:rPr>
              <a:t>Prof corrige en temps reel.</a:t>
            </a:r>
          </a:p>
          <a:p>
            <a:r>
              <a:rPr sz="1000">
                <a:latin typeface="Arial"/>
              </a:rPr>
              <a:t>Enregistrer si possible.</a:t>
            </a:r>
          </a:p>
          <a:p/>
          <a:p>
            <a:r>
              <a:rPr sz="1000">
                <a:latin typeface="Arial"/>
              </a:rPr>
              <a:t>TRANSITION : "Now let's practice with exercises."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(1)</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(2)</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LISTENING TEXT : Text</a:t>
            </a:r>
          </a:p>
          <a:p/>
          <a:p>
            <a:r>
              <a:rPr sz="1000">
                <a:latin typeface="Arial"/>
              </a:rPr>
              <a:t>ROLE : Comprehension.</a:t>
            </a:r>
          </a:p>
          <a:p>
            <a:r>
              <a:rPr sz="1000">
                <a:latin typeface="Arial"/>
              </a:rPr>
              <a:t>DUREE : 4 min</a:t>
            </a:r>
          </a:p>
          <a:p/>
          <a:p>
            <a:r>
              <a:rPr sz="1000">
                <a:latin typeface="Arial"/>
              </a:rPr>
              <a:t>2 LECTURES :</a:t>
            </a:r>
          </a:p>
          <a:p>
            <a:r>
              <a:rPr sz="1000">
                <a:latin typeface="Arial"/>
              </a:rPr>
              <a:t>1ere : GLOBALE (sans ecrire)</a:t>
            </a:r>
          </a:p>
          <a:p>
            <a:r>
              <a:rPr sz="1000">
                <a:latin typeface="Arial"/>
              </a:rPr>
              <a:t>2eme : DETAILLEE</a:t>
            </a:r>
          </a:p>
          <a:p/>
          <a:p>
            <a:r>
              <a:rPr sz="1000">
                <a:latin typeface="Arial"/>
              </a:rPr>
              <a:t>NE PAS montrer le texte.</a:t>
            </a:r>
          </a:p>
          <a:p>
            <a:r>
              <a:rPr sz="1000">
                <a:latin typeface="Arial"/>
              </a:rPr>
              <a:t>LIRE lentement.</a:t>
            </a:r>
          </a:p>
          <a:p/>
          <a:p>
            <a:r>
              <a:rPr sz="1000">
                <a:latin typeface="Arial"/>
              </a:rPr>
              <a:t>TRANSITION : "Now let's answer the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LISTENING QUESTIONS</a:t>
            </a:r>
          </a:p>
          <a:p/>
          <a:p>
            <a:r>
              <a:rPr sz="1000">
                <a:latin typeface="Arial"/>
              </a:rPr>
              <a:t>ROLE : Comprehension detaillee.</a:t>
            </a:r>
          </a:p>
          <a:p>
            <a:r>
              <a:rPr sz="1000">
                <a:latin typeface="Arial"/>
              </a:rPr>
              <a:t>DUREE : 4 min</a:t>
            </a:r>
          </a:p>
          <a:p/>
          <a:p>
            <a:r>
              <a:rPr sz="1000">
                <a:latin typeface="Arial"/>
              </a:rPr>
              <a:t>Ingrid repond en PHRASE COMPLETE.</a:t>
            </a:r>
          </a:p>
          <a:p>
            <a:r>
              <a:rPr sz="1000">
                <a:latin typeface="Arial"/>
              </a:rPr>
              <a:t>Corriger apres.</a:t>
            </a:r>
          </a:p>
          <a:p/>
          <a:p>
            <a:r>
              <a:rPr sz="1000">
                <a:latin typeface="Arial"/>
              </a:rPr>
              <a:t>TRANSITION : "Now it's your turn to speak."</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SPEAKING CHALLENGE : Challenge</a:t>
            </a:r>
          </a:p>
          <a:p/>
          <a:p>
            <a:r>
              <a:rPr sz="1000">
                <a:latin typeface="Arial"/>
              </a:rPr>
              <a:t>ROLE : Production orale.</a:t>
            </a:r>
          </a:p>
          <a:p>
            <a:r>
              <a:rPr sz="1000">
                <a:latin typeface="Arial"/>
              </a:rPr>
              <a:t>DUREE : 10 min</a:t>
            </a:r>
          </a:p>
          <a:p/>
          <a:p>
            <a:r>
              <a:rPr sz="1000">
                <a:latin typeface="Arial"/>
              </a:rPr>
              <a:t>TIMING :</a:t>
            </a:r>
          </a:p>
          <a:p>
            <a:r>
              <a:rPr sz="1000">
                <a:latin typeface="Arial"/>
              </a:rPr>
              <a:t>- 0:45 Explication</a:t>
            </a:r>
          </a:p>
          <a:p>
            <a:r>
              <a:rPr sz="1000">
                <a:latin typeface="Arial"/>
              </a:rPr>
              <a:t>- 0:45 Preparation mentale (silence)</a:t>
            </a:r>
          </a:p>
          <a:p>
            <a:r>
              <a:rPr sz="1000">
                <a:latin typeface="Arial"/>
              </a:rPr>
              <a:t>- 2:00 Monologue</a:t>
            </a:r>
          </a:p>
          <a:p>
            <a:r>
              <a:rPr sz="1000">
                <a:latin typeface="Arial"/>
              </a:rPr>
              <a:t>- 2:00 Feedback (2+1)</a:t>
            </a:r>
          </a:p>
          <a:p>
            <a:r>
              <a:rPr sz="1000">
                <a:latin typeface="Arial"/>
              </a:rPr>
              <a:t>- 0:30 Re-record</a:t>
            </a:r>
          </a:p>
          <a:p/>
          <a:p>
            <a:r>
              <a:rPr sz="1000">
                <a:latin typeface="Arial"/>
              </a:rPr>
              <a:t>SCRIPT :</a:t>
            </a:r>
          </a:p>
          <a:p>
            <a:r>
              <a:rPr sz="1000">
                <a:latin typeface="Arial"/>
              </a:rPr>
              <a:t>"Okay Ingrid, YOUR turn.</a:t>
            </a:r>
          </a:p>
          <a:p>
            <a:r>
              <a:rPr sz="1000">
                <a:latin typeface="Arial"/>
              </a:rPr>
              <a:t>Talk for 2 minutes.</a:t>
            </a:r>
          </a:p>
          <a:p>
            <a:r>
              <a:rPr sz="1000">
                <a:latin typeface="Arial"/>
              </a:rPr>
              <a:t>Use: Passive present and Passive past.</a:t>
            </a:r>
          </a:p>
          <a:p>
            <a:r>
              <a:rPr sz="1000">
                <a:latin typeface="Arial"/>
              </a:rPr>
              <a:t>Take 45 sec to think. Ready?"</a:t>
            </a:r>
          </a:p>
          <a:p/>
          <a:p>
            <a:r>
              <a:rPr sz="1000">
                <a:latin typeface="Arial"/>
              </a:rPr>
              <a:t>OBSERVER :</a:t>
            </a:r>
          </a:p>
          <a:p>
            <a:r>
              <a:rPr sz="1000">
                <a:latin typeface="Arial"/>
              </a:rPr>
              <a:t>- Passive present min 3 fois</a:t>
            </a:r>
          </a:p>
          <a:p>
            <a:r>
              <a:rPr sz="1000">
                <a:latin typeface="Arial"/>
              </a:rPr>
              <a:t>- Passive past min 3 fois</a:t>
            </a:r>
          </a:p>
          <a:p>
            <a:r>
              <a:rPr sz="1000">
                <a:latin typeface="Arial"/>
              </a:rPr>
              <a:t>- Duree 60-90 sec</a:t>
            </a:r>
          </a:p>
          <a:p>
            <a:r>
              <a:rPr sz="1000">
                <a:latin typeface="Arial"/>
              </a:rPr>
              <a:t>- Pauses &lt; 5 sec</a:t>
            </a:r>
          </a:p>
          <a:p/>
          <a:p>
            <a:r>
              <a:rPr sz="1000">
                <a:latin typeface="Arial"/>
              </a:rPr>
              <a:t>FEEDBACK (2+1) :</a:t>
            </a:r>
          </a:p>
          <a:p>
            <a:r>
              <a:rPr sz="1000">
                <a:latin typeface="Arial"/>
              </a:rPr>
              <a:t>1. Compliment CONCRET</a:t>
            </a:r>
          </a:p>
          <a:p>
            <a:r>
              <a:rPr sz="1000">
                <a:latin typeface="Arial"/>
              </a:rPr>
              <a:t>2. Compliment CONCRET</a:t>
            </a:r>
          </a:p>
          <a:p>
            <a:r>
              <a:rPr sz="1000">
                <a:latin typeface="Arial"/>
              </a:rPr>
              <a:t>3. UNE correction -&gt; repeter 2 fois</a:t>
            </a:r>
          </a:p>
          <a:p/>
          <a:p>
            <a:r>
              <a:rPr sz="1000">
                <a:latin typeface="Arial"/>
              </a:rPr>
              <a:t>NE PAS interrompre.</a:t>
            </a:r>
          </a:p>
          <a:p/>
          <a:p>
            <a:r>
              <a:rPr sz="1000">
                <a:latin typeface="Arial"/>
              </a:rPr>
              <a:t>TRANSITION : "Now let's write about this."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WRITING REQUIREMENTS</a:t>
            </a:r>
          </a:p>
          <a:p/>
          <a:p>
            <a:r>
              <a:rPr sz="1000">
                <a:latin typeface="Arial"/>
              </a:rPr>
              <a:t>ROLE : Preparer ecrit.</a:t>
            </a:r>
          </a:p>
          <a:p>
            <a:r>
              <a:rPr sz="1000">
                <a:latin typeface="Arial"/>
              </a:rPr>
              <a:t>DUREE : 3 min</a:t>
            </a:r>
          </a:p>
          <a:p/>
          <a:p>
            <a:r>
              <a:rPr sz="1000">
                <a:latin typeface="Arial"/>
              </a:rPr>
              <a:t>5 ETAPES :</a:t>
            </a:r>
          </a:p>
          <a:p>
            <a:r>
              <a:rPr sz="1000">
                <a:latin typeface="Arial"/>
              </a:rPr>
              <a:t>1. Brainstorming (3 min)</a:t>
            </a:r>
          </a:p>
          <a:p>
            <a:r>
              <a:rPr sz="1000">
                <a:latin typeface="Arial"/>
              </a:rPr>
              <a:t>2. Borrador (10 min)</a:t>
            </a:r>
          </a:p>
          <a:p>
            <a:r>
              <a:rPr sz="1000">
                <a:latin typeface="Arial"/>
              </a:rPr>
              <a:t>3. Revision (5 min)</a:t>
            </a:r>
          </a:p>
          <a:p>
            <a:r>
              <a:rPr sz="1000">
                <a:latin typeface="Arial"/>
              </a:rPr>
              <a:t>4. Edicion (5 min)</a:t>
            </a:r>
          </a:p>
          <a:p>
            <a:r>
              <a:rPr sz="1000">
                <a:latin typeface="Arial"/>
              </a:rPr>
              <a:t>5. Publicacion (5 min)</a:t>
            </a:r>
          </a:p>
          <a:p/>
          <a:p>
            <a:r>
              <a:rPr sz="1000">
                <a:latin typeface="Arial"/>
              </a:rPr>
              <a:t>FOCUS : Passive present + Passive past</a:t>
            </a:r>
          </a:p>
          <a:p/>
          <a:p>
            <a:r>
              <a:rPr sz="1000">
                <a:latin typeface="Arial"/>
              </a:rPr>
              <a:t>NE PAS ecrire a sa place.</a:t>
            </a:r>
          </a:p>
          <a:p/>
          <a:p>
            <a:r>
              <a:rPr sz="1000">
                <a:latin typeface="Arial"/>
              </a:rPr>
              <a:t>TRANSITION : "Now let's look at the template."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WRITING TEMPLATE</a:t>
            </a:r>
          </a:p>
          <a:p/>
          <a:p>
            <a:r>
              <a:rPr sz="1000">
                <a:latin typeface="Arial"/>
              </a:rPr>
              <a:t>ROLE : Guide structurel.</a:t>
            </a:r>
          </a:p>
          <a:p>
            <a:r>
              <a:rPr sz="1000">
                <a:latin typeface="Arial"/>
              </a:rPr>
              <a:t>DUREE : 2 min</a:t>
            </a:r>
          </a:p>
          <a:p/>
          <a:p>
            <a:r>
              <a:rPr sz="1000">
                <a:latin typeface="Arial"/>
              </a:rPr>
              <a:t>Ingrid ecrit sur papier.</a:t>
            </a:r>
          </a:p>
          <a:p>
            <a:r>
              <a:rPr sz="1000">
                <a:latin typeface="Arial"/>
              </a:rPr>
              <a:t>Suit le template.</a:t>
            </a:r>
          </a:p>
          <a:p>
            <a:r>
              <a:rPr sz="1000">
                <a:latin typeface="Arial"/>
              </a:rPr>
              <a:t>Complete les blancs.</a:t>
            </a:r>
          </a:p>
          <a:p/>
          <a:p>
            <a:r>
              <a:rPr sz="1000">
                <a:latin typeface="Arial"/>
              </a:rPr>
              <a:t>VERIFIER a la fin.</a:t>
            </a:r>
          </a:p>
          <a:p/>
          <a:p>
            <a:r>
              <a:rPr sz="1000">
                <a:latin typeface="Arial"/>
              </a:rPr>
              <a:t>TRANSITION : "Now let's check your progress."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CHECKPOINT</a:t>
            </a:r>
          </a:p>
          <a:p/>
          <a:p>
            <a:r>
              <a:rPr sz="1000">
                <a:latin typeface="Arial"/>
              </a:rPr>
              <a:t>ROLE : Auto-evaluation.</a:t>
            </a:r>
          </a:p>
          <a:p>
            <a:r>
              <a:rPr sz="1000">
                <a:latin typeface="Arial"/>
              </a:rPr>
              <a:t>DUREE : 5 min</a:t>
            </a:r>
          </a:p>
          <a:p/>
          <a:p>
            <a:r>
              <a:rPr sz="1000">
                <a:latin typeface="Arial"/>
              </a:rPr>
              <a:t>Lire chaque critere.</a:t>
            </a:r>
          </a:p>
          <a:p>
            <a:r>
              <a:rPr sz="1000">
                <a:latin typeface="Arial"/>
              </a:rPr>
              <a:t>Ingrid repond honnetement.</a:t>
            </a:r>
          </a:p>
          <a:p/>
          <a:p>
            <a:r>
              <a:rPr sz="1000">
                <a:latin typeface="Arial"/>
              </a:rPr>
              <a:t>NE PAS juger.</a:t>
            </a:r>
          </a:p>
          <a:p/>
          <a:p>
            <a:r>
              <a:rPr sz="1000">
                <a:latin typeface="Arial"/>
              </a:rPr>
              <a:t>TRANSITION : "Now let's reflect."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(1)</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PRACTICE (1)</a:t>
            </a:r>
          </a:p>
          <a:p/>
          <a:p>
            <a:r>
              <a:rPr sz="1000">
                <a:latin typeface="Arial"/>
              </a:rPr>
              <a:t>ROLE : Pratique controlee.</a:t>
            </a:r>
          </a:p>
          <a:p>
            <a:r>
              <a:rPr sz="1000">
                <a:latin typeface="Arial"/>
              </a:rPr>
              <a:t>DUREE : 8-10 min</a:t>
            </a:r>
          </a:p>
          <a:p/>
          <a:p>
            <a:r>
              <a:rPr sz="1000">
                <a:latin typeface="Arial"/>
              </a:rPr>
              <a:t>1. ORAL d'abord</a:t>
            </a:r>
          </a:p>
          <a:p>
            <a:r>
              <a:rPr sz="1000">
                <a:latin typeface="Arial"/>
              </a:rPr>
              <a:t>2. ECRIT ensuite</a:t>
            </a:r>
          </a:p>
          <a:p>
            <a:r>
              <a:rPr sz="1000">
                <a:latin typeface="Arial"/>
              </a:rPr>
              <a:t>3. CORRECTION en temps reel</a:t>
            </a:r>
          </a:p>
          <a:p/>
          <a:p>
            <a:r>
              <a:rPr sz="1000">
                <a:latin typeface="Arial"/>
              </a:rPr>
              <a:t>Ne pas donner la reponse.</a:t>
            </a:r>
          </a:p>
          <a:p>
            <a:r>
              <a:rPr sz="1000">
                <a:latin typeface="Arial"/>
              </a:rPr>
              <a:t>Laisser 5-10 secondes.</a:t>
            </a:r>
          </a:p>
          <a:p>
            <a:r>
              <a:rPr sz="1000">
                <a:latin typeface="Arial"/>
              </a:rPr>
              <a:t>MAX 3 corrections.</a:t>
            </a:r>
          </a:p>
          <a:p/>
          <a:p>
            <a:r>
              <a:rPr sz="1000">
                <a:latin typeface="Arial"/>
              </a:rPr>
              <a:t>TRANSITION : "Now let's use these in conversation."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PRONUNCIATION</a:t>
            </a:r>
          </a:p>
          <a:p/>
          <a:p>
            <a:r>
              <a:rPr sz="1000">
                <a:latin typeface="Arial"/>
              </a:rPr>
              <a:t>ROLE : Pratique active.</a:t>
            </a:r>
          </a:p>
          <a:p>
            <a:r>
              <a:rPr sz="1000">
                <a:latin typeface="Arial"/>
              </a:rPr>
              <a:t>DUREE : 5 min</a:t>
            </a:r>
          </a:p>
          <a:p/>
          <a:p>
            <a:r>
              <a:rPr sz="1000">
                <a:latin typeface="Arial"/>
              </a:rPr>
              <a:t>Chaque mot repete 5 fois.</a:t>
            </a:r>
          </a:p>
          <a:p>
            <a:r>
              <a:rPr sz="1000">
                <a:latin typeface="Arial"/>
              </a:rPr>
              <a:t>Prof corrige en temps reel.</a:t>
            </a:r>
          </a:p>
          <a:p>
            <a:r>
              <a:rPr sz="1000">
                <a:latin typeface="Arial"/>
              </a:rPr>
              <a:t>Enregistrer si possible.</a:t>
            </a:r>
          </a:p>
          <a:p/>
          <a:p>
            <a:r>
              <a:rPr sz="1000">
                <a:latin typeface="Arial"/>
              </a:rPr>
              <a:t>TRANSITION : "Now let's practice with exercises."</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THANKS</a:t>
            </a:r>
          </a:p>
          <a:p/>
          <a:p>
            <a:r>
              <a:rPr sz="1000">
                <a:latin typeface="Arial"/>
              </a:rPr>
              <a:t>ROLE : Cloture.</a:t>
            </a:r>
          </a:p>
          <a:p>
            <a:r>
              <a:rPr sz="1000">
                <a:latin typeface="Arial"/>
              </a:rPr>
              <a:t>DUREE : 2 min</a:t>
            </a:r>
          </a:p>
          <a:p/>
          <a:p>
            <a:r>
              <a:rPr sz="1000">
                <a:latin typeface="Arial"/>
              </a:rPr>
              <a:t>SCRIPT :</a:t>
            </a:r>
          </a:p>
          <a:p>
            <a:r>
              <a:rPr sz="1000">
                <a:latin typeface="Arial"/>
              </a:rPr>
              <a:t>"Excellent work today, Ingrid!</a:t>
            </a:r>
          </a:p>
          <a:p>
            <a:r>
              <a:rPr sz="1000">
                <a:latin typeface="Arial"/>
              </a:rPr>
              <a:t>You've completed Class 14.</a:t>
            </a:r>
          </a:p>
          <a:p>
            <a:r>
              <a:rPr sz="1000">
                <a:latin typeface="Arial"/>
              </a:rPr>
              <a:t>See you next time."</a:t>
            </a:r>
          </a:p>
          <a:p/>
          <a:p>
            <a:r>
              <a:rPr sz="1000">
                <a:latin typeface="Arial"/>
              </a:rPr>
              <a:t>Rappeler : Class 15</a:t>
            </a:r>
          </a:p>
          <a:p/>
          <a:p>
            <a:r>
              <a:rPr sz="1000">
                <a:latin typeface="Arial"/>
              </a:rPr>
              <a:t>TERMINER sur une note positive.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01</a:t>
            </a:r>
          </a:p>
        </p:txBody>
      </p:sp>
      <p:sp>
        <p:nvSpPr>
          <p:cNvPr id="3" name="TextBox 2"/>
          <p:cNvSpPr txBox="1"/>
          <p:nvPr/>
        </p:nvSpPr>
        <p:spPr>
          <a:xfrm>
            <a:off x="548640" y="2011680"/>
            <a:ext cx="8046720" cy="1645920"/>
          </a:xfrm>
          <a:prstGeom prst="rect">
            <a:avLst/>
          </a:prstGeom>
          <a:noFill/>
        </p:spPr>
        <p:txBody>
          <a:bodyPr wrap="square" anchor="ctr">
            <a:spAutoFit/>
          </a:bodyPr>
          <a:lstStyle/>
          <a:p>
            <a:pPr algn="ctr">
              <a:lnSpc>
                <a:spcPct val="100000"/>
              </a:lnSpc>
            </a:pPr>
            <a:r>
              <a:rPr sz="4800" b="1" i="0">
                <a:solidFill>
                  <a:srgbClr val="3D1F5C"/>
                </a:solidFill>
                <a:latin typeface="Arial"/>
              </a:rPr>
              <a:t>IT WAS BUILT IN 1990</a:t>
            </a:r>
          </a:p>
        </p:txBody>
      </p:sp>
      <p:sp>
        <p:nvSpPr>
          <p:cNvPr id="4" name="TextBox 3"/>
          <p:cNvSpPr txBox="1"/>
          <p:nvPr/>
        </p:nvSpPr>
        <p:spPr>
          <a:xfrm>
            <a:off x="548640" y="3840480"/>
            <a:ext cx="8046720" cy="1828800"/>
          </a:xfrm>
          <a:prstGeom prst="rect">
            <a:avLst/>
          </a:prstGeom>
          <a:noFill/>
        </p:spPr>
        <p:txBody>
          <a:bodyPr wrap="square" anchor="ctr">
            <a:spAutoFit/>
          </a:bodyPr>
          <a:lstStyle/>
          <a:p>
            <a:pPr algn="ctr">
              <a:lnSpc>
                <a:spcPct val="100000"/>
              </a:lnSpc>
            </a:pPr>
            <a:r>
              <a:rPr sz="2200" b="0" i="0">
                <a:solidFill>
                  <a:srgbClr val="000000"/>
                </a:solidFill>
                <a:latin typeface="Arial"/>
              </a:rPr>
              <a:t>Ingrid - English - Class 14</a:t>
            </a:r>
          </a:p>
          <a:p>
            <a:pPr algn="ctr">
              <a:lnSpc>
                <a:spcPct val="100000"/>
              </a:lnSpc>
            </a:pPr>
            <a:r>
              <a:rPr sz="2200" b="0" i="0">
                <a:solidFill>
                  <a:srgbClr val="000000"/>
                </a:solidFill>
                <a:latin typeface="Arial"/>
              </a:rPr>
              <a:t>Profesor: Jean Thomas</a:t>
            </a:r>
          </a:p>
        </p:txBody>
      </p:sp>
      <p:sp>
        <p:nvSpPr>
          <p:cNvPr id="5" name="Rounded Rectangle 4"/>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Welcome!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OVERVIEW — Today's Objectives</a:t>
            </a:r>
          </a:p>
        </p:txBody>
      </p:sp>
      <p:sp>
        <p:nvSpPr>
          <p:cNvPr id="4" name="TextBox 3"/>
          <p:cNvSpPr txBox="1"/>
          <p:nvPr/>
        </p:nvSpPr>
        <p:spPr>
          <a:xfrm>
            <a:off x="548640" y="1508760"/>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01.</a:t>
            </a:r>
          </a:p>
        </p:txBody>
      </p:sp>
      <p:sp>
        <p:nvSpPr>
          <p:cNvPr id="5" name="TextBox 4"/>
          <p:cNvSpPr txBox="1"/>
          <p:nvPr/>
        </p:nvSpPr>
        <p:spPr>
          <a:xfrm>
            <a:off x="1463040" y="1508760"/>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Passive Voice Present</a:t>
            </a:r>
          </a:p>
        </p:txBody>
      </p:sp>
      <p:sp>
        <p:nvSpPr>
          <p:cNvPr id="6" name="TextBox 5"/>
          <p:cNvSpPr txBox="1"/>
          <p:nvPr/>
        </p:nvSpPr>
        <p:spPr>
          <a:xfrm>
            <a:off x="548640" y="2221992"/>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02.</a:t>
            </a:r>
          </a:p>
        </p:txBody>
      </p:sp>
      <p:sp>
        <p:nvSpPr>
          <p:cNvPr id="7" name="TextBox 6"/>
          <p:cNvSpPr txBox="1"/>
          <p:nvPr/>
        </p:nvSpPr>
        <p:spPr>
          <a:xfrm>
            <a:off x="1463040" y="2221992"/>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Passive Voice Past</a:t>
            </a:r>
          </a:p>
        </p:txBody>
      </p:sp>
      <p:sp>
        <p:nvSpPr>
          <p:cNvPr id="8" name="TextBox 7"/>
          <p:cNvSpPr txBox="1"/>
          <p:nvPr/>
        </p:nvSpPr>
        <p:spPr>
          <a:xfrm>
            <a:off x="548640" y="2935224"/>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03.</a:t>
            </a:r>
          </a:p>
        </p:txBody>
      </p:sp>
      <p:sp>
        <p:nvSpPr>
          <p:cNvPr id="9" name="TextBox 8"/>
          <p:cNvSpPr txBox="1"/>
          <p:nvPr/>
        </p:nvSpPr>
        <p:spPr>
          <a:xfrm>
            <a:off x="1463040" y="2935224"/>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Transform active to passive</a:t>
            </a:r>
          </a:p>
        </p:txBody>
      </p:sp>
      <p:sp>
        <p:nvSpPr>
          <p:cNvPr id="10" name="TextBox 9"/>
          <p:cNvSpPr txBox="1"/>
          <p:nvPr/>
        </p:nvSpPr>
        <p:spPr>
          <a:xfrm>
            <a:off x="548640" y="3648456"/>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04.</a:t>
            </a:r>
          </a:p>
        </p:txBody>
      </p:sp>
      <p:sp>
        <p:nvSpPr>
          <p:cNvPr id="11" name="TextBox 10"/>
          <p:cNvSpPr txBox="1"/>
          <p:nvPr/>
        </p:nvSpPr>
        <p:spPr>
          <a:xfrm>
            <a:off x="1463040" y="3648456"/>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Describe processes and monuments</a:t>
            </a:r>
          </a:p>
        </p:txBody>
      </p:sp>
      <p:sp>
        <p:nvSpPr>
          <p:cNvPr id="12" name="TextBox 11"/>
          <p:cNvSpPr txBox="1"/>
          <p:nvPr/>
        </p:nvSpPr>
        <p:spPr>
          <a:xfrm>
            <a:off x="548640" y="4361688"/>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05.</a:t>
            </a:r>
          </a:p>
        </p:txBody>
      </p:sp>
      <p:sp>
        <p:nvSpPr>
          <p:cNvPr id="13" name="TextBox 12"/>
          <p:cNvSpPr txBox="1"/>
          <p:nvPr/>
        </p:nvSpPr>
        <p:spPr>
          <a:xfrm>
            <a:off x="1463040" y="4361688"/>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by to indicate agent</a:t>
            </a:r>
          </a:p>
        </p:txBody>
      </p:sp>
      <p:sp>
        <p:nvSpPr>
          <p:cNvPr id="14" name="TextBox 13"/>
          <p:cNvSpPr txBox="1"/>
          <p:nvPr/>
        </p:nvSpPr>
        <p:spPr>
          <a:xfrm>
            <a:off x="548640" y="5074920"/>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06.</a:t>
            </a:r>
          </a:p>
        </p:txBody>
      </p:sp>
      <p:sp>
        <p:nvSpPr>
          <p:cNvPr id="15" name="TextBox 14"/>
          <p:cNvSpPr txBox="1"/>
          <p:nvPr/>
        </p:nvSpPr>
        <p:spPr>
          <a:xfrm>
            <a:off x="1463040" y="5074920"/>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Present a monument in 90-120 sec</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GOAL: Speak with confidence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Answer orally</a:t>
            </a:r>
          </a:p>
        </p:txBody>
      </p:sp>
      <p:sp>
        <p:nvSpPr>
          <p:cNvPr id="4" name="Rounded Rectangle 3"/>
          <p:cNvSpPr/>
          <p:nvPr/>
        </p:nvSpPr>
        <p:spPr>
          <a:xfrm>
            <a:off x="548640" y="155448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is made in your country?</a:t>
            </a:r>
          </a:p>
        </p:txBody>
      </p:sp>
      <p:sp>
        <p:nvSpPr>
          <p:cNvPr id="6" name="Rounded Rectangle 5"/>
          <p:cNvSpPr/>
          <p:nvPr/>
        </p:nvSpPr>
        <p:spPr>
          <a:xfrm>
            <a:off x="548640" y="2450591"/>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50591"/>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is produced in your city?</a:t>
            </a:r>
          </a:p>
        </p:txBody>
      </p:sp>
      <p:sp>
        <p:nvSpPr>
          <p:cNvPr id="8" name="Rounded Rectangle 7"/>
          <p:cNvSpPr/>
          <p:nvPr/>
        </p:nvSpPr>
        <p:spPr>
          <a:xfrm>
            <a:off x="548640" y="3346703"/>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46703"/>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Where is coffee grown?</a:t>
            </a:r>
          </a:p>
        </p:txBody>
      </p:sp>
      <p:sp>
        <p:nvSpPr>
          <p:cNvPr id="10" name="Rounded Rectangle 9"/>
          <p:cNvSpPr/>
          <p:nvPr/>
        </p:nvSpPr>
        <p:spPr>
          <a:xfrm>
            <a:off x="548640" y="4242816"/>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42816"/>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Where are cars made?</a:t>
            </a:r>
          </a:p>
        </p:txBody>
      </p:sp>
      <p:sp>
        <p:nvSpPr>
          <p:cNvPr id="12" name="Rounded Rectangle 11"/>
          <p:cNvSpPr/>
          <p:nvPr/>
        </p:nvSpPr>
        <p:spPr>
          <a:xfrm>
            <a:off x="548640" y="5138927"/>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138927"/>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was invented in Mexico?</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without looking at your notes.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Materials &amp; Monuments (1/2)</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wood</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madera</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made of wood  + a wooden table</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"This table is made of wood."</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'made with wood' (for material)</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metal</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metal</a:t>
            </a:r>
          </a:p>
        </p:txBody>
      </p:sp>
      <p:sp>
        <p:nvSpPr>
          <p:cNvPr id="15" name="Rounded Rectangle 14"/>
          <p:cNvSpPr/>
          <p:nvPr/>
        </p:nvSpPr>
        <p:spPr>
          <a:xfrm>
            <a:off x="6858000" y="299923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made of metal  + a metal box</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"The Eiffel Tower is made of metal."</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'made by metal'</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glass</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vidrio</a:t>
            </a:r>
          </a:p>
        </p:txBody>
      </p:sp>
      <p:sp>
        <p:nvSpPr>
          <p:cNvPr id="23" name="Rounded Rectangle 22"/>
          <p:cNvSpPr/>
          <p:nvPr/>
        </p:nvSpPr>
        <p:spPr>
          <a:xfrm>
            <a:off x="6858000" y="441655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made of glass  + a glass bottle</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"These bottles are made of glass."</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'a crystal bottle'</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Materials &amp; Monuments (2/2)</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plastic</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plástico</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made of plastic  + plastic bags</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"These toys are made of plastic."</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'made with plastic'</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paper</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papel</a:t>
            </a:r>
          </a:p>
        </p:txBody>
      </p:sp>
      <p:sp>
        <p:nvSpPr>
          <p:cNvPr id="15" name="Rounded Rectangle 14"/>
          <p:cNvSpPr/>
          <p:nvPr/>
        </p:nvSpPr>
        <p:spPr>
          <a:xfrm>
            <a:off x="6858000" y="299923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made of paper  + a paper bag</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"Books are made of paper."</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'made by paper'</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cotton</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algodón</a:t>
            </a:r>
          </a:p>
        </p:txBody>
      </p:sp>
      <p:sp>
        <p:nvSpPr>
          <p:cNvPr id="23" name="Rounded Rectangle 22"/>
          <p:cNvSpPr/>
          <p:nvPr/>
        </p:nvSpPr>
        <p:spPr>
          <a:xfrm>
            <a:off x="6858000" y="4416552"/>
            <a:ext cx="1554480" cy="36576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IMPORTANT</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made of cotton  + a cotton shirt</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"This T-shirt is made of cotton."</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'made from cotton' (both OK, 'made of' more common)</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  COMMON MISTAKES — Avoid these!</a:t>
            </a:r>
          </a:p>
        </p:txBody>
      </p:sp>
      <p:sp>
        <p:nvSpPr>
          <p:cNvPr id="4" name="Rounded Rectangle 3"/>
          <p:cNvSpPr/>
          <p:nvPr/>
        </p:nvSpPr>
        <p:spPr>
          <a:xfrm>
            <a:off x="548640" y="150876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The Eiffel Tower was built for Gustave Eiffel.</a:t>
            </a:r>
          </a:p>
        </p:txBody>
      </p:sp>
      <p:sp>
        <p:nvSpPr>
          <p:cNvPr id="6" name="TextBox 5"/>
          <p:cNvSpPr txBox="1"/>
          <p:nvPr/>
        </p:nvSpPr>
        <p:spPr>
          <a:xfrm>
            <a:off x="731520" y="189280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The Eiffel Tower was built by Gustave Eiffel.</a:t>
            </a:r>
          </a:p>
        </p:txBody>
      </p:sp>
      <p:sp>
        <p:nvSpPr>
          <p:cNvPr id="7" name="TextBox 6"/>
          <p:cNvSpPr txBox="1"/>
          <p:nvPr/>
        </p:nvSpPr>
        <p:spPr>
          <a:xfrm>
            <a:off x="731520" y="223113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El agente va con 'by', no 'for'.</a:t>
            </a:r>
          </a:p>
        </p:txBody>
      </p:sp>
      <p:sp>
        <p:nvSpPr>
          <p:cNvPr id="8" name="Rounded Rectangle 7"/>
          <p:cNvSpPr/>
          <p:nvPr/>
        </p:nvSpPr>
        <p:spPr>
          <a:xfrm>
            <a:off x="548640" y="260604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5176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The book was wrote by Shakespeare.</a:t>
            </a:r>
          </a:p>
        </p:txBody>
      </p:sp>
      <p:sp>
        <p:nvSpPr>
          <p:cNvPr id="10" name="TextBox 9"/>
          <p:cNvSpPr txBox="1"/>
          <p:nvPr/>
        </p:nvSpPr>
        <p:spPr>
          <a:xfrm>
            <a:off x="731520" y="299008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The book was written by Shakespeare.</a:t>
            </a:r>
          </a:p>
        </p:txBody>
      </p:sp>
      <p:sp>
        <p:nvSpPr>
          <p:cNvPr id="11" name="TextBox 10"/>
          <p:cNvSpPr txBox="1"/>
          <p:nvPr/>
        </p:nvSpPr>
        <p:spPr>
          <a:xfrm>
            <a:off x="731520" y="332841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En pasiva se usa el participio: written, no wrote.</a:t>
            </a:r>
          </a:p>
        </p:txBody>
      </p:sp>
      <p:sp>
        <p:nvSpPr>
          <p:cNvPr id="12" name="Rounded Rectangle 11"/>
          <p:cNvSpPr/>
          <p:nvPr/>
        </p:nvSpPr>
        <p:spPr>
          <a:xfrm>
            <a:off x="548640" y="370332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749039"/>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It was built on 1889.</a:t>
            </a:r>
          </a:p>
        </p:txBody>
      </p:sp>
      <p:sp>
        <p:nvSpPr>
          <p:cNvPr id="14" name="TextBox 13"/>
          <p:cNvSpPr txBox="1"/>
          <p:nvPr/>
        </p:nvSpPr>
        <p:spPr>
          <a:xfrm>
            <a:off x="731520" y="408736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It was built in 1889.</a:t>
            </a:r>
          </a:p>
        </p:txBody>
      </p:sp>
      <p:sp>
        <p:nvSpPr>
          <p:cNvPr id="15" name="TextBox 14"/>
          <p:cNvSpPr txBox="1"/>
          <p:nvPr/>
        </p:nvSpPr>
        <p:spPr>
          <a:xfrm>
            <a:off x="731520" y="442569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Con años se usa 'in', no 'on'.</a:t>
            </a:r>
          </a:p>
        </p:txBody>
      </p:sp>
      <p:sp>
        <p:nvSpPr>
          <p:cNvPr id="16" name="Rounded Rectangle 15"/>
          <p:cNvSpPr/>
          <p:nvPr/>
        </p:nvSpPr>
        <p:spPr>
          <a:xfrm>
            <a:off x="548640" y="480060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4632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Here speaks English.</a:t>
            </a:r>
          </a:p>
        </p:txBody>
      </p:sp>
      <p:sp>
        <p:nvSpPr>
          <p:cNvPr id="18" name="TextBox 17"/>
          <p:cNvSpPr txBox="1"/>
          <p:nvPr/>
        </p:nvSpPr>
        <p:spPr>
          <a:xfrm>
            <a:off x="731520" y="518464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English is spoken here.</a:t>
            </a:r>
          </a:p>
        </p:txBody>
      </p:sp>
      <p:sp>
        <p:nvSpPr>
          <p:cNvPr id="19" name="TextBox 18"/>
          <p:cNvSpPr txBox="1"/>
          <p:nvPr/>
        </p:nvSpPr>
        <p:spPr>
          <a:xfrm>
            <a:off x="731520" y="552297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El español usa 'se habla'. En inglés se usa pasiva.</a:t>
            </a:r>
          </a:p>
        </p:txBody>
      </p:sp>
      <p:sp>
        <p:nvSpPr>
          <p:cNvPr id="20" name="Rounded Rectangle 19"/>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Repeat after me. Don't make these mistakes!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EXPRESSIONS &amp; YOUR TURN</a:t>
            </a:r>
          </a:p>
        </p:txBody>
      </p:sp>
      <p:sp>
        <p:nvSpPr>
          <p:cNvPr id="4" name="Rounded Rectangle 3"/>
          <p:cNvSpPr/>
          <p:nvPr/>
        </p:nvSpPr>
        <p:spPr>
          <a:xfrm>
            <a:off x="548640" y="1508760"/>
            <a:ext cx="8046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EXPRESSIONS</a:t>
            </a:r>
          </a:p>
        </p:txBody>
      </p:sp>
      <p:sp>
        <p:nvSpPr>
          <p:cNvPr id="6" name="TextBox 5"/>
          <p:cNvSpPr txBox="1"/>
          <p:nvPr/>
        </p:nvSpPr>
        <p:spPr>
          <a:xfrm>
            <a:off x="822959" y="1965960"/>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English is spoken all over the world.</a:t>
            </a:r>
          </a:p>
        </p:txBody>
      </p:sp>
      <p:sp>
        <p:nvSpPr>
          <p:cNvPr id="7" name="TextBox 6"/>
          <p:cNvSpPr txBox="1"/>
          <p:nvPr/>
        </p:nvSpPr>
        <p:spPr>
          <a:xfrm>
            <a:off x="822959" y="2313432"/>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The Eiffel Tower was built in 1889.</a:t>
            </a:r>
          </a:p>
        </p:txBody>
      </p:sp>
      <p:sp>
        <p:nvSpPr>
          <p:cNvPr id="8" name="TextBox 7"/>
          <p:cNvSpPr txBox="1"/>
          <p:nvPr/>
        </p:nvSpPr>
        <p:spPr>
          <a:xfrm>
            <a:off x="822959" y="2660903"/>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This book was written by Shakespeare.</a:t>
            </a:r>
          </a:p>
        </p:txBody>
      </p:sp>
      <p:sp>
        <p:nvSpPr>
          <p:cNvPr id="9" name="TextBox 8"/>
          <p:cNvSpPr txBox="1"/>
          <p:nvPr/>
        </p:nvSpPr>
        <p:spPr>
          <a:xfrm>
            <a:off x="822959" y="3008375"/>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Coffee is grown in Brazil.</a:t>
            </a:r>
          </a:p>
        </p:txBody>
      </p:sp>
      <p:sp>
        <p:nvSpPr>
          <p:cNvPr id="10" name="TextBox 9"/>
          <p:cNvSpPr txBox="1"/>
          <p:nvPr/>
        </p:nvSpPr>
        <p:spPr>
          <a:xfrm>
            <a:off x="822959" y="3355847"/>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These cars are made in Japan.</a:t>
            </a:r>
          </a:p>
        </p:txBody>
      </p:sp>
      <p:sp>
        <p:nvSpPr>
          <p:cNvPr id="11" name="Rounded Rectangle 10"/>
          <p:cNvSpPr/>
          <p:nvPr/>
        </p:nvSpPr>
        <p:spPr>
          <a:xfrm>
            <a:off x="548640" y="3931920"/>
            <a:ext cx="8046720" cy="1828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005072"/>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  YOUR TURN</a:t>
            </a:r>
          </a:p>
        </p:txBody>
      </p:sp>
      <p:sp>
        <p:nvSpPr>
          <p:cNvPr id="13" name="TextBox 12"/>
          <p:cNvSpPr txBox="1"/>
          <p:nvPr/>
        </p:nvSpPr>
        <p:spPr>
          <a:xfrm>
            <a:off x="822959" y="4389120"/>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1.  English is spoken in  -&gt; ________________________</a:t>
            </a:r>
          </a:p>
        </p:txBody>
      </p:sp>
      <p:sp>
        <p:nvSpPr>
          <p:cNvPr id="14" name="TextBox 13"/>
          <p:cNvSpPr txBox="1"/>
          <p:nvPr/>
        </p:nvSpPr>
        <p:spPr>
          <a:xfrm>
            <a:off x="822959" y="470915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2.  The house was built in -&gt; ________________________</a:t>
            </a:r>
          </a:p>
        </p:txBody>
      </p:sp>
      <p:sp>
        <p:nvSpPr>
          <p:cNvPr id="15" name="TextBox 14"/>
          <p:cNvSpPr txBox="1"/>
          <p:nvPr/>
        </p:nvSpPr>
        <p:spPr>
          <a:xfrm>
            <a:off x="822959" y="502919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3.  This is made of ____.</a:t>
            </a:r>
          </a:p>
        </p:txBody>
      </p:sp>
      <p:sp>
        <p:nvSpPr>
          <p:cNvPr id="16" name="TextBox 15"/>
          <p:cNvSpPr txBox="1"/>
          <p:nvPr/>
        </p:nvSpPr>
        <p:spPr>
          <a:xfrm>
            <a:off x="822959" y="534923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4.  ____ was invented by ____.</a:t>
            </a:r>
          </a:p>
        </p:txBody>
      </p:sp>
      <p:sp>
        <p:nvSpPr>
          <p:cNvPr id="17" name="TextBox 16"/>
          <p:cNvSpPr txBox="1"/>
          <p:nvPr/>
        </p:nvSpPr>
        <p:spPr>
          <a:xfrm>
            <a:off x="822959" y="566927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5.  Was it built by ____?</a:t>
            </a:r>
          </a:p>
        </p:txBody>
      </p:sp>
      <p:sp>
        <p:nvSpPr>
          <p:cNvPr id="18" name="Rounded Rectangle 1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Write your own sentences.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Passive Voice</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FORMULA</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SUBJECT + BE + PAST PARTICIPLE (+ BY + AGENT)</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 past participle.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Passive Voice</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PRESENT</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English is spoken in many countries.</a:t>
            </a:r>
          </a:p>
          <a:p>
            <a:pPr algn="l">
              <a:lnSpc>
                <a:spcPct val="130000"/>
              </a:lnSpc>
            </a:pPr>
            <a:r>
              <a:rPr sz="2200" b="0" i="0">
                <a:solidFill>
                  <a:srgbClr val="000000"/>
                </a:solidFill>
                <a:latin typeface="Arial"/>
              </a:rPr>
              <a:t>These cars are made in Japan.</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 past participle.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Passive Voice</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PAST</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The Eiffel Tower was built in 1889.</a:t>
            </a:r>
          </a:p>
          <a:p>
            <a:pPr algn="l">
              <a:lnSpc>
                <a:spcPct val="130000"/>
              </a:lnSpc>
            </a:pPr>
            <a:r>
              <a:rPr sz="2200" b="0" i="0">
                <a:solidFill>
                  <a:srgbClr val="000000"/>
                </a:solidFill>
                <a:latin typeface="Arial"/>
              </a:rPr>
              <a:t>The telephone was invented by Bell.</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 past participle.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Passive Voice</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USE</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Agent unknown</a:t>
            </a:r>
          </a:p>
          <a:p>
            <a:pPr algn="l">
              <a:lnSpc>
                <a:spcPct val="130000"/>
              </a:lnSpc>
            </a:pPr>
            <a:r>
              <a:rPr sz="2200" b="0" i="0">
                <a:solidFill>
                  <a:srgbClr val="000000"/>
                </a:solidFill>
                <a:latin typeface="Arial"/>
              </a:rPr>
              <a:t>Agent obvious</a:t>
            </a:r>
          </a:p>
          <a:p>
            <a:pPr algn="l">
              <a:lnSpc>
                <a:spcPct val="130000"/>
              </a:lnSpc>
            </a:pPr>
            <a:r>
              <a:rPr sz="2200" b="0" i="0">
                <a:solidFill>
                  <a:srgbClr val="000000"/>
                </a:solidFill>
                <a:latin typeface="Arial"/>
              </a:rPr>
              <a:t>Action more important</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 past participle.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Questions, By</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NEGATIVE</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This book isn't sold here.</a:t>
            </a:r>
          </a:p>
          <a:p>
            <a:pPr algn="l">
              <a:lnSpc>
                <a:spcPct val="130000"/>
              </a:lnSpc>
            </a:pPr>
            <a:r>
              <a:rPr sz="2200" b="0" i="0">
                <a:solidFill>
                  <a:srgbClr val="000000"/>
                </a:solidFill>
                <a:latin typeface="Arial"/>
              </a:rPr>
              <a:t>The window wasn't broken.</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Only use 'by' if agent is important.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Questions, By</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QUESTIONS</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Is this made in China? Yes, it is. / No, it isn't.</a:t>
            </a:r>
          </a:p>
          <a:p>
            <a:pPr algn="l">
              <a:lnSpc>
                <a:spcPct val="130000"/>
              </a:lnSpc>
            </a:pPr>
            <a:r>
              <a:rPr sz="2200" b="0" i="0">
                <a:solidFill>
                  <a:srgbClr val="000000"/>
                </a:solidFill>
                <a:latin typeface="Arial"/>
              </a:rPr>
              <a:t>Was the book written by Shakespeare? Yes, it was.</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Only use 'by' if agent is important.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Questions, By</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ACTIVE vs PASSIVE</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Someone built the house. -&gt; The house was built.</a:t>
            </a:r>
          </a:p>
          <a:p>
            <a:pPr algn="l">
              <a:lnSpc>
                <a:spcPct val="130000"/>
              </a:lnSpc>
            </a:pPr>
            <a:r>
              <a:rPr sz="2200" b="0" i="0">
                <a:solidFill>
                  <a:srgbClr val="000000"/>
                </a:solidFill>
                <a:latin typeface="Arial"/>
              </a:rPr>
              <a:t>People speak English. -&gt; English is spoken.</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Only use 'by' if agent is important.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Neg, Questions, By</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BY + AGENT</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Hamlet was written by Shakespeare.</a:t>
            </a:r>
          </a:p>
          <a:p>
            <a:pPr algn="l">
              <a:lnSpc>
                <a:spcPct val="130000"/>
              </a:lnSpc>
            </a:pPr>
            <a:r>
              <a:rPr sz="2200" b="0" i="0">
                <a:solidFill>
                  <a:srgbClr val="000000"/>
                </a:solidFill>
                <a:latin typeface="Arial"/>
              </a:rPr>
              <a:t>The telephone was invented by Bell.</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Only use 'by' if agent is important.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SOUND — Word Stress</a:t>
            </a:r>
          </a:p>
        </p:txBody>
      </p:sp>
      <p:sp>
        <p:nvSpPr>
          <p:cNvPr id="4" name="Rounded Rectangle 3"/>
          <p:cNvSpPr/>
          <p:nvPr/>
        </p:nvSpPr>
        <p:spPr>
          <a:xfrm>
            <a:off x="548640" y="1691640"/>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91640"/>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PREsent / preSENT</a:t>
            </a:r>
          </a:p>
        </p:txBody>
      </p:sp>
      <p:sp>
        <p:nvSpPr>
          <p:cNvPr id="6" name="Rounded Rectangle 5"/>
          <p:cNvSpPr/>
          <p:nvPr/>
        </p:nvSpPr>
        <p:spPr>
          <a:xfrm>
            <a:off x="548640" y="2350008"/>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350008"/>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REcord / reCORD</a:t>
            </a:r>
          </a:p>
        </p:txBody>
      </p:sp>
      <p:sp>
        <p:nvSpPr>
          <p:cNvPr id="8" name="Rounded Rectangle 7"/>
          <p:cNvSpPr/>
          <p:nvPr/>
        </p:nvSpPr>
        <p:spPr>
          <a:xfrm>
            <a:off x="548640" y="3008376"/>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008376"/>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OBject / obJECT</a:t>
            </a:r>
          </a:p>
        </p:txBody>
      </p:sp>
      <p:sp>
        <p:nvSpPr>
          <p:cNvPr id="10" name="Rounded Rectangle 9"/>
          <p:cNvSpPr/>
          <p:nvPr/>
        </p:nvSpPr>
        <p:spPr>
          <a:xfrm>
            <a:off x="548640" y="3666744"/>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666744"/>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PROgress / proGRESS</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Word stress changes meaning.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PRONUNCIATION — Practice Word Stress</a:t>
            </a:r>
          </a:p>
        </p:txBody>
      </p:sp>
      <p:sp>
        <p:nvSpPr>
          <p:cNvPr id="4" name="Rounded Rectangle 3"/>
          <p:cNvSpPr/>
          <p:nvPr/>
        </p:nvSpPr>
        <p:spPr>
          <a:xfrm>
            <a:off x="548640" y="16002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PREsent</a:t>
            </a:r>
          </a:p>
        </p:txBody>
      </p:sp>
      <p:sp>
        <p:nvSpPr>
          <p:cNvPr id="6" name="TextBox 5"/>
          <p:cNvSpPr txBox="1"/>
          <p:nvPr/>
        </p:nvSpPr>
        <p:spPr>
          <a:xfrm>
            <a:off x="731520" y="20116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noun</a:t>
            </a:r>
          </a:p>
        </p:txBody>
      </p:sp>
      <p:sp>
        <p:nvSpPr>
          <p:cNvPr id="7" name="Rounded Rectangle 6"/>
          <p:cNvSpPr/>
          <p:nvPr/>
        </p:nvSpPr>
        <p:spPr>
          <a:xfrm>
            <a:off x="548640" y="25146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603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preSENT</a:t>
            </a:r>
          </a:p>
        </p:txBody>
      </p:sp>
      <p:sp>
        <p:nvSpPr>
          <p:cNvPr id="9" name="TextBox 8"/>
          <p:cNvSpPr txBox="1"/>
          <p:nvPr/>
        </p:nvSpPr>
        <p:spPr>
          <a:xfrm>
            <a:off x="731520" y="29260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verb</a:t>
            </a:r>
          </a:p>
        </p:txBody>
      </p:sp>
      <p:sp>
        <p:nvSpPr>
          <p:cNvPr id="10" name="Rounded Rectangle 9"/>
          <p:cNvSpPr/>
          <p:nvPr/>
        </p:nvSpPr>
        <p:spPr>
          <a:xfrm>
            <a:off x="548640" y="34290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4747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REcord</a:t>
            </a:r>
          </a:p>
        </p:txBody>
      </p:sp>
      <p:sp>
        <p:nvSpPr>
          <p:cNvPr id="12" name="TextBox 11"/>
          <p:cNvSpPr txBox="1"/>
          <p:nvPr/>
        </p:nvSpPr>
        <p:spPr>
          <a:xfrm>
            <a:off x="731520" y="38404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noun</a:t>
            </a:r>
          </a:p>
        </p:txBody>
      </p:sp>
      <p:sp>
        <p:nvSpPr>
          <p:cNvPr id="13" name="Rounded Rectangle 12"/>
          <p:cNvSpPr/>
          <p:nvPr/>
        </p:nvSpPr>
        <p:spPr>
          <a:xfrm>
            <a:off x="548640" y="43434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reCORD</a:t>
            </a:r>
          </a:p>
        </p:txBody>
      </p:sp>
      <p:sp>
        <p:nvSpPr>
          <p:cNvPr id="15" name="TextBox 14"/>
          <p:cNvSpPr txBox="1"/>
          <p:nvPr/>
        </p:nvSpPr>
        <p:spPr>
          <a:xfrm>
            <a:off x="731520" y="47548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verb</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Record yourself and compare.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(1/3)</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1. English ___ (speak) all over the world.</a:t>
            </a:r>
          </a:p>
        </p:txBody>
      </p:sp>
      <p:sp>
        <p:nvSpPr>
          <p:cNvPr id="6" name="Rounded Rectangle 5"/>
          <p:cNvSpPr/>
          <p:nvPr/>
        </p:nvSpPr>
        <p:spPr>
          <a:xfrm>
            <a:off x="548640" y="25603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2. The Eiffel Tower ___ (build) in 1889.</a:t>
            </a:r>
          </a:p>
        </p:txBody>
      </p:sp>
      <p:sp>
        <p:nvSpPr>
          <p:cNvPr id="8" name="Rounded Rectangle 7"/>
          <p:cNvSpPr/>
          <p:nvPr/>
        </p:nvSpPr>
        <p:spPr>
          <a:xfrm>
            <a:off x="548640" y="34747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3. These cars ___ (make) in Germany.</a:t>
            </a:r>
          </a:p>
        </p:txBody>
      </p:sp>
      <p:sp>
        <p:nvSpPr>
          <p:cNvPr id="10" name="Rounded Rectangle 9"/>
          <p:cNvSpPr/>
          <p:nvPr/>
        </p:nvSpPr>
        <p:spPr>
          <a:xfrm>
            <a:off x="548640" y="43891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4. The telephone ___ (invent) by Bell.</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(2/3)</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5. This song ___ (write) by my favorite singer.</a:t>
            </a:r>
          </a:p>
        </p:txBody>
      </p:sp>
      <p:sp>
        <p:nvSpPr>
          <p:cNvPr id="6" name="Rounded Rectangle 5"/>
          <p:cNvSpPr/>
          <p:nvPr/>
        </p:nvSpPr>
        <p:spPr>
          <a:xfrm>
            <a:off x="548640" y="25603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6. Coffee ___ (grow) in Brazil.</a:t>
            </a:r>
          </a:p>
        </p:txBody>
      </p:sp>
      <p:sp>
        <p:nvSpPr>
          <p:cNvPr id="8" name="Rounded Rectangle 7"/>
          <p:cNvSpPr/>
          <p:nvPr/>
        </p:nvSpPr>
        <p:spPr>
          <a:xfrm>
            <a:off x="548640" y="34747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7. Someone stole my bike. -&gt; Passive?</a:t>
            </a:r>
          </a:p>
        </p:txBody>
      </p:sp>
      <p:sp>
        <p:nvSpPr>
          <p:cNvPr id="10" name="Rounded Rectangle 9"/>
          <p:cNvSpPr/>
          <p:nvPr/>
        </p:nvSpPr>
        <p:spPr>
          <a:xfrm>
            <a:off x="548640" y="43891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8. Shakespeare wrote Hamlet. -&gt; Passive?</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(3/3)</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9. People speak Spanish in Mexico. -&gt; Passive?</a:t>
            </a:r>
          </a:p>
        </p:txBody>
      </p:sp>
      <p:sp>
        <p:nvSpPr>
          <p:cNvPr id="6" name="Rounded Rectangle 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Conversation (1/2)</a:t>
            </a:r>
          </a:p>
        </p:txBody>
      </p:sp>
      <p:sp>
        <p:nvSpPr>
          <p:cNvPr id="4" name="Rounded Rectangle 3"/>
          <p:cNvSpPr/>
          <p:nvPr/>
        </p:nvSpPr>
        <p:spPr>
          <a:xfrm>
            <a:off x="548640" y="155448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is made in your country?</a:t>
            </a:r>
          </a:p>
        </p:txBody>
      </p:sp>
      <p:sp>
        <p:nvSpPr>
          <p:cNvPr id="6" name="TextBox 5"/>
          <p:cNvSpPr txBox="1"/>
          <p:nvPr/>
        </p:nvSpPr>
        <p:spPr>
          <a:xfrm>
            <a:off x="914400" y="214884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____ is made in ____.</a:t>
            </a:r>
          </a:p>
        </p:txBody>
      </p:sp>
      <p:sp>
        <p:nvSpPr>
          <p:cNvPr id="7" name="Rounded Rectangle 6"/>
          <p:cNvSpPr/>
          <p:nvPr/>
        </p:nvSpPr>
        <p:spPr>
          <a:xfrm>
            <a:off x="548640" y="2834639"/>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79"/>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Where is coffee grown?</a:t>
            </a:r>
          </a:p>
        </p:txBody>
      </p:sp>
      <p:sp>
        <p:nvSpPr>
          <p:cNvPr id="9" name="TextBox 8"/>
          <p:cNvSpPr txBox="1"/>
          <p:nvPr/>
        </p:nvSpPr>
        <p:spPr>
          <a:xfrm>
            <a:off x="914400" y="3428999"/>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Coffee is grown in ____.</a:t>
            </a:r>
          </a:p>
        </p:txBody>
      </p:sp>
      <p:sp>
        <p:nvSpPr>
          <p:cNvPr id="10" name="Rounded Rectangle 9"/>
          <p:cNvSpPr/>
          <p:nvPr/>
        </p:nvSpPr>
        <p:spPr>
          <a:xfrm>
            <a:off x="548640" y="411480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Where are cars made?</a:t>
            </a:r>
          </a:p>
        </p:txBody>
      </p:sp>
      <p:sp>
        <p:nvSpPr>
          <p:cNvPr id="12" name="TextBox 11"/>
          <p:cNvSpPr txBox="1"/>
          <p:nvPr/>
        </p:nvSpPr>
        <p:spPr>
          <a:xfrm>
            <a:off x="914400" y="470916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Cars are made in ____.</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naturally.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Conversation (2/2)</a:t>
            </a:r>
          </a:p>
        </p:txBody>
      </p:sp>
      <p:sp>
        <p:nvSpPr>
          <p:cNvPr id="4" name="Rounded Rectangle 3"/>
          <p:cNvSpPr/>
          <p:nvPr/>
        </p:nvSpPr>
        <p:spPr>
          <a:xfrm>
            <a:off x="548640" y="155448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was invented in Mexico?</a:t>
            </a:r>
          </a:p>
        </p:txBody>
      </p:sp>
      <p:sp>
        <p:nvSpPr>
          <p:cNvPr id="6" name="TextBox 5"/>
          <p:cNvSpPr txBox="1"/>
          <p:nvPr/>
        </p:nvSpPr>
        <p:spPr>
          <a:xfrm>
            <a:off x="914400" y="214884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____ was invented in Mexico.</a:t>
            </a:r>
          </a:p>
        </p:txBody>
      </p:sp>
      <p:sp>
        <p:nvSpPr>
          <p:cNvPr id="7" name="Rounded Rectangle 6"/>
          <p:cNvSpPr/>
          <p:nvPr/>
        </p:nvSpPr>
        <p:spPr>
          <a:xfrm>
            <a:off x="548640" y="2834639"/>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79"/>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Who was the telephone invented by?</a:t>
            </a:r>
          </a:p>
        </p:txBody>
      </p:sp>
      <p:sp>
        <p:nvSpPr>
          <p:cNvPr id="9" name="TextBox 8"/>
          <p:cNvSpPr txBox="1"/>
          <p:nvPr/>
        </p:nvSpPr>
        <p:spPr>
          <a:xfrm>
            <a:off x="914400" y="3428999"/>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It was invented by ____.</a:t>
            </a:r>
          </a:p>
        </p:txBody>
      </p:sp>
      <p:sp>
        <p:nvSpPr>
          <p:cNvPr id="10" name="Rounded Rectangle 9"/>
          <p:cNvSpPr/>
          <p:nvPr/>
        </p:nvSpPr>
        <p:spPr>
          <a:xfrm>
            <a:off x="548640" y="411480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When was your school built?</a:t>
            </a:r>
          </a:p>
        </p:txBody>
      </p:sp>
      <p:sp>
        <p:nvSpPr>
          <p:cNvPr id="12" name="TextBox 11"/>
          <p:cNvSpPr txBox="1"/>
          <p:nvPr/>
        </p:nvSpPr>
        <p:spPr>
          <a:xfrm>
            <a:off x="914400" y="470916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It was built in ____.</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naturally.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LISTENING — The Eiffel Tower</a:t>
            </a:r>
          </a:p>
        </p:txBody>
      </p:sp>
      <p:sp>
        <p:nvSpPr>
          <p:cNvPr id="4" name="Rounded Rectangle 3"/>
          <p:cNvSpPr/>
          <p:nvPr/>
        </p:nvSpPr>
        <p:spPr>
          <a:xfrm>
            <a:off x="548640" y="1508760"/>
            <a:ext cx="804672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TEXT</a:t>
            </a:r>
          </a:p>
        </p:txBody>
      </p:sp>
      <p:sp>
        <p:nvSpPr>
          <p:cNvPr id="6" name="TextBox 5"/>
          <p:cNvSpPr txBox="1"/>
          <p:nvPr/>
        </p:nvSpPr>
        <p:spPr>
          <a:xfrm>
            <a:off x="822959" y="2057400"/>
            <a:ext cx="7498080" cy="3566160"/>
          </a:xfrm>
          <a:prstGeom prst="rect">
            <a:avLst/>
          </a:prstGeom>
          <a:noFill/>
        </p:spPr>
        <p:txBody>
          <a:bodyPr wrap="square" anchor="t">
            <a:spAutoFit/>
          </a:bodyPr>
          <a:lstStyle/>
          <a:p>
            <a:pPr algn="l">
              <a:lnSpc>
                <a:spcPct val="130000"/>
              </a:lnSpc>
            </a:pPr>
            <a:r>
              <a:rPr sz="1800" b="0" i="0">
                <a:solidFill>
                  <a:srgbClr val="000000"/>
                </a:solidFill>
                <a:latin typeface="Arial"/>
              </a:rPr>
              <a:t>The Eiffel Tower was built in 1889 for the World's Fair in Paris. It was designed by Gustave Eiffel. The tower is made of iron and is 324 meters tall. It is visited by millions of people every year. At first, many people didn't like it, but now it is one of the most famous monuments in the world. The Eiffel Tower was originally supposed to be temporary, but it was kept because it was useful for radio communication.</a:t>
            </a:r>
          </a:p>
        </p:txBody>
      </p:sp>
      <p:sp>
        <p:nvSpPr>
          <p:cNvPr id="7" name="Rounded Rectangle 6"/>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Listen carefully to the text.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LISTENING — Answer the questions</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1. When was the Eiffel Tower built?</a:t>
            </a:r>
          </a:p>
        </p:txBody>
      </p:sp>
      <p:sp>
        <p:nvSpPr>
          <p:cNvPr id="6" name="Rounded Rectangle 5"/>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2. Who was it designed by?</a:t>
            </a:r>
          </a:p>
        </p:txBody>
      </p:sp>
      <p:sp>
        <p:nvSpPr>
          <p:cNvPr id="8" name="Rounded Rectangle 7"/>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09544"/>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3. What is it made of?</a:t>
            </a:r>
          </a:p>
        </p:txBody>
      </p:sp>
      <p:sp>
        <p:nvSpPr>
          <p:cNvPr id="10" name="Rounded Rectangle 9"/>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14215"/>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4. How tall is it?</a:t>
            </a:r>
          </a:p>
        </p:txBody>
      </p:sp>
      <p:sp>
        <p:nvSpPr>
          <p:cNvPr id="12" name="Rounded Rectangle 11"/>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18888"/>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5. Why was it kept?</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in complete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CHALLENGE — A Famous Monument</a:t>
            </a:r>
          </a:p>
        </p:txBody>
      </p:sp>
      <p:sp>
        <p:nvSpPr>
          <p:cNvPr id="4" name="Rounded Rectangle 3"/>
          <p:cNvSpPr/>
          <p:nvPr/>
        </p:nvSpPr>
        <p:spPr>
          <a:xfrm>
            <a:off x="914400" y="160020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0020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5 passive sentences</a:t>
            </a:r>
          </a:p>
        </p:txBody>
      </p:sp>
      <p:sp>
        <p:nvSpPr>
          <p:cNvPr id="6" name="Rounded Rectangle 5"/>
          <p:cNvSpPr/>
          <p:nvPr/>
        </p:nvSpPr>
        <p:spPr>
          <a:xfrm>
            <a:off x="914400" y="237744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7744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2 with by + agent</a:t>
            </a:r>
          </a:p>
        </p:txBody>
      </p:sp>
      <p:sp>
        <p:nvSpPr>
          <p:cNvPr id="8" name="Rounded Rectangle 7"/>
          <p:cNvSpPr/>
          <p:nvPr/>
        </p:nvSpPr>
        <p:spPr>
          <a:xfrm>
            <a:off x="914400" y="315468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15468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1 passive question</a:t>
            </a:r>
          </a:p>
        </p:txBody>
      </p:sp>
      <p:sp>
        <p:nvSpPr>
          <p:cNvPr id="10" name="Rounded Rectangle 9"/>
          <p:cNvSpPr/>
          <p:nvPr/>
        </p:nvSpPr>
        <p:spPr>
          <a:xfrm>
            <a:off x="914400" y="393192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93192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Info: date, architect, materials</a:t>
            </a:r>
          </a:p>
        </p:txBody>
      </p:sp>
      <p:sp>
        <p:nvSpPr>
          <p:cNvPr id="12" name="Rounded Rectangle 11"/>
          <p:cNvSpPr/>
          <p:nvPr/>
        </p:nvSpPr>
        <p:spPr>
          <a:xfrm>
            <a:off x="914400" y="4709159"/>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09159"/>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90-120 seconds</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1-2 minutes. No memorization.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WRITING — Requirements</a:t>
            </a:r>
          </a:p>
        </p:txBody>
      </p:sp>
      <p:sp>
        <p:nvSpPr>
          <p:cNvPr id="4" name="Rounded Rectangle 3"/>
          <p:cNvSpPr/>
          <p:nvPr/>
        </p:nvSpPr>
        <p:spPr>
          <a:xfrm>
            <a:off x="548640" y="1508760"/>
            <a:ext cx="3931920"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3657600" cy="365760"/>
          </a:xfrm>
          <a:prstGeom prst="rect">
            <a:avLst/>
          </a:prstGeom>
          <a:noFill/>
        </p:spPr>
        <p:txBody>
          <a:bodyPr wrap="square" anchor="ctr">
            <a:spAutoFit/>
          </a:bodyPr>
          <a:lstStyle/>
          <a:p>
            <a:pPr algn="l">
              <a:lnSpc>
                <a:spcPct val="100000"/>
              </a:lnSpc>
            </a:pPr>
            <a:r>
              <a:rPr sz="2000" b="1" i="0">
                <a:solidFill>
                  <a:srgbClr val="FF6B35"/>
                </a:solidFill>
                <a:latin typeface="Arial"/>
              </a:rPr>
              <a:t>120-150 WORDS</a:t>
            </a:r>
          </a:p>
        </p:txBody>
      </p:sp>
      <p:sp>
        <p:nvSpPr>
          <p:cNvPr id="6" name="TextBox 5"/>
          <p:cNvSpPr txBox="1"/>
          <p:nvPr/>
        </p:nvSpPr>
        <p:spPr>
          <a:xfrm>
            <a:off x="731520" y="2011680"/>
            <a:ext cx="3657600" cy="365760"/>
          </a:xfrm>
          <a:prstGeom prst="rect">
            <a:avLst/>
          </a:prstGeom>
          <a:noFill/>
        </p:spPr>
        <p:txBody>
          <a:bodyPr wrap="square" anchor="ctr">
            <a:spAutoFit/>
          </a:bodyPr>
          <a:lstStyle/>
          <a:p>
            <a:pPr algn="l">
              <a:lnSpc>
                <a:spcPct val="100000"/>
              </a:lnSpc>
            </a:pPr>
            <a:r>
              <a:rPr sz="1800" b="0" i="0">
                <a:solidFill>
                  <a:srgbClr val="000000"/>
                </a:solidFill>
                <a:latin typeface="Arial"/>
              </a:rPr>
              <a:t>TIME: 30 min</a:t>
            </a:r>
          </a:p>
        </p:txBody>
      </p:sp>
      <p:sp>
        <p:nvSpPr>
          <p:cNvPr id="7" name="Rounded Rectangle 6"/>
          <p:cNvSpPr/>
          <p:nvPr/>
        </p:nvSpPr>
        <p:spPr>
          <a:xfrm>
            <a:off x="4663440" y="1508760"/>
            <a:ext cx="3931920" cy="100584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554480"/>
            <a:ext cx="3657600" cy="320040"/>
          </a:xfrm>
          <a:prstGeom prst="rect">
            <a:avLst/>
          </a:prstGeom>
          <a:noFill/>
        </p:spPr>
        <p:txBody>
          <a:bodyPr wrap="square" anchor="ctr">
            <a:spAutoFit/>
          </a:bodyPr>
          <a:lstStyle/>
          <a:p>
            <a:pPr algn="l">
              <a:lnSpc>
                <a:spcPct val="100000"/>
              </a:lnSpc>
            </a:pPr>
            <a:r>
              <a:rPr sz="1600" b="1" i="0">
                <a:solidFill>
                  <a:srgbClr val="FF6B35"/>
                </a:solidFill>
                <a:latin typeface="Arial"/>
              </a:rPr>
              <a:t>FOCUS</a:t>
            </a:r>
          </a:p>
        </p:txBody>
      </p:sp>
      <p:sp>
        <p:nvSpPr>
          <p:cNvPr id="9" name="TextBox 8"/>
          <p:cNvSpPr txBox="1"/>
          <p:nvPr/>
        </p:nvSpPr>
        <p:spPr>
          <a:xfrm>
            <a:off x="4846320" y="1920240"/>
            <a:ext cx="3657600" cy="502920"/>
          </a:xfrm>
          <a:prstGeom prst="rect">
            <a:avLst/>
          </a:prstGeom>
          <a:noFill/>
        </p:spPr>
        <p:txBody>
          <a:bodyPr wrap="square" anchor="ctr">
            <a:spAutoFit/>
          </a:bodyPr>
          <a:lstStyle/>
          <a:p>
            <a:pPr algn="ctr">
              <a:lnSpc>
                <a:spcPct val="100000"/>
              </a:lnSpc>
            </a:pPr>
            <a:r>
              <a:rPr sz="1600" b="0" i="0">
                <a:solidFill>
                  <a:srgbClr val="FFFFFF"/>
                </a:solidFill>
                <a:latin typeface="Arial"/>
              </a:rPr>
              <a:t>Passive Voice</a:t>
            </a:r>
          </a:p>
        </p:txBody>
      </p:sp>
      <p:sp>
        <p:nvSpPr>
          <p:cNvPr id="10" name="Rounded Rectangle 9"/>
          <p:cNvSpPr/>
          <p:nvPr/>
        </p:nvSpPr>
        <p:spPr>
          <a:xfrm>
            <a:off x="548640" y="2697480"/>
            <a:ext cx="8046720" cy="3063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43200"/>
            <a:ext cx="7680960" cy="365760"/>
          </a:xfrm>
          <a:prstGeom prst="rect">
            <a:avLst/>
          </a:prstGeom>
          <a:noFill/>
        </p:spPr>
        <p:txBody>
          <a:bodyPr wrap="square" anchor="t">
            <a:spAutoFit/>
          </a:bodyPr>
          <a:lstStyle/>
          <a:p>
            <a:pPr algn="l">
              <a:lnSpc>
                <a:spcPct val="100000"/>
              </a:lnSpc>
            </a:pPr>
            <a:r>
              <a:rPr sz="1800" b="1" i="0">
                <a:solidFill>
                  <a:srgbClr val="FF6B35"/>
                </a:solidFill>
                <a:latin typeface="Arial"/>
              </a:rPr>
              <a:t>REQUIREMENTS</a:t>
            </a:r>
          </a:p>
        </p:txBody>
      </p:sp>
      <p:sp>
        <p:nvSpPr>
          <p:cNvPr id="12" name="TextBox 11"/>
          <p:cNvSpPr txBox="1"/>
          <p:nvPr/>
        </p:nvSpPr>
        <p:spPr>
          <a:xfrm>
            <a:off x="822959" y="3200400"/>
            <a:ext cx="7589520" cy="2468880"/>
          </a:xfrm>
          <a:prstGeom prst="rect">
            <a:avLst/>
          </a:prstGeom>
          <a:noFill/>
        </p:spPr>
        <p:txBody>
          <a:bodyPr wrap="square" anchor="t">
            <a:spAutoFit/>
          </a:bodyPr>
          <a:lstStyle/>
          <a:p>
            <a:pPr algn="l">
              <a:lnSpc>
                <a:spcPct val="130000"/>
              </a:lnSpc>
            </a:pPr>
            <a:r>
              <a:rPr sz="2000" b="0" i="0">
                <a:solidFill>
                  <a:srgbClr val="000000"/>
                </a:solidFill>
                <a:latin typeface="Arial"/>
              </a:rPr>
              <a:t>- 5 passive sentences</a:t>
            </a:r>
          </a:p>
          <a:p>
            <a:pPr algn="l">
              <a:lnSpc>
                <a:spcPct val="130000"/>
              </a:lnSpc>
            </a:pPr>
            <a:r>
              <a:rPr sz="2000" b="0" i="0">
                <a:solidFill>
                  <a:srgbClr val="000000"/>
                </a:solidFill>
                <a:latin typeface="Arial"/>
              </a:rPr>
              <a:t>- 2 with by + agent</a:t>
            </a:r>
          </a:p>
          <a:p>
            <a:pPr algn="l">
              <a:lnSpc>
                <a:spcPct val="130000"/>
              </a:lnSpc>
            </a:pPr>
            <a:r>
              <a:rPr sz="2000" b="0" i="0">
                <a:solidFill>
                  <a:srgbClr val="000000"/>
                </a:solidFill>
                <a:latin typeface="Arial"/>
              </a:rPr>
              <a:t>- 1 negative sentence</a:t>
            </a:r>
          </a:p>
          <a:p>
            <a:pPr algn="l">
              <a:lnSpc>
                <a:spcPct val="130000"/>
              </a:lnSpc>
            </a:pPr>
            <a:r>
              <a:rPr sz="2000" b="0" i="0">
                <a:solidFill>
                  <a:srgbClr val="000000"/>
                </a:solidFill>
                <a:latin typeface="Arial"/>
              </a:rPr>
              <a:t>- 1 passive question</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Follow the requirements.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WRITING — Template</a:t>
            </a:r>
          </a:p>
        </p:txBody>
      </p:sp>
      <p:sp>
        <p:nvSpPr>
          <p:cNvPr id="4" name="Rounded Rectangle 3"/>
          <p:cNvSpPr/>
          <p:nvPr/>
        </p:nvSpPr>
        <p:spPr>
          <a:xfrm>
            <a:off x="548640" y="1463040"/>
            <a:ext cx="8046720" cy="4343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7406640" cy="3977639"/>
          </a:xfrm>
          <a:prstGeom prst="rect">
            <a:avLst/>
          </a:prstGeom>
          <a:noFill/>
        </p:spPr>
        <p:txBody>
          <a:bodyPr wrap="square" anchor="ctr">
            <a:spAutoFit/>
          </a:bodyPr>
          <a:lstStyle/>
          <a:p>
            <a:pPr algn="l">
              <a:lnSpc>
                <a:spcPct val="115000"/>
              </a:lnSpc>
            </a:pPr>
            <a:r>
              <a:rPr sz="1800" b="0" i="0">
                <a:solidFill>
                  <a:srgbClr val="000000"/>
                </a:solidFill>
                <a:latin typeface="Arial"/>
              </a:rPr>
              <a:t>A FAMOUS MONUMENT   —   By: ____________</a:t>
            </a:r>
          </a:p>
          <a:p>
            <a:pPr algn="l">
              <a:lnSpc>
                <a:spcPct val="115000"/>
              </a:lnSpc>
            </a:pPr>
          </a:p>
          <a:p>
            <a:pPr algn="l">
              <a:lnSpc>
                <a:spcPct val="115000"/>
              </a:lnSpc>
            </a:pPr>
            <a:r>
              <a:rPr sz="1800" b="0" i="0">
                <a:solidFill>
                  <a:srgbClr val="000000"/>
                </a:solidFill>
                <a:latin typeface="Arial"/>
              </a:rPr>
              <a:t>The ____________ was built in ____________.</a:t>
            </a:r>
          </a:p>
          <a:p>
            <a:pPr algn="l">
              <a:lnSpc>
                <a:spcPct val="115000"/>
              </a:lnSpc>
            </a:pPr>
            <a:r>
              <a:rPr sz="1800" b="0" i="0">
                <a:solidFill>
                  <a:srgbClr val="000000"/>
                </a:solidFill>
                <a:latin typeface="Arial"/>
              </a:rPr>
              <a:t>It was designed by ____________.</a:t>
            </a:r>
          </a:p>
          <a:p>
            <a:pPr algn="l">
              <a:lnSpc>
                <a:spcPct val="115000"/>
              </a:lnSpc>
            </a:pPr>
            <a:r>
              <a:rPr sz="1800" b="0" i="0">
                <a:solidFill>
                  <a:srgbClr val="000000"/>
                </a:solidFill>
                <a:latin typeface="Arial"/>
              </a:rPr>
              <a:t>It is made of ____________.</a:t>
            </a:r>
          </a:p>
          <a:p>
            <a:pPr algn="l">
              <a:lnSpc>
                <a:spcPct val="115000"/>
              </a:lnSpc>
            </a:pPr>
            <a:r>
              <a:rPr sz="1800" b="0" i="0">
                <a:solidFill>
                  <a:srgbClr val="000000"/>
                </a:solidFill>
                <a:latin typeface="Arial"/>
              </a:rPr>
              <a:t>It is ____________ meters tall.</a:t>
            </a:r>
          </a:p>
          <a:p>
            <a:pPr algn="l">
              <a:lnSpc>
                <a:spcPct val="115000"/>
              </a:lnSpc>
            </a:pPr>
            <a:r>
              <a:rPr sz="1800" b="0" i="0">
                <a:solidFill>
                  <a:srgbClr val="000000"/>
                </a:solidFill>
                <a:latin typeface="Arial"/>
              </a:rPr>
              <a:t>It was visited by ____________ people.</a:t>
            </a:r>
          </a:p>
          <a:p>
            <a:pPr algn="l">
              <a:lnSpc>
                <a:spcPct val="115000"/>
              </a:lnSpc>
            </a:pPr>
          </a:p>
          <a:p>
            <a:pPr algn="l">
              <a:lnSpc>
                <a:spcPct val="115000"/>
              </a:lnSpc>
            </a:pPr>
            <a:r>
              <a:rPr sz="1800" b="0" i="0">
                <a:solidFill>
                  <a:srgbClr val="000000"/>
                </a:solidFill>
                <a:latin typeface="Arial"/>
              </a:rPr>
              <a:t>It is known for ____________.</a:t>
            </a:r>
          </a:p>
          <a:p>
            <a:pPr algn="l">
              <a:lnSpc>
                <a:spcPct val="115000"/>
              </a:lnSpc>
            </a:pPr>
            <a:r>
              <a:rPr sz="1800" b="0" i="0">
                <a:solidFill>
                  <a:srgbClr val="000000"/>
                </a:solidFill>
                <a:latin typeface="Arial"/>
              </a:rPr>
              <a:t>It wasn't always ____________.</a:t>
            </a:r>
          </a:p>
          <a:p>
            <a:pPr algn="l">
              <a:lnSpc>
                <a:spcPct val="115000"/>
              </a:lnSpc>
            </a:pPr>
          </a:p>
          <a:p>
            <a:pPr algn="l">
              <a:lnSpc>
                <a:spcPct val="115000"/>
              </a:lnSpc>
            </a:pPr>
            <a:r>
              <a:rPr sz="1800" b="0" i="0">
                <a:solidFill>
                  <a:srgbClr val="000000"/>
                </a:solidFill>
                <a:latin typeface="Arial"/>
              </a:rPr>
              <a:t>Was it built by ____________?</a:t>
            </a:r>
          </a:p>
          <a:p>
            <a:pPr algn="l">
              <a:lnSpc>
                <a:spcPct val="115000"/>
              </a:lnSpc>
            </a:pPr>
            <a:r>
              <a:rPr sz="1800" b="0" i="0">
                <a:solidFill>
                  <a:srgbClr val="000000"/>
                </a:solidFill>
                <a:latin typeface="Arial"/>
              </a:rPr>
              <a:t>When was it ____________?</a:t>
            </a:r>
          </a:p>
          <a:p>
            <a:pPr algn="l">
              <a:lnSpc>
                <a:spcPct val="115000"/>
              </a:lnSpc>
            </a:pPr>
          </a:p>
          <a:p>
            <a:pPr algn="l">
              <a:lnSpc>
                <a:spcPct val="115000"/>
              </a:lnSpc>
            </a:pPr>
            <a:r>
              <a:rPr sz="1800" b="0" i="0">
                <a:solidFill>
                  <a:srgbClr val="000000"/>
                </a:solidFill>
                <a:latin typeface="Arial"/>
              </a:rPr>
              <a:t>It is one of the most ____________ monuments.</a:t>
            </a:r>
          </a:p>
        </p:txBody>
      </p:sp>
      <p:sp>
        <p:nvSpPr>
          <p:cNvPr id="6" name="Rounded Rectangle 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Use this template to write.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CHECKPOINT — Rate your progress</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form passive in Present</a:t>
            </a:r>
          </a:p>
        </p:txBody>
      </p:sp>
      <p:sp>
        <p:nvSpPr>
          <p:cNvPr id="6" name="Rounded Rectangle 5"/>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form passive in Past</a:t>
            </a:r>
          </a:p>
        </p:txBody>
      </p:sp>
      <p:sp>
        <p:nvSpPr>
          <p:cNvPr id="8" name="Rounded Rectangle 7"/>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09544"/>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transform active to passive</a:t>
            </a:r>
          </a:p>
        </p:txBody>
      </p:sp>
      <p:sp>
        <p:nvSpPr>
          <p:cNvPr id="10" name="Rounded Rectangle 9"/>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14215"/>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use 'by + agent'</a:t>
            </a:r>
          </a:p>
        </p:txBody>
      </p:sp>
      <p:sp>
        <p:nvSpPr>
          <p:cNvPr id="12" name="Rounded Rectangle 11"/>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18888"/>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ask passive questions</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honest with yourself.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SELF-EVALUATION — Rate (1-4)</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Vocabulary</a:t>
            </a:r>
          </a:p>
        </p:txBody>
      </p:sp>
      <p:sp>
        <p:nvSpPr>
          <p:cNvPr id="6" name="TextBox 5"/>
          <p:cNvSpPr txBox="1"/>
          <p:nvPr/>
        </p:nvSpPr>
        <p:spPr>
          <a:xfrm>
            <a:off x="52120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7" name="TextBox 6"/>
          <p:cNvSpPr txBox="1"/>
          <p:nvPr/>
        </p:nvSpPr>
        <p:spPr>
          <a:xfrm>
            <a:off x="61264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8" name="TextBox 7"/>
          <p:cNvSpPr txBox="1"/>
          <p:nvPr/>
        </p:nvSpPr>
        <p:spPr>
          <a:xfrm>
            <a:off x="70408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9" name="TextBox 8"/>
          <p:cNvSpPr txBox="1"/>
          <p:nvPr/>
        </p:nvSpPr>
        <p:spPr>
          <a:xfrm>
            <a:off x="7955279"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10" name="Rounded Rectangle 9"/>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04872"/>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Passive Present</a:t>
            </a:r>
          </a:p>
        </p:txBody>
      </p:sp>
      <p:sp>
        <p:nvSpPr>
          <p:cNvPr id="12" name="TextBox 11"/>
          <p:cNvSpPr txBox="1"/>
          <p:nvPr/>
        </p:nvSpPr>
        <p:spPr>
          <a:xfrm>
            <a:off x="52120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13" name="TextBox 12"/>
          <p:cNvSpPr txBox="1"/>
          <p:nvPr/>
        </p:nvSpPr>
        <p:spPr>
          <a:xfrm>
            <a:off x="61264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14" name="TextBox 13"/>
          <p:cNvSpPr txBox="1"/>
          <p:nvPr/>
        </p:nvSpPr>
        <p:spPr>
          <a:xfrm>
            <a:off x="70408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15" name="TextBox 14"/>
          <p:cNvSpPr txBox="1"/>
          <p:nvPr/>
        </p:nvSpPr>
        <p:spPr>
          <a:xfrm>
            <a:off x="7955279"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16" name="Rounded Rectangle 15"/>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209544"/>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Passive Past</a:t>
            </a:r>
          </a:p>
        </p:txBody>
      </p:sp>
      <p:sp>
        <p:nvSpPr>
          <p:cNvPr id="18" name="TextBox 17"/>
          <p:cNvSpPr txBox="1"/>
          <p:nvPr/>
        </p:nvSpPr>
        <p:spPr>
          <a:xfrm>
            <a:off x="52120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19" name="TextBox 18"/>
          <p:cNvSpPr txBox="1"/>
          <p:nvPr/>
        </p:nvSpPr>
        <p:spPr>
          <a:xfrm>
            <a:off x="61264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20" name="TextBox 19"/>
          <p:cNvSpPr txBox="1"/>
          <p:nvPr/>
        </p:nvSpPr>
        <p:spPr>
          <a:xfrm>
            <a:off x="70408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21" name="TextBox 20"/>
          <p:cNvSpPr txBox="1"/>
          <p:nvPr/>
        </p:nvSpPr>
        <p:spPr>
          <a:xfrm>
            <a:off x="7955279"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22" name="Rounded Rectangle 21"/>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14215"/>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By + agent</a:t>
            </a:r>
          </a:p>
        </p:txBody>
      </p:sp>
      <p:sp>
        <p:nvSpPr>
          <p:cNvPr id="24" name="TextBox 23"/>
          <p:cNvSpPr txBox="1"/>
          <p:nvPr/>
        </p:nvSpPr>
        <p:spPr>
          <a:xfrm>
            <a:off x="52120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25" name="TextBox 24"/>
          <p:cNvSpPr txBox="1"/>
          <p:nvPr/>
        </p:nvSpPr>
        <p:spPr>
          <a:xfrm>
            <a:off x="61264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26" name="TextBox 25"/>
          <p:cNvSpPr txBox="1"/>
          <p:nvPr/>
        </p:nvSpPr>
        <p:spPr>
          <a:xfrm>
            <a:off x="70408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27" name="TextBox 26"/>
          <p:cNvSpPr txBox="1"/>
          <p:nvPr/>
        </p:nvSpPr>
        <p:spPr>
          <a:xfrm>
            <a:off x="7955279"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28" name="Rounded Rectangle 27"/>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18888"/>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Fluency</a:t>
            </a:r>
          </a:p>
        </p:txBody>
      </p:sp>
      <p:sp>
        <p:nvSpPr>
          <p:cNvPr id="30" name="TextBox 29"/>
          <p:cNvSpPr txBox="1"/>
          <p:nvPr/>
        </p:nvSpPr>
        <p:spPr>
          <a:xfrm>
            <a:off x="52120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31" name="TextBox 30"/>
          <p:cNvSpPr txBox="1"/>
          <p:nvPr/>
        </p:nvSpPr>
        <p:spPr>
          <a:xfrm>
            <a:off x="61264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32" name="TextBox 31"/>
          <p:cNvSpPr txBox="1"/>
          <p:nvPr/>
        </p:nvSpPr>
        <p:spPr>
          <a:xfrm>
            <a:off x="70408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33" name="TextBox 32"/>
          <p:cNvSpPr txBox="1"/>
          <p:nvPr/>
        </p:nvSpPr>
        <p:spPr>
          <a:xfrm>
            <a:off x="7955279"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34" name="Rounded Rectangle 3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Reflect on your learning.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30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RESOURCES — Keep learning</a:t>
            </a:r>
          </a:p>
        </p:txBody>
      </p:sp>
      <p:sp>
        <p:nvSpPr>
          <p:cNvPr id="4" name="Rounded Rectangle 3"/>
          <p:cNvSpPr/>
          <p:nvPr/>
        </p:nvSpPr>
        <p:spPr>
          <a:xfrm>
            <a:off x="548640" y="150876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PODCASTS</a:t>
            </a:r>
          </a:p>
        </p:txBody>
      </p:sp>
      <p:sp>
        <p:nvSpPr>
          <p:cNvPr id="6" name="TextBox 5"/>
          <p:cNvSpPr txBox="1"/>
          <p:nvPr/>
        </p:nvSpPr>
        <p:spPr>
          <a:xfrm>
            <a:off x="822959" y="201168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- 6 Minute English</a:t>
            </a:r>
          </a:p>
        </p:txBody>
      </p:sp>
      <p:sp>
        <p:nvSpPr>
          <p:cNvPr id="7" name="TextBox 6"/>
          <p:cNvSpPr txBox="1"/>
          <p:nvPr/>
        </p:nvSpPr>
        <p:spPr>
          <a:xfrm>
            <a:off x="822959" y="237744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British English Podcast</a:t>
            </a:r>
          </a:p>
        </p:txBody>
      </p:sp>
      <p:sp>
        <p:nvSpPr>
          <p:cNvPr id="8" name="Rounded Rectangle 7"/>
          <p:cNvSpPr/>
          <p:nvPr/>
        </p:nvSpPr>
        <p:spPr>
          <a:xfrm>
            <a:off x="548640" y="283464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3464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VIDEOS</a:t>
            </a:r>
          </a:p>
        </p:txBody>
      </p:sp>
      <p:sp>
        <p:nvSpPr>
          <p:cNvPr id="10" name="TextBox 9"/>
          <p:cNvSpPr txBox="1"/>
          <p:nvPr/>
        </p:nvSpPr>
        <p:spPr>
          <a:xfrm>
            <a:off x="822959" y="333756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English with Lucy — Passive Voice</a:t>
            </a:r>
          </a:p>
        </p:txBody>
      </p:sp>
      <p:sp>
        <p:nvSpPr>
          <p:cNvPr id="11" name="Rounded Rectangle 10"/>
          <p:cNvSpPr/>
          <p:nvPr/>
        </p:nvSpPr>
        <p:spPr>
          <a:xfrm>
            <a:off x="548640" y="379476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9476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APPS</a:t>
            </a:r>
          </a:p>
        </p:txBody>
      </p:sp>
      <p:sp>
        <p:nvSpPr>
          <p:cNvPr id="13" name="TextBox 12"/>
          <p:cNvSpPr txBox="1"/>
          <p:nvPr/>
        </p:nvSpPr>
        <p:spPr>
          <a:xfrm>
            <a:off x="822959" y="429768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Duolingo</a:t>
            </a:r>
          </a:p>
        </p:txBody>
      </p:sp>
      <p:sp>
        <p:nvSpPr>
          <p:cNvPr id="14" name="TextBox 13"/>
          <p:cNvSpPr txBox="1"/>
          <p:nvPr/>
        </p:nvSpPr>
        <p:spPr>
          <a:xfrm>
            <a:off x="822959" y="466344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Quizlet</a:t>
            </a:r>
          </a:p>
        </p:txBody>
      </p:sp>
      <p:sp>
        <p:nvSpPr>
          <p:cNvPr id="15" name="Rounded Rectangle 14"/>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Practice every day.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31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HOMEWORK — Your tasks</a:t>
            </a:r>
          </a:p>
        </p:txBody>
      </p:sp>
      <p:sp>
        <p:nvSpPr>
          <p:cNvPr id="4" name="Rounded Rectangle 3"/>
          <p:cNvSpPr/>
          <p:nvPr/>
        </p:nvSpPr>
        <p:spPr>
          <a:xfrm>
            <a:off x="548640" y="160020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WRITING</a:t>
            </a:r>
          </a:p>
        </p:txBody>
      </p:sp>
      <p:sp>
        <p:nvSpPr>
          <p:cNvPr id="6" name="TextBox 5"/>
          <p:cNvSpPr txBox="1"/>
          <p:nvPr/>
        </p:nvSpPr>
        <p:spPr>
          <a:xfrm>
            <a:off x="822959" y="214884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Write 10-12 sentences about a monument.</a:t>
            </a:r>
          </a:p>
        </p:txBody>
      </p:sp>
      <p:sp>
        <p:nvSpPr>
          <p:cNvPr id="7" name="Rounded Rectangle 6"/>
          <p:cNvSpPr/>
          <p:nvPr/>
        </p:nvSpPr>
        <p:spPr>
          <a:xfrm>
            <a:off x="548640" y="265176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5176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SPEAKING</a:t>
            </a:r>
          </a:p>
        </p:txBody>
      </p:sp>
      <p:sp>
        <p:nvSpPr>
          <p:cNvPr id="9" name="TextBox 8"/>
          <p:cNvSpPr txBox="1"/>
          <p:nvPr/>
        </p:nvSpPr>
        <p:spPr>
          <a:xfrm>
            <a:off x="822959" y="320040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Record yourself (90-120 sec).</a:t>
            </a:r>
          </a:p>
        </p:txBody>
      </p:sp>
      <p:sp>
        <p:nvSpPr>
          <p:cNvPr id="10" name="Rounded Rectangle 9"/>
          <p:cNvSpPr/>
          <p:nvPr/>
        </p:nvSpPr>
        <p:spPr>
          <a:xfrm>
            <a:off x="548640" y="370332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0332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PRONUNCIATION</a:t>
            </a:r>
          </a:p>
        </p:txBody>
      </p:sp>
      <p:sp>
        <p:nvSpPr>
          <p:cNvPr id="12" name="TextBox 11"/>
          <p:cNvSpPr txBox="1"/>
          <p:nvPr/>
        </p:nvSpPr>
        <p:spPr>
          <a:xfrm>
            <a:off x="822959" y="425196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Practice word stress with 10 pairs.</a:t>
            </a:r>
          </a:p>
        </p:txBody>
      </p:sp>
      <p:sp>
        <p:nvSpPr>
          <p:cNvPr id="13" name="Rounded Rectangle 12"/>
          <p:cNvSpPr/>
          <p:nvPr/>
        </p:nvSpPr>
        <p:spPr>
          <a:xfrm>
            <a:off x="548640" y="475488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75488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APP</a:t>
            </a:r>
          </a:p>
        </p:txBody>
      </p:sp>
      <p:sp>
        <p:nvSpPr>
          <p:cNvPr id="15" name="TextBox 14"/>
          <p:cNvSpPr txBox="1"/>
          <p:nvPr/>
        </p:nvSpPr>
        <p:spPr>
          <a:xfrm>
            <a:off x="822959" y="530352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Practice Passive Voice.</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Deadline: ____________</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32</a:t>
            </a:r>
          </a:p>
        </p:txBody>
      </p:sp>
      <p:sp>
        <p:nvSpPr>
          <p:cNvPr id="3" name="Rounded Rectangle 2"/>
          <p:cNvSpPr/>
          <p:nvPr/>
        </p:nvSpPr>
        <p:spPr>
          <a:xfrm>
            <a:off x="1371600" y="1371600"/>
            <a:ext cx="6400800" cy="1645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6400800" cy="1645920"/>
          </a:xfrm>
          <a:prstGeom prst="rect">
            <a:avLst/>
          </a:prstGeom>
          <a:noFill/>
        </p:spPr>
        <p:txBody>
          <a:bodyPr wrap="square" anchor="ctr">
            <a:spAutoFit/>
          </a:bodyPr>
          <a:lstStyle/>
          <a:p>
            <a:pPr algn="ctr">
              <a:lnSpc>
                <a:spcPct val="100000"/>
              </a:lnSpc>
            </a:pPr>
            <a:r>
              <a:rPr sz="5400" b="1" i="0">
                <a:solidFill>
                  <a:srgbClr val="FFFFFF"/>
                </a:solidFill>
                <a:latin typeface="Arial"/>
              </a:rPr>
              <a:t>GRACIAS</a:t>
            </a:r>
          </a:p>
        </p:txBody>
      </p:sp>
      <p:sp>
        <p:nvSpPr>
          <p:cNvPr id="5" name="TextBox 4"/>
          <p:cNvSpPr txBox="1"/>
          <p:nvPr/>
        </p:nvSpPr>
        <p:spPr>
          <a:xfrm>
            <a:off x="548640" y="3291840"/>
            <a:ext cx="8046720" cy="731520"/>
          </a:xfrm>
          <a:prstGeom prst="rect">
            <a:avLst/>
          </a:prstGeom>
          <a:noFill/>
        </p:spPr>
        <p:txBody>
          <a:bodyPr wrap="square" anchor="ctr">
            <a:spAutoFit/>
          </a:bodyPr>
          <a:lstStyle/>
          <a:p>
            <a:pPr algn="ctr">
              <a:lnSpc>
                <a:spcPct val="100000"/>
              </a:lnSpc>
            </a:pPr>
            <a:r>
              <a:rPr sz="3600" b="1" i="0">
                <a:solidFill>
                  <a:srgbClr val="3D1F5C"/>
                </a:solidFill>
                <a:latin typeface="Arial"/>
              </a:rPr>
              <a:t>THANK YOU</a:t>
            </a:r>
          </a:p>
        </p:txBody>
      </p:sp>
      <p:sp>
        <p:nvSpPr>
          <p:cNvPr id="6" name="TextBox 5"/>
          <p:cNvSpPr txBox="1"/>
          <p:nvPr/>
        </p:nvSpPr>
        <p:spPr>
          <a:xfrm>
            <a:off x="548640" y="4206240"/>
            <a:ext cx="8046720" cy="548640"/>
          </a:xfrm>
          <a:prstGeom prst="rect">
            <a:avLst/>
          </a:prstGeom>
          <a:noFill/>
        </p:spPr>
        <p:txBody>
          <a:bodyPr wrap="square" anchor="ctr">
            <a:spAutoFit/>
          </a:bodyPr>
          <a:lstStyle/>
          <a:p>
            <a:pPr algn="ctr">
              <a:lnSpc>
                <a:spcPct val="100000"/>
              </a:lnSpc>
            </a:pPr>
            <a:r>
              <a:rPr sz="2200" b="0" i="1">
                <a:solidFill>
                  <a:srgbClr val="000000"/>
                </a:solidFill>
                <a:latin typeface="Arial"/>
              </a:rPr>
              <a:t>You've completed this class!</a:t>
            </a:r>
          </a:p>
        </p:txBody>
      </p:sp>
      <p:sp>
        <p:nvSpPr>
          <p:cNvPr id="7" name="Rounded Rectangle 6"/>
          <p:cNvSpPr/>
          <p:nvPr/>
        </p:nvSpPr>
        <p:spPr>
          <a:xfrm>
            <a:off x="1371600" y="5029200"/>
            <a:ext cx="6400800" cy="7315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029200"/>
            <a:ext cx="6400800" cy="731520"/>
          </a:xfrm>
          <a:prstGeom prst="rect">
            <a:avLst/>
          </a:prstGeom>
          <a:noFill/>
        </p:spPr>
        <p:txBody>
          <a:bodyPr wrap="square" anchor="ctr">
            <a:spAutoFit/>
          </a:bodyPr>
          <a:lstStyle/>
          <a:p>
            <a:pPr algn="ctr">
              <a:lnSpc>
                <a:spcPct val="100000"/>
              </a:lnSpc>
            </a:pPr>
            <a:r>
              <a:rPr sz="2200" b="1" i="0">
                <a:solidFill>
                  <a:srgbClr val="FFFFFF"/>
                </a:solidFill>
                <a:latin typeface="Arial"/>
              </a:rPr>
              <a:t>NEXT: CLASS 15</a:t>
            </a:r>
          </a:p>
        </p:txBody>
      </p:sp>
      <p:sp>
        <p:nvSpPr>
          <p:cNvPr id="9" name="Rounded Rectangle 8"/>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Congratulations!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